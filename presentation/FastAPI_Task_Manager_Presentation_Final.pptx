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5aae44baf946b2" /><Relationship Type="http://schemas.openxmlformats.org/officeDocument/2006/relationships/extended-properties" Target="/docProps/app.xml" Id="R51292b7077544091" /><Relationship Type="http://schemas.openxmlformats.org/officeDocument/2006/relationships/officeDocument" Target="/ppt/presentation.xml" Id="R9d3691667c6646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1c871280c34e5d"/>
  </p:sldMasterIdLst>
  <p:notesMasterIdLst>
    <p:notesMasterId xmlns:r="http://schemas.openxmlformats.org/officeDocument/2006/relationships" r:id="Ra9a82c5096284023"/>
  </p:notesMasterIdLst>
  <p:sldIdLst>
    <p:sldId xmlns:r="http://schemas.openxmlformats.org/officeDocument/2006/relationships" id="256" r:id="Rcf57493e8f2d44b3"/>
    <p:sldId xmlns:r="http://schemas.openxmlformats.org/officeDocument/2006/relationships" id="257" r:id="R1436e38016af456a"/>
    <p:sldId xmlns:r="http://schemas.openxmlformats.org/officeDocument/2006/relationships" id="258" r:id="R59ac90d246474033"/>
    <p:sldId xmlns:r="http://schemas.openxmlformats.org/officeDocument/2006/relationships" id="259" r:id="R832421cdc20c41b0"/>
    <p:sldId xmlns:r="http://schemas.openxmlformats.org/officeDocument/2006/relationships" id="260" r:id="R0a7ccd7fd51a42d4"/>
    <p:sldId xmlns:r="http://schemas.openxmlformats.org/officeDocument/2006/relationships" id="261" r:id="R1cf7778151c04b8f"/>
    <p:sldId xmlns:r="http://schemas.openxmlformats.org/officeDocument/2006/relationships" id="262" r:id="R754cf13a73914be1"/>
    <p:sldId xmlns:r="http://schemas.openxmlformats.org/officeDocument/2006/relationships" id="263" r:id="R4b78aecd98524d5f"/>
    <p:sldId xmlns:r="http://schemas.openxmlformats.org/officeDocument/2006/relationships" id="264" r:id="Ra0d2206c3dab418f"/>
    <p:sldId xmlns:r="http://schemas.openxmlformats.org/officeDocument/2006/relationships" id="265" r:id="R15e26b23bcb14956"/>
    <p:sldId xmlns:r="http://schemas.openxmlformats.org/officeDocument/2006/relationships" id="266" r:id="R8c7feb6116fa431f"/>
    <p:sldId xmlns:r="http://schemas.openxmlformats.org/officeDocument/2006/relationships" id="267" r:id="Rfa7cd3092bcb4fa9"/>
    <p:sldId xmlns:r="http://schemas.openxmlformats.org/officeDocument/2006/relationships" id="268" r:id="R14cb7284d3494813"/>
    <p:sldId xmlns:r="http://schemas.openxmlformats.org/officeDocument/2006/relationships" id="269" r:id="R238f4148409646f1"/>
    <p:sldId xmlns:r="http://schemas.openxmlformats.org/officeDocument/2006/relationships" id="270" r:id="Rca456e37434f49a7"/>
    <p:sldId xmlns:r="http://schemas.openxmlformats.org/officeDocument/2006/relationships" id="271" r:id="Rcee0ae798a68483d"/>
    <p:sldId xmlns:r="http://schemas.openxmlformats.org/officeDocument/2006/relationships" id="272" r:id="R8efd55d9229f4968"/>
    <p:sldId xmlns:r="http://schemas.openxmlformats.org/officeDocument/2006/relationships" id="273" r:id="R1386a77d745c4805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7401c1ae0774e0a" /><Relationship Type="http://schemas.openxmlformats.org/officeDocument/2006/relationships/slideMaster" Target="/ppt/slideMasters/slideMaster1.xml" Id="Rbe1c871280c34e5d" /><Relationship Type="http://schemas.openxmlformats.org/officeDocument/2006/relationships/notesMaster" Target="/ppt/notesMasters/notesMaster1.xml" Id="Ra9a82c5096284023" /><Relationship Type="http://schemas.openxmlformats.org/officeDocument/2006/relationships/presProps" Target="/ppt/presProps.xml" Id="R5aa503fd988b433c" /><Relationship Type="http://schemas.openxmlformats.org/officeDocument/2006/relationships/viewProps" Target="/ppt/viewProps.xml" Id="R4ede523643e94721" /><Relationship Type="http://schemas.openxmlformats.org/officeDocument/2006/relationships/tableStyles" Target="/ppt/tableStyles.xml" Id="Rd6e4cc2b260948ca" /><Relationship Type="http://schemas.openxmlformats.org/officeDocument/2006/relationships/slide" Target="/ppt/slides/slide1.xml" Id="Rcf57493e8f2d44b3" /><Relationship Type="http://schemas.openxmlformats.org/officeDocument/2006/relationships/slide" Target="/ppt/slides/slide2.xml" Id="R1436e38016af456a" /><Relationship Type="http://schemas.openxmlformats.org/officeDocument/2006/relationships/slide" Target="/ppt/slides/slide3.xml" Id="R59ac90d246474033" /><Relationship Type="http://schemas.openxmlformats.org/officeDocument/2006/relationships/slide" Target="/ppt/slides/slide4.xml" Id="R832421cdc20c41b0" /><Relationship Type="http://schemas.openxmlformats.org/officeDocument/2006/relationships/slide" Target="/ppt/slides/slide5.xml" Id="R0a7ccd7fd51a42d4" /><Relationship Type="http://schemas.openxmlformats.org/officeDocument/2006/relationships/slide" Target="/ppt/slides/slide6.xml" Id="R1cf7778151c04b8f" /><Relationship Type="http://schemas.openxmlformats.org/officeDocument/2006/relationships/slide" Target="/ppt/slides/slide7.xml" Id="R754cf13a73914be1" /><Relationship Type="http://schemas.openxmlformats.org/officeDocument/2006/relationships/slide" Target="/ppt/slides/slide8.xml" Id="R4b78aecd98524d5f" /><Relationship Type="http://schemas.openxmlformats.org/officeDocument/2006/relationships/slide" Target="/ppt/slides/slide9.xml" Id="Ra0d2206c3dab418f" /><Relationship Type="http://schemas.openxmlformats.org/officeDocument/2006/relationships/slide" Target="/ppt/slides/slide10.xml" Id="R15e26b23bcb14956" /><Relationship Type="http://schemas.openxmlformats.org/officeDocument/2006/relationships/slide" Target="/ppt/slides/slide11.xml" Id="R8c7feb6116fa431f" /><Relationship Type="http://schemas.openxmlformats.org/officeDocument/2006/relationships/slide" Target="/ppt/slides/slide12.xml" Id="Rfa7cd3092bcb4fa9" /><Relationship Type="http://schemas.openxmlformats.org/officeDocument/2006/relationships/slide" Target="/ppt/slides/slide13.xml" Id="R14cb7284d3494813" /><Relationship Type="http://schemas.openxmlformats.org/officeDocument/2006/relationships/slide" Target="/ppt/slides/slide14.xml" Id="R238f4148409646f1" /><Relationship Type="http://schemas.openxmlformats.org/officeDocument/2006/relationships/slide" Target="/ppt/slides/slide15.xml" Id="Rca456e37434f49a7" /><Relationship Type="http://schemas.openxmlformats.org/officeDocument/2006/relationships/slide" Target="/ppt/slides/slide16.xml" Id="Rcee0ae798a68483d" /><Relationship Type="http://schemas.openxmlformats.org/officeDocument/2006/relationships/slide" Target="/ppt/slides/slide17.xml" Id="R8efd55d9229f4968" /><Relationship Type="http://schemas.openxmlformats.org/officeDocument/2006/relationships/slide" Target="/ppt/slides/slide18.xml" Id="R1386a77d745c48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e09685478a46d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FastAPI CW1">
  <a:themeElements>
    <a:clrScheme name="FastAPI CW1">
      <a:dk1>
        <a:srgbClr val="000000"/>
      </a:dk1>
      <a:lt1>
        <a:srgbClr val="FFFFFF"/>
      </a:lt1>
      <a:dk2>
        <a:srgbClr val="0E1C27"/>
      </a:dk2>
      <a:lt2>
        <a:srgbClr val="E8E8E8"/>
      </a:lt2>
      <a:accent1>
        <a:srgbClr val="087F72"/>
      </a:accent1>
      <a:accent2>
        <a:srgbClr val="EF765E"/>
      </a:accent2>
      <a:accent3>
        <a:srgbClr val="8DE2BD"/>
      </a:accent3>
      <a:accent4>
        <a:srgbClr val="055A52"/>
      </a:accent4>
      <a:accent5>
        <a:srgbClr val="EAF3FA"/>
      </a:accent5>
      <a:accent6>
        <a:srgbClr val="D7B95D"/>
      </a:accent6>
      <a:hlink>
        <a:srgbClr val="087F72"/>
      </a:hlink>
      <a:folHlink>
        <a:srgbClr val="6B4B95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astAPI CW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166cc93412486e" /><Relationship Type="http://schemas.openxmlformats.org/officeDocument/2006/relationships/notesMaster" Target="/ppt/notesMasters/notesMaster1.xml" Id="Rccf0ea85d93a4b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e9ca073f874b4e" /><Relationship Type="http://schemas.openxmlformats.org/officeDocument/2006/relationships/notesMaster" Target="/ppt/notesMasters/notesMaster1.xml" Id="R5c60d1538e5243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99cc9fb8d1b4e07" /><Relationship Type="http://schemas.openxmlformats.org/officeDocument/2006/relationships/notesMaster" Target="/ppt/notesMasters/notesMaster1.xml" Id="R8e5487a495d2412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245375257449da" /><Relationship Type="http://schemas.openxmlformats.org/officeDocument/2006/relationships/notesMaster" Target="/ppt/notesMasters/notesMaster1.xml" Id="R06dc0708e1d048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ae08b4d82443e7" /><Relationship Type="http://schemas.openxmlformats.org/officeDocument/2006/relationships/notesMaster" Target="/ppt/notesMasters/notesMaster1.xml" Id="R304828bfe90c43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a447b009a7d402a" /><Relationship Type="http://schemas.openxmlformats.org/officeDocument/2006/relationships/notesMaster" Target="/ppt/notesMasters/notesMaster1.xml" Id="R7faac75deb2d46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717afc2f83426e" /><Relationship Type="http://schemas.openxmlformats.org/officeDocument/2006/relationships/notesMaster" Target="/ppt/notesMasters/notesMaster1.xml" Id="R658b493689a742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6537f8dd1d4339" /><Relationship Type="http://schemas.openxmlformats.org/officeDocument/2006/relationships/notesMaster" Target="/ppt/notesMasters/notesMaster1.xml" Id="Re3d63288db354a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0e955b2f3f49bc" /><Relationship Type="http://schemas.openxmlformats.org/officeDocument/2006/relationships/notesMaster" Target="/ppt/notesMasters/notesMaster1.xml" Id="Rd23374c4d3784fb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d54f2bde964e78" /><Relationship Type="http://schemas.openxmlformats.org/officeDocument/2006/relationships/notesMaster" Target="/ppt/notesMasters/notesMaster1.xml" Id="R64b71192a91843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e94e8a512448fb" /><Relationship Type="http://schemas.openxmlformats.org/officeDocument/2006/relationships/notesMaster" Target="/ppt/notesMasters/notesMaster1.xml" Id="R2135c546f8d344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d2ecbf69e5c4d1f" /><Relationship Type="http://schemas.openxmlformats.org/officeDocument/2006/relationships/notesMaster" Target="/ppt/notesMasters/notesMaster1.xml" Id="R83419dbdfcd2458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6f8fad99d50493a" /><Relationship Type="http://schemas.openxmlformats.org/officeDocument/2006/relationships/notesMaster" Target="/ppt/notesMasters/notesMaster1.xml" Id="R4551e775e345432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c3517cd64e24569" /><Relationship Type="http://schemas.openxmlformats.org/officeDocument/2006/relationships/notesMaster" Target="/ppt/notesMasters/notesMaster1.xml" Id="Rdbf45d98a1504a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1d9b175fdc64e53" /><Relationship Type="http://schemas.openxmlformats.org/officeDocument/2006/relationships/notesMaster" Target="/ppt/notesMasters/notesMaster1.xml" Id="Rd0ca05ed2726490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39b7e43d22548de" /><Relationship Type="http://schemas.openxmlformats.org/officeDocument/2006/relationships/notesMaster" Target="/ppt/notesMasters/notesMaster1.xml" Id="Ra82ccf6b1b944d0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154aa5053f84408" /><Relationship Type="http://schemas.openxmlformats.org/officeDocument/2006/relationships/notesMaster" Target="/ppt/notesMasters/notesMaster1.xml" Id="Rb8e006e6ba554b8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2e67f6c634a4d80" /><Relationship Type="http://schemas.openxmlformats.org/officeDocument/2006/relationships/notesMaster" Target="/ppt/notesMasters/notesMaster1.xml" Id="R1322499fd6e94a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1</a:t>
            </a:r>
          </a:p>
          <a:p xmlns:a="http://schemas.openxmlformats.org/drawingml/2006/main">
            <a:r>
              <a:t>Suggested time: 0:30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Introduce FastAPI as the topic.</a:t>
            </a:r>
          </a:p>
          <a:p xmlns:a="http://schemas.openxmlformats.org/drawingml/2006/main">
            <a:r>
              <a:t>2. Name the Task Manager example.</a:t>
            </a:r>
          </a:p>
          <a:p xmlns:a="http://schemas.openxmlformats.org/drawingml/2006/main">
            <a:r>
              <a:t>3. Preview routes, validation, documentation and testing.</a:t>
            </a:r>
          </a:p>
          <a:p xmlns:a="http://schemas.openxmlformats.org/drawingml/2006/main">
            <a:r>
              <a:t>Technical terms: REST API, route</a:t>
            </a:r>
          </a:p>
          <a:p xmlns:a="http://schemas.openxmlformats.org/drawingml/2006/main">
            <a:r>
              <a:t>Order: Topic, project, presentation structure.</a:t>
            </a:r>
          </a:p>
          <a:p xmlns:a="http://schemas.openxmlformats.org/drawingml/2006/main">
            <a:r>
              <a:t>中文理解提示：先说主题，再说我们用一个小型任务管理 API 来解释 FastAPI。不要逐字读副标题。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1</a:t>
            </a:r>
          </a:p>
          <a:p xmlns:a="http://schemas.openxmlformats.org/drawingml/2006/main">
            <a:r>
              <a:t>Suggested time: 0:45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FastAPI is a Python framework for web APIs.</a:t>
            </a:r>
          </a:p>
          <a:p xmlns:a="http://schemas.openxmlformats.org/drawingml/2006/main">
            <a:r>
              <a:t>2. REST routes use HTTP methods and paths.</a:t>
            </a:r>
          </a:p>
          <a:p xmlns:a="http://schemas.openxmlformats.org/drawingml/2006/main">
            <a:r>
              <a:t>3. Type hints describe expected data and support common API projects.</a:t>
            </a:r>
          </a:p>
          <a:p xmlns:a="http://schemas.openxmlformats.org/drawingml/2006/main">
            <a:r>
              <a:t>Technical terms: framework, REST API, type hint</a:t>
            </a:r>
          </a:p>
          <a:p xmlns:a="http://schemas.openxmlformats.org/drawingml/2006/main">
            <a:r>
              <a:t>Order: Definition, REST idea, types, common uses.</a:t>
            </a:r>
          </a:p>
          <a:p xmlns:a="http://schemas.openxmlformats.org/drawingml/2006/main">
            <a:r>
              <a:t>中文理解提示：把 FastAPI 理解成用 Python 建立接口的框架，重点不是网页外观，而是客户端与服务器交换数据。</a:t>
            </a:r>
          </a:p>
          <a:p xmlns:a="http://schemas.openxmlformats.org/drawingml/2006/main">
            <a:r>
              <a:t>Source: https://fastapi.tiangolo.com/features/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1</a:t>
            </a:r>
          </a:p>
          <a:p xmlns:a="http://schemas.openxmlformats.org/drawingml/2006/main">
            <a:r>
              <a:t>Suggested time: 0:45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Decorators make route declarations short.</a:t>
            </a:r>
          </a:p>
          <a:p xmlns:a="http://schemas.openxmlformats.org/drawingml/2006/main">
            <a:r>
              <a:t>2. Pydantic validates declared request data.</a:t>
            </a:r>
          </a:p>
          <a:p xmlns:a="http://schemas.openxmlformats.org/drawingml/2006/main">
            <a:r>
              <a:t>3. FastAPI generates OpenAPI documentation automatically.</a:t>
            </a:r>
          </a:p>
          <a:p xmlns:a="http://schemas.openxmlformats.org/drawingml/2006/main">
            <a:r>
              <a:t>Technical terms: decorator, validation, OpenAPI, Swagger UI</a:t>
            </a:r>
          </a:p>
          <a:p xmlns:a="http://schemas.openxmlformats.org/drawingml/2006/main">
            <a:r>
              <a:t>Order: Routes, validation, documentation.</a:t>
            </a:r>
          </a:p>
          <a:p xmlns:a="http://schemas.openxmlformats.org/drawingml/2006/main">
            <a:r>
              <a:t>中文理解提示：三个功能按从写代码到测试接口的顺序讲，每项只解释一句。</a:t>
            </a:r>
          </a:p>
          <a:p xmlns:a="http://schemas.openxmlformats.org/drawingml/2006/main">
            <a:r>
              <a:t>Source: https://fastapi.tiangolo.com/features/</a:t>
            </a:r>
          </a:p>
          <a:p xmlns:a="http://schemas.openxmlformats.org/drawingml/2006/main">
            <a:r>
              <a:t>Source: https://fastapi.tiangolo.com/tutorial/first-steps/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1</a:t>
            </a:r>
          </a:p>
          <a:p xmlns:a="http://schemas.openxmlformats.org/drawingml/2006/main">
            <a:r>
              <a:t>Suggested time: 0:55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The client sends an HTTP request through Uvicorn.</a:t>
            </a:r>
          </a:p>
          <a:p xmlns:a="http://schemas.openxmlformats.org/drawingml/2006/main">
            <a:r>
              <a:t>2. FastAPI selects the route and Pydantic checks data.</a:t>
            </a:r>
          </a:p>
          <a:p xmlns:a="http://schemas.openxmlformats.org/drawingml/2006/main">
            <a:r>
              <a:t>3. The repository returns task data as JSON.</a:t>
            </a:r>
          </a:p>
          <a:p xmlns:a="http://schemas.openxmlformats.org/drawingml/2006/main">
            <a:r>
              <a:t>Technical terms: client, Uvicorn, Pydantic, repository, JSON</a:t>
            </a:r>
          </a:p>
          <a:p xmlns:a="http://schemas.openxmlformats.org/drawingml/2006/main">
            <a:r>
              <a:t>Order: Follow the diagram from left to right.</a:t>
            </a:r>
          </a:p>
          <a:p xmlns:a="http://schemas.openxmlformats.org/drawingml/2006/main">
            <a:r>
              <a:t>中文理解提示：按箭头顺序讲，不需要深入解释 ASGI。最后说明返回 JSON 和状态码。</a:t>
            </a:r>
          </a:p>
          <a:p xmlns:a="http://schemas.openxmlformats.org/drawingml/2006/main">
            <a:r>
              <a:t>Source: https://www.uvicorn.org/</a:t>
            </a:r>
          </a:p>
          <a:p xmlns:a="http://schemas.openxmlformats.org/drawingml/2006/main">
            <a:r>
              <a:t>Source: https://docs.pydantic.dev/latest/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2</a:t>
            </a:r>
          </a:p>
          <a:p xmlns:a="http://schemas.openxmlformats.org/drawingml/2006/main">
            <a:r>
              <a:t>Suggested time: 0:45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GET /tasks requests the task list.</a:t>
            </a:r>
          </a:p>
          <a:p xmlns:a="http://schemas.openxmlformats.org/drawingml/2006/main">
            <a:r>
              <a:t>2. FastAPI matches the list_tasks route.</a:t>
            </a:r>
          </a:p>
          <a:p xmlns:a="http://schemas.openxmlformats.org/drawingml/2006/main">
            <a:r>
              <a:t>3. The response contains status 200 and JSON data.</a:t>
            </a:r>
          </a:p>
          <a:p xmlns:a="http://schemas.openxmlformats.org/drawingml/2006/main">
            <a:r>
              <a:t>Technical terms: GET, JSON response, serialise</a:t>
            </a:r>
          </a:p>
          <a:p xmlns:a="http://schemas.openxmlformats.org/drawingml/2006/main">
            <a:r>
              <a:t>Order: Request, route, response.</a:t>
            </a:r>
          </a:p>
          <a:p xmlns:a="http://schemas.openxmlformats.org/drawingml/2006/main">
            <a:r>
              <a:t>中文理解提示：指出右侧 JSON 是缩短后的示例，真实响应还包含其他模型字段。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2</a:t>
            </a:r>
          </a:p>
          <a:p xmlns:a="http://schemas.openxmlformats.org/drawingml/2006/main">
            <a:r>
              <a:t>Suggested time: 0:40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The scenario supports real presentation tasks.</a:t>
            </a:r>
          </a:p>
          <a:p xmlns:a="http://schemas.openxmlformats.org/drawingml/2006/main">
            <a:r>
              <a:t>2. Each task uses four editable fields.</a:t>
            </a:r>
          </a:p>
          <a:p xmlns:a="http://schemas.openxmlformats.org/drawingml/2006/main">
            <a:r>
              <a:t>3. Memory storage keeps the teaching setup simple.</a:t>
            </a:r>
          </a:p>
          <a:p xmlns:a="http://schemas.openxmlformats.org/drawingml/2006/main">
            <a:r>
              <a:t>Technical terms: in-memory storage, workflow status</a:t>
            </a:r>
          </a:p>
          <a:p xmlns:a="http://schemas.openxmlformats.org/drawingml/2006/main">
            <a:r>
              <a:t>Order: Scenario, fields, deliberate limitation.</a:t>
            </a:r>
          </a:p>
          <a:p xmlns:a="http://schemas.openxmlformats.org/drawingml/2006/main">
            <a:r>
              <a:t>中文理解提示：强调这是教学示例。服务器重启后数据清空，SQLite 只是后续扩展。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2</a:t>
            </a:r>
          </a:p>
          <a:p xmlns:a="http://schemas.openxmlformats.org/drawingml/2006/main">
            <a:r>
              <a:t>Suggested time: 0:50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GET reads tasks.</a:t>
            </a:r>
          </a:p>
          <a:p xmlns:a="http://schemas.openxmlformats.org/drawingml/2006/main">
            <a:r>
              <a:t>2. POST creates and PUT replaces.</a:t>
            </a:r>
          </a:p>
          <a:p xmlns:a="http://schemas.openxmlformats.org/drawingml/2006/main">
            <a:r>
              <a:t>3. DELETE removes a task.</a:t>
            </a:r>
          </a:p>
          <a:p xmlns:a="http://schemas.openxmlformats.org/drawingml/2006/main">
            <a:r>
              <a:t>Technical terms: CRUD, HTTP method, resource path</a:t>
            </a:r>
          </a:p>
          <a:p xmlns:a="http://schemas.openxmlformats.org/drawingml/2006/main">
            <a:r>
              <a:t>Order: Read the lifecycle from GET to DELETE.</a:t>
            </a:r>
          </a:p>
          <a:p xmlns:a="http://schemas.openxmlformats.org/drawingml/2006/main">
            <a:r>
              <a:t>中文理解提示：把 CRUD 当作任务生命周期来讲，不需要现场演示全部五个路由。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2</a:t>
            </a:r>
          </a:p>
          <a:p xmlns:a="http://schemas.openxmlformats.org/drawingml/2006/main">
            <a:r>
              <a:t>Suggested time: 0:45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200, 201 and 204 show successful requests.</a:t>
            </a:r>
          </a:p>
          <a:p xmlns:a="http://schemas.openxmlformats.org/drawingml/2006/main">
            <a:r>
              <a:t>2. 404 means the task ID is missing.</a:t>
            </a:r>
          </a:p>
          <a:p xmlns:a="http://schemas.openxmlformats.org/drawingml/2006/main">
            <a:r>
              <a:t>3. 422 means request data failed validation.</a:t>
            </a:r>
          </a:p>
          <a:p xmlns:a="http://schemas.openxmlformats.org/drawingml/2006/main">
            <a:r>
              <a:t>Technical terms: HTTP status code, response body, validation error</a:t>
            </a:r>
          </a:p>
          <a:p xmlns:a="http://schemas.openxmlformats.org/drawingml/2006/main">
            <a:r>
              <a:t>Order: Success codes first, then client errors.</a:t>
            </a:r>
          </a:p>
          <a:p xmlns:a="http://schemas.openxmlformats.org/drawingml/2006/main">
            <a:r>
              <a:t>中文理解提示：不要逐个长讲。重点记住 POST 成功是 201，非法 priority 是 422。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3</a:t>
            </a:r>
          </a:p>
          <a:p xmlns:a="http://schemas.openxmlformats.org/drawingml/2006/main">
            <a:r>
              <a:t>Suggested time: 0:35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A decorator combines the method and path.</a:t>
            </a:r>
          </a:p>
          <a:p xmlns:a="http://schemas.openxmlformats.org/drawingml/2006/main">
            <a:r>
              <a:t>2. The function contains the Python behaviour.</a:t>
            </a:r>
          </a:p>
          <a:p xmlns:a="http://schemas.openxmlformats.org/drawingml/2006/main">
            <a:r>
              <a:t>3. The POST route declares its models and 201 status.</a:t>
            </a:r>
          </a:p>
          <a:p xmlns:a="http://schemas.openxmlformats.org/drawingml/2006/main">
            <a:r>
              <a:t>Technical terms: decorator, response model, status_code</a:t>
            </a:r>
          </a:p>
          <a:p xmlns:a="http://schemas.openxmlformats.org/drawingml/2006/main">
            <a:r>
              <a:t>Order: Simple GET example, then the richer POST example.</a:t>
            </a:r>
          </a:p>
          <a:p xmlns:a="http://schemas.openxmlformats.org/drawingml/2006/main">
            <a:r>
              <a:t>中文理解提示：只比较左右两段代码的差别，不需要逐行解释。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3</a:t>
            </a:r>
          </a:p>
          <a:p xmlns:a="http://schemas.openxmlformats.org/drawingml/2006/main">
            <a:r>
              <a:t>Suggested time: 0:35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TaskData defines the shared request fields.</a:t>
            </a:r>
          </a:p>
          <a:p xmlns:a="http://schemas.openxmlformats.org/drawingml/2006/main">
            <a:r>
              <a:t>2. Status has three allowed workflow values.</a:t>
            </a:r>
          </a:p>
          <a:p xmlns:a="http://schemas.openxmlformats.org/drawingml/2006/main">
            <a:r>
              <a:t>3. Priority accepts only integers from 1 to 5.</a:t>
            </a:r>
          </a:p>
          <a:p xmlns:a="http://schemas.openxmlformats.org/drawingml/2006/main">
            <a:r>
              <a:t>Technical terms: BaseModel, Field, enum, constraint</a:t>
            </a:r>
          </a:p>
          <a:p xmlns:a="http://schemas.openxmlformats.org/drawingml/2006/main">
            <a:r>
              <a:t>Order: Model purpose, four fields, priority rule.</a:t>
            </a:r>
          </a:p>
          <a:p xmlns:a="http://schemas.openxmlformats.org/drawingml/2006/main">
            <a:r>
              <a:t>中文理解提示：重点讲 priority 的 ge=1 和 le=5，因为下一页和 Demo 都会用到。</a:t>
            </a:r>
          </a:p>
          <a:p xmlns:a="http://schemas.openxmlformats.org/drawingml/2006/main">
            <a:r>
              <a:t>Source: https://docs.pydantic.dev/latest/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3</a:t>
            </a:r>
          </a:p>
          <a:p xmlns:a="http://schemas.openxmlformats.org/drawingml/2006/main">
            <a:r>
              <a:t>Suggested time: 0:30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Priority 5 satisfies the model.</a:t>
            </a:r>
          </a:p>
          <a:p xmlns:a="http://schemas.openxmlformats.org/drawingml/2006/main">
            <a:r>
              <a:t>2. Priority 9 breaks the maximum value.</a:t>
            </a:r>
          </a:p>
          <a:p xmlns:a="http://schemas.openxmlformats.org/drawingml/2006/main">
            <a:r>
              <a:t>3. FastAPI returns 422 before repository code runs.</a:t>
            </a:r>
          </a:p>
          <a:p xmlns:a="http://schemas.openxmlformats.org/drawingml/2006/main">
            <a:r>
              <a:t>Technical terms: 201 Created, 422 Validation Error</a:t>
            </a:r>
          </a:p>
          <a:p xmlns:a="http://schemas.openxmlformats.org/drawingml/2006/main">
            <a:r>
              <a:t>Order: Valid request, invalid request, automatic check.</a:t>
            </a:r>
          </a:p>
          <a:p xmlns:a="http://schemas.openxmlformats.org/drawingml/2006/main">
            <a:r>
              <a:t>中文理解提示：左右对比即可。不要解释完整错误 JSON，只说 9 超出 1 到 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3</a:t>
            </a:r>
          </a:p>
          <a:p xmlns:a="http://schemas.openxmlformats.org/drawingml/2006/main">
            <a:r>
              <a:t>Suggested time: 2:15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GET /tasks returns 200.</a:t>
            </a:r>
          </a:p>
          <a:p xmlns:a="http://schemas.openxmlformats.org/drawingml/2006/main">
            <a:r>
              <a:t>2. A valid POST returns 201.</a:t>
            </a:r>
          </a:p>
          <a:p xmlns:a="http://schemas.openxmlformats.org/drawingml/2006/main">
            <a:r>
              <a:t>3. Priority 9 returns 422 automatically.</a:t>
            </a:r>
          </a:p>
          <a:p xmlns:a="http://schemas.openxmlformats.org/drawingml/2006/main">
            <a:r>
              <a:t>Technical terms: Swagger UI, Try it out, Execute</a:t>
            </a:r>
          </a:p>
          <a:p xmlns:a="http://schemas.openxmlformats.org/drawingml/2006/main">
            <a:r>
              <a:t>Order: GET, valid POST, invalid POST, then stop.</a:t>
            </a:r>
          </a:p>
          <a:p xmlns:a="http://schemas.openxmlformats.org/drawingml/2006/main">
            <a:r>
              <a:t>中文理解提示：课前启动服务器并打开 /docs。不要现场写代码，不要演示 PUT 或 DELETE。出错时留在本页口头说明结果。</a:t>
            </a:r>
          </a:p>
          <a:p xmlns:a="http://schemas.openxmlformats.org/drawingml/2006/main">
            <a:r>
              <a:t>Source: https://fastapi.tiangolo.com/tutorial/first-steps/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4</a:t>
            </a:r>
          </a:p>
          <a:p xmlns:a="http://schemas.openxmlformats.org/drawingml/2006/main">
            <a:r>
              <a:t>Suggested time: 0:40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The suite contains eight API tests.</a:t>
            </a:r>
          </a:p>
          <a:p xmlns:a="http://schemas.openxmlformats.org/drawingml/2006/main">
            <a:r>
              <a:t>2. It covers docs, CRUD, errors and filters.</a:t>
            </a:r>
          </a:p>
          <a:p xmlns:a="http://schemas.openxmlformats.org/drawingml/2006/main">
            <a:r>
              <a:t>3. The current project result is 8 passed.</a:t>
            </a:r>
          </a:p>
          <a:p xmlns:a="http://schemas.openxmlformats.org/drawingml/2006/main">
            <a:r>
              <a:t>Technical terms: pytest, TestClient, repeatable test</a:t>
            </a:r>
          </a:p>
          <a:p xmlns:a="http://schemas.openxmlformats.org/drawingml/2006/main">
            <a:r>
              <a:t>Order: Result, coverage, why the repository resets.</a:t>
            </a:r>
          </a:p>
          <a:p xmlns:a="http://schemas.openxmlformats.org/drawingml/2006/main">
            <a:r>
              <a:t>中文理解提示：展示结果即可，不需要打开测试代码。当前复核结果是 8 passed in 0.47s。</a:t>
            </a:r>
          </a:p>
          <a:p xmlns:a="http://schemas.openxmlformats.org/drawingml/2006/main">
            <a:r>
              <a:t>Source: https://fastapi.tiangolo.com/tutorial/testing/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4</a:t>
            </a:r>
          </a:p>
          <a:p xmlns:a="http://schemas.openxmlformats.org/drawingml/2006/main">
            <a:r>
              <a:t>Suggested time: 0:40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Types connect validation, responses and documentation.</a:t>
            </a:r>
          </a:p>
          <a:p xmlns:a="http://schemas.openxmlformats.org/drawingml/2006/main">
            <a:r>
              <a:t>2. Swagger UI gives fast feedback.</a:t>
            </a:r>
          </a:p>
          <a:p xmlns:a="http://schemas.openxmlformats.org/drawingml/2006/main">
            <a:r>
              <a:t>3. The structure can grow beyond the teaching example.</a:t>
            </a:r>
          </a:p>
          <a:p xmlns:a="http://schemas.openxmlformats.org/drawingml/2006/main">
            <a:r>
              <a:t>Technical terms: contract, Swagger UI, router</a:t>
            </a:r>
          </a:p>
          <a:p xmlns:a="http://schemas.openxmlformats.org/drawingml/2006/main">
            <a:r>
              <a:t>Order: Contract, feedback, growth.</a:t>
            </a:r>
          </a:p>
          <a:p xmlns:a="http://schemas.openxmlformats.org/drawingml/2006/main">
            <a:r>
              <a:t>中文理解提示：用项目中的实际例子说明优点，避免夸大性能。</a:t>
            </a:r>
          </a:p>
          <a:p xmlns:a="http://schemas.openxmlformats.org/drawingml/2006/main">
            <a:r>
              <a:t>Source: https://fastapi.tiangolo.com/features/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4</a:t>
            </a:r>
          </a:p>
          <a:p xmlns:a="http://schemas.openxmlformats.org/drawingml/2006/main">
            <a:r>
              <a:t>Suggested time: 0:40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Security still requires application design.</a:t>
            </a:r>
          </a:p>
          <a:p xmlns:a="http://schemas.openxmlformats.org/drawingml/2006/main">
            <a:r>
              <a:t>2. Some Python concepts may be unfamiliar.</a:t>
            </a:r>
          </a:p>
          <a:p xmlns:a="http://schemas.openxmlformats.org/drawingml/2006/main">
            <a:r>
              <a:t>3. Production systems need storage and operations work.</a:t>
            </a:r>
          </a:p>
          <a:p xmlns:a="http://schemas.openxmlformats.org/drawingml/2006/main">
            <a:r>
              <a:t>Technical terms: authentication, authorisation, persistence, monitoring</a:t>
            </a:r>
          </a:p>
          <a:p xmlns:a="http://schemas.openxmlformats.org/drawingml/2006/main">
            <a:r>
              <a:t>Order: Security, learning curve, production needs.</a:t>
            </a:r>
          </a:p>
          <a:p xmlns:a="http://schemas.openxmlformats.org/drawingml/2006/main">
            <a:r>
              <a:t>中文理解提示：说明框架不能自动解决所有问题，这体现批判性分析。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4</a:t>
            </a:r>
          </a:p>
          <a:p xmlns:a="http://schemas.openxmlformats.org/drawingml/2006/main">
            <a:r>
              <a:t>Suggested time: 0:40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FastAPI fits REST backends.</a:t>
            </a:r>
          </a:p>
          <a:p xmlns:a="http://schemas.openxmlformats.org/drawingml/2006/main">
            <a:r>
              <a:t>2. It also fits data and ML services.</a:t>
            </a:r>
          </a:p>
          <a:p xmlns:a="http://schemas.openxmlformats.org/drawingml/2006/main">
            <a:r>
              <a:t>3. Generated docs help teaching and prototypes.</a:t>
            </a:r>
          </a:p>
          <a:p xmlns:a="http://schemas.openxmlformats.org/drawingml/2006/main">
            <a:r>
              <a:t>Technical terms: backend, typed contract, prototype</a:t>
            </a:r>
          </a:p>
          <a:p xmlns:a="http://schemas.openxmlformats.org/drawingml/2006/main">
            <a:r>
              <a:t>Order: Three use cases, then the production reminder.</a:t>
            </a:r>
          </a:p>
          <a:p xmlns:a="http://schemas.openxmlformats.org/drawingml/2006/main">
            <a:r>
              <a:t>中文理解提示：说适用场景，不要说 FastAPI 永远是最佳选择。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Member 4</a:t>
            </a:r>
          </a:p>
          <a:p xmlns:a="http://schemas.openxmlformats.org/drawingml/2006/main">
            <a:r>
              <a:t>Suggested time: 0:45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Types support a clear API contract.</a:t>
            </a:r>
          </a:p>
          <a:p xmlns:a="http://schemas.openxmlformats.org/drawingml/2006/main">
            <a:r>
              <a:t>2. Swagger UI makes the API visible and testable.</a:t>
            </a:r>
          </a:p>
          <a:p xmlns:a="http://schemas.openxmlformats.org/drawingml/2006/main">
            <a:r>
              <a:t>3. The GitHub Pages site continues with information and a tutorial.</a:t>
            </a:r>
          </a:p>
          <a:p xmlns:a="http://schemas.openxmlformats.org/drawingml/2006/main">
            <a:r>
              <a:t>Technical terms: GitHub Pages, Online Information, Online Tutorial</a:t>
            </a:r>
          </a:p>
          <a:p xmlns:a="http://schemas.openxmlformats.org/drawingml/2006/main">
            <a:r>
              <a:t>Order: Three ideas, URL and QR code, thank the audience.</a:t>
            </a:r>
          </a:p>
          <a:p xmlns:a="http://schemas.openxmlformats.org/drawingml/2006/main">
            <a:r>
              <a:t>中文理解提示：最后指向真实网址和二维码，说明网站分为知识介绍与分步教程。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Owner: Reference slide</a:t>
            </a:r>
          </a:p>
          <a:p xmlns:a="http://schemas.openxmlformats.org/drawingml/2006/main">
            <a:r>
              <a:t>Suggested time: 0:00 planned</a:t>
            </a:r>
          </a:p>
          <a:p xmlns:a="http://schemas.openxmlformats.org/drawingml/2006/main">
            <a:r>
              <a:t>Key points:</a:t>
            </a:r>
          </a:p>
          <a:p xmlns:a="http://schemas.openxmlformats.org/drawingml/2006/main">
            <a:r>
              <a:t>1. The main claims use official FastAPI documentation.</a:t>
            </a:r>
          </a:p>
          <a:p xmlns:a="http://schemas.openxmlformats.org/drawingml/2006/main">
            <a:r>
              <a:t>2. Pydantic, Uvicorn and OpenAPI sources are included.</a:t>
            </a:r>
          </a:p>
          <a:p xmlns:a="http://schemas.openxmlformats.org/drawingml/2006/main">
            <a:r>
              <a:t>3. The online resource contains the full reference list.</a:t>
            </a:r>
          </a:p>
          <a:p xmlns:a="http://schemas.openxmlformats.org/drawingml/2006/main">
            <a:r>
              <a:t>Technical terms: official documentation, access date</a:t>
            </a:r>
          </a:p>
          <a:p xmlns:a="http://schemas.openxmlformats.org/drawingml/2006/main">
            <a:r>
              <a:t>Order: Display briefly before questions if needed.</a:t>
            </a:r>
          </a:p>
          <a:p xmlns:a="http://schemas.openxmlformats.org/drawingml/2006/main">
            <a:r>
              <a:t>中文理解提示：此页不计入正式讲解时间，需要时停留几秒即可。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d920712534c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aa662714a243b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e36fbdd8fb4f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20d98946ec49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2f93670a14419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c9f3bdb8d4f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D5E4EC-CB60-4327-9E62-D8BAA9BBE3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255B629-0A1E-47A1-B75C-8EDD350B114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BB93AE0-56E4-44FF-B775-B341F7DD12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D65311B-3CE2-4463-A89F-B2508EB862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6DC949F-191F-47A8-B7E8-D3A13E26A8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611340-008A-4C35-BB35-BB6E1CBD3D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C405DD7-0AF3-49FE-B638-3BEC5B33EE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30D120F-25DD-4918-B0CA-3209420E35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463D99-9E3F-421A-8F31-31DDD1207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4E59AEC-3782-4671-8C22-CB5AE6925A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aef6ecf87164f5c" /><Relationship Type="http://schemas.openxmlformats.org/officeDocument/2006/relationships/slideLayout" Target="/ppt/slideLayouts/slideLayout1.xml" Id="R866cdc86616b44f5" /><Relationship Type="http://schemas.openxmlformats.org/officeDocument/2006/relationships/slideLayout" Target="/ppt/slideLayouts/slideLayout2.xml" Id="Ra970201476424eb1" /><Relationship Type="http://schemas.openxmlformats.org/officeDocument/2006/relationships/slideLayout" Target="/ppt/slideLayouts/slideLayout3.xml" Id="Rb252760991fc46bb" /><Relationship Type="http://schemas.openxmlformats.org/officeDocument/2006/relationships/slideLayout" Target="/ppt/slideLayouts/slideLayout4.xml" Id="Rf49949dfcb5b494b" /><Relationship Type="http://schemas.openxmlformats.org/officeDocument/2006/relationships/slideLayout" Target="/ppt/slideLayouts/slideLayout5.xml" Id="Rac93ed5696a94b9a" /><Relationship Type="http://schemas.openxmlformats.org/officeDocument/2006/relationships/slideLayout" Target="/ppt/slideLayouts/slideLayout6.xml" Id="Rab53fc45e6ca488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6cdc86616b44f5"/>
    <p:sldLayoutId xmlns:r="http://schemas.openxmlformats.org/officeDocument/2006/relationships" id="2147483650" r:id="Ra970201476424eb1"/>
    <p:sldLayoutId xmlns:r="http://schemas.openxmlformats.org/officeDocument/2006/relationships" id="2147483651" r:id="Rb252760991fc46bb"/>
    <p:sldLayoutId xmlns:r="http://schemas.openxmlformats.org/officeDocument/2006/relationships" id="2147483652" r:id="Rf49949dfcb5b494b"/>
    <p:sldLayoutId xmlns:r="http://schemas.openxmlformats.org/officeDocument/2006/relationships" id="2147483653" r:id="Rac93ed5696a94b9a"/>
    <p:sldLayoutId xmlns:r="http://schemas.openxmlformats.org/officeDocument/2006/relationships" id="2147483654" r:id="Rab53fc45e6ca488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FastAPI CW1">
  <a:themeElements>
    <a:clrScheme name="FastAPI CW1">
      <a:dk1>
        <a:srgbClr val="000000"/>
      </a:dk1>
      <a:lt1>
        <a:srgbClr val="FFFFFF"/>
      </a:lt1>
      <a:dk2>
        <a:srgbClr val="0E1C27"/>
      </a:dk2>
      <a:lt2>
        <a:srgbClr val="E8E8E8"/>
      </a:lt2>
      <a:accent1>
        <a:srgbClr val="087F72"/>
      </a:accent1>
      <a:accent2>
        <a:srgbClr val="EF765E"/>
      </a:accent2>
      <a:accent3>
        <a:srgbClr val="8DE2BD"/>
      </a:accent3>
      <a:accent4>
        <a:srgbClr val="055A52"/>
      </a:accent4>
      <a:accent5>
        <a:srgbClr val="EAF3FA"/>
      </a:accent5>
      <a:accent6>
        <a:srgbClr val="D7B95D"/>
      </a:accent6>
      <a:hlink>
        <a:srgbClr val="087F72"/>
      </a:hlink>
      <a:folHlink>
        <a:srgbClr val="6B4B95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astAPI CW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26c12bebf94269" /><Relationship Type="http://schemas.openxmlformats.org/officeDocument/2006/relationships/notesSlide" Target="/ppt/notesSlides/notesSlide1.xml" Id="R6686c9e17f8040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dc98bfb9214b2d" /><Relationship Type="http://schemas.openxmlformats.org/officeDocument/2006/relationships/notesSlide" Target="/ppt/notesSlides/notesSlide2.xml" Id="R4f275f4b5edb437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33042e109f4326" /><Relationship Type="http://schemas.openxmlformats.org/officeDocument/2006/relationships/image" Target="/ppt/media/image.png" Id="Rb82352d93b9c4a01" /><Relationship Type="http://schemas.openxmlformats.org/officeDocument/2006/relationships/notesSlide" Target="/ppt/notesSlides/notesSlide3.xml" Id="Rfe05dfbe21c541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26212597a64fde" /><Relationship Type="http://schemas.openxmlformats.org/officeDocument/2006/relationships/notesSlide" Target="/ppt/notesSlides/notesSlide4.xml" Id="R0911cdd02cd344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5d9a74f6ff4434" /><Relationship Type="http://schemas.openxmlformats.org/officeDocument/2006/relationships/notesSlide" Target="/ppt/notesSlides/notesSlide5.xml" Id="Rf2cede519c134f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47d683b38444d9" /><Relationship Type="http://schemas.openxmlformats.org/officeDocument/2006/relationships/notesSlide" Target="/ppt/notesSlides/notesSlide6.xml" Id="R1f190a999bf34e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34c44dbcee47df" /><Relationship Type="http://schemas.openxmlformats.org/officeDocument/2006/relationships/notesSlide" Target="/ppt/notesSlides/notesSlide7.xml" Id="Rb67568d8e1e54ac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abf6cf939d41fa" /><Relationship Type="http://schemas.openxmlformats.org/officeDocument/2006/relationships/notesSlide" Target="/ppt/notesSlides/notesSlide8.xml" Id="Rfd1382694e174c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e358333496492b" /><Relationship Type="http://schemas.openxmlformats.org/officeDocument/2006/relationships/notesSlide" Target="/ppt/notesSlides/notesSlide9.xml" Id="R1005c8f461fc40e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cc30d2d29504a3a" /><Relationship Type="http://schemas.openxmlformats.org/officeDocument/2006/relationships/notesSlide" Target="/ppt/notesSlides/notesSlide10.xml" Id="Rc81f85eb61184a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033c32beee4f0e" /><Relationship Type="http://schemas.openxmlformats.org/officeDocument/2006/relationships/image" Target="/ppt/media/image2.png" Id="R4347a34b262e4f3c" /><Relationship Type="http://schemas.openxmlformats.org/officeDocument/2006/relationships/image" Target="/ppt/media/image3.png" Id="Rb873da1eed494160" /><Relationship Type="http://schemas.openxmlformats.org/officeDocument/2006/relationships/notesSlide" Target="/ppt/notesSlides/notesSlide11.xml" Id="R1deb5121b95c4b4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02d8e5bf28486a" /><Relationship Type="http://schemas.openxmlformats.org/officeDocument/2006/relationships/notesSlide" Target="/ppt/notesSlides/notesSlide12.xml" Id="Re32056f571844b3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b84f591ddf48e5" /><Relationship Type="http://schemas.openxmlformats.org/officeDocument/2006/relationships/notesSlide" Target="/ppt/notesSlides/notesSlide13.xml" Id="R18df3ea94b6a47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3ced34fa0a4de4" /><Relationship Type="http://schemas.openxmlformats.org/officeDocument/2006/relationships/notesSlide" Target="/ppt/notesSlides/notesSlide14.xml" Id="R41427fb12829465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c98194a3364c64" /><Relationship Type="http://schemas.openxmlformats.org/officeDocument/2006/relationships/notesSlide" Target="/ppt/notesSlides/notesSlide15.xml" Id="Rc95c6a8dcb494e8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ea4505347e46c7" /><Relationship Type="http://schemas.openxmlformats.org/officeDocument/2006/relationships/notesSlide" Target="/ppt/notesSlides/notesSlide16.xml" Id="Ref64c835cc8f48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2ed4bdb33a4da8" /><Relationship Type="http://schemas.openxmlformats.org/officeDocument/2006/relationships/image" Target="/ppt/media/image4.png" Id="R1f221d9625b84035" /><Relationship Type="http://schemas.openxmlformats.org/officeDocument/2006/relationships/notesSlide" Target="/ppt/notesSlides/notesSlide17.xml" Id="R139424eb6232433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e5ecd3e2aa4048" /><Relationship Type="http://schemas.openxmlformats.org/officeDocument/2006/relationships/notesSlide" Target="/ppt/notesSlides/notesSlide18.xml" Id="R62fb792007934fc1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102A3A"/>
            </a:gs>
            <a:gs pos="100000">
              <a:srgbClr val="174C4A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6FAE6E3-2E08-4B6F-BDBA-EBA8B69F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B9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7D4E061-A3E3-4C90-B818-E6E13924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15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0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A8E8D0"/>
                </a:solidFill>
                <a:latin typeface="Aptos"/>
                <a:ea typeface="Aptos"/>
                <a:cs typeface="Aptos"/>
              </a:rPr>
              <a:t>COMP10020 INTERNET TECHNOLOGIES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D36A3BF-BD3F-4613-8F5A-FCDAE248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6191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57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4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805B525-5A01-49CC-AA99-3D1085B8D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666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7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325" b="1" i="0">
                <a:solidFill>
                  <a:srgbClr val="E4F0F2"/>
                </a:solidFill>
                <a:latin typeface="Aptos"/>
                <a:ea typeface="Aptos"/>
                <a:cs typeface="Aptos"/>
              </a:defRPr>
            </a:pPr>
            <a:r>
              <a:rPr sz="2475" b="1" i="0">
                <a:solidFill>
                  <a:srgbClr val="E4F0F2"/>
                </a:solidFill>
                <a:latin typeface="Aptos"/>
                <a:ea typeface="Aptos"/>
                <a:cs typeface="Aptos"/>
              </a:rPr>
              <a:t>Building a Simple Task Management REST API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F290A74-5323-46D4-A1B5-B44C238A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647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BED0D6"/>
                </a:solidFill>
                <a:latin typeface="Aptos"/>
                <a:ea typeface="Aptos"/>
                <a:cs typeface="Aptos"/>
              </a:rPr>
              <a:t>FastAPI is a Python framework for web APIs.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BED0D6"/>
                </a:solidFill>
                <a:latin typeface="Aptos"/>
                <a:ea typeface="Aptos"/>
                <a:cs typeface="Aptos"/>
              </a:rPr>
              <a:t>This Task Manager shows how it works.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79BC566-72F9-4878-91ED-05A2DB38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590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8C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9024B71-B8DB-4ABF-A7BC-143E39A2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 b="1" i="0">
                <a:solidFill>
                  <a:srgbClr val="A8E8D0"/>
                </a:solidFill>
                <a:latin typeface="Aptos"/>
                <a:ea typeface="Aptos"/>
                <a:cs typeface="Aptos"/>
              </a:defRPr>
            </a:pPr>
            <a:endParaRPr sz="1350" b="1" i="0">
              <a:solidFill>
                <a:srgbClr val="A8E8D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12DA16B-284B-493F-AD96-F5702696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647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endParaRPr sz="1725" b="0" i="0">
              <a:solidFill>
                <a:srgbClr val="BED0D6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: 圆角 8">
            <a:extLst xmlns:a="http://schemas.openxmlformats.org/drawingml/2006/main">
              <a:ext uri="{FF2B5EF4-FFF2-40B4-BE49-F238E27FC236}">
                <a16:creationId xmlns:a16="http://schemas.microsoft.com/office/drawing/2014/main" id="{6F49E06F-6334-4860-B980-D3D65060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295400"/>
            <a:ext cx="3657600" cy="33909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102A3A"/>
          </a:solidFill>
          <a:ln xmlns:a="http://schemas.openxmlformats.org/drawingml/2006/main" w="9525">
            <a:solidFill>
              <a:srgbClr val="24485A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4820CDE-815A-4B9F-8029-64A35E97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466850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12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app/main.py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1CF02A7-FC0C-495E-9BF7-C0D7172D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90700"/>
            <a:ext cx="323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E0D1639-0A41-4308-A6B1-57C9120E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943100"/>
            <a:ext cx="3181350" cy="255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from fastapi import FastAPI</a:t>
            </a:r>
          </a:p>
          <a:p xmlns:a="http://schemas.openxmlformats.org/drawingml/2006/main">
            <a:endParaRPr sz="1200" b="0" i="0">
              <a:solidFill>
                <a:srgbClr val="D9E8EE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app = FastAPI()</a:t>
            </a:r>
          </a:p>
          <a:p xmlns:a="http://schemas.openxmlformats.org/drawingml/2006/main">
            <a:endParaRPr sz="1200" b="0" i="0">
              <a:solidFill>
                <a:srgbClr val="D9E8EE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@app.get("/tasks")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def list_tasks():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return tasks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D8FDD74-B2C9-409C-B793-4E212E2A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769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50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BED0D6"/>
                </a:solidFill>
                <a:latin typeface="Aptos"/>
                <a:ea typeface="Aptos"/>
                <a:cs typeface="Aptos"/>
              </a:defRPr>
            </a:pPr>
            <a:r>
              <a:rPr sz="1050" b="1" i="0">
                <a:solidFill>
                  <a:srgbClr val="BED0D6"/>
                </a:solidFill>
                <a:latin typeface="Aptos"/>
                <a:ea typeface="Aptos"/>
                <a:cs typeface="Aptos"/>
              </a:rPr>
              <a:t>GROUP PRESENTATION</a:t>
            </a:r>
          </a:p>
        </p:txBody>
      </p:sp>
    </p:spTree>
    <p:extLst>
      <p:ext uri="{BB962C8B-B14F-4D97-AF65-F5344CB8AC3E}">
        <p14:creationId xmlns:p14="http://schemas.microsoft.com/office/powerpoint/2010/main" val="168159159"/>
      </p:ext>
    </p:extLst>
  </p:cSld>
</p:sld>
</file>

<file path=ppt/slides/slide2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FBFAF6"/>
            </a:gs>
            <a:gs pos="100000">
              <a:srgbClr val="EEF7F2"/>
            </a:gs>
          </a:gsLst>
          <a:lin ang="72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17BEC9FB-596F-4ABC-A92D-72A23048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FASTAPI OVERVIEW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77BEE4F-D7A9-48A7-ABF1-796164B56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What is FastAPI?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2CBBA51-7C1E-4EC1-B494-CD6DB00F2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 Python framework for building web APIs with clear data rules.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5DB3E60-76BB-437F-BF10-8F885AD9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466B3A6A-78E8-4A26-9729-7DA7C7D5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EC1EDB4-9057-4B4F-9AEB-9C79F8E4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9FF2B3F-7E8C-4EC0-9322-3C7BAB53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PYTHON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F33343C-BBF0-4383-AA19-22007C94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1526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Web API framework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972C3B6-D1E9-4FF8-9F1A-1876AC2F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52650"/>
            <a:ext cx="539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Each API route is a normal Python function. This makes the project easy to read.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EB65A8C-68BA-458D-9C3F-6BE4F3A5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0363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919C9C6-277D-473E-AD15-921F6321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REST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C836D2B-977B-410E-B407-0F666222E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099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Resource routes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840D64E-BB6F-4940-BECC-FAB03C2AC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009900"/>
            <a:ext cx="539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method and path describe the action and identify the task resource.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04EE8354-F2FB-4721-AE22-25B1371A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10363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6328D91-9C93-4C7B-BDA4-83A3936F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TYPES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8B9E683-CAB9-4EBD-A43D-37B6A149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867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Type hints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E4A35A5-09F5-4276-9E4E-6EE1F2A8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67150"/>
            <a:ext cx="539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Python type hints define the expected data. They also support automatic validation.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76D6D58-C33E-4B0B-8E9B-A4FD13B5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10363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869084C-5300-4979-B749-B3AF5C6A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USES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95A40E0E-BD8E-4A34-B9B7-CC2B5DBC7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7244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7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Typical applications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28DA798-593D-4774-9660-C470353D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724400"/>
            <a:ext cx="5391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is useful for web backends, internal tools and data services.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F8529DD-ACC6-4A84-92BD-BBFE31A76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363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522995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B641489A-70AE-496B-8B3B-012CD39BB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FASTAPI OVERVIEW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C2DA031-5ECB-4E54-A947-2E4657A6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Key features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BE4F3AB-DBE2-4C24-8A27-3347C7AAC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4381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9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connects the route, data model and documentation.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9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This reduces setup work and mistakes.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C43D3A3-C597-4015-B7A7-21BF9224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84DC31D2-C850-468B-987B-E6573B1E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ED1C48D-D677-47DD-A2EE-BFDD1305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DD1EE9E-99D3-4621-9DF2-06E6F6AA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59074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3828302-81E0-4690-95B7-990A21FA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781425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Simple routes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2DDE8D2-8B37-4C4A-B8D2-0AA719B1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781425"/>
            <a:ext cx="600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 decorator links the URL and HTTP method to a Python function.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4859DBC-5FF5-48F8-ABA6-C2E1C50B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2999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CCE2BE3-398D-4A0F-AA25-AD63EB63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09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F1C2D20-73B6-4BA5-945E-9823EA667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543425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Automatic validation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8C621E1-7E58-4B9D-A0AF-212095B5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533900"/>
            <a:ext cx="600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Pydantic checks request data before the function runs. Invalid values stop early.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49C865D-3ED7-4388-9C43-0A895740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82948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D17DA5E-5578-4276-8F2F-34FE1FF9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39283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C821549-1FAD-4E9E-97F1-A4CCE4963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959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Automatic documentation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2FD246C-E8E2-457D-90B6-CC873B82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295900"/>
            <a:ext cx="600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generates Swagger UI and ReDoc directly from the route definitions.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2273240-5CED-4D42-A4E9-0ACBC9671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0518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E2E3291-4749-0CFE-A34B-F1094D0F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7736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图片 22">
            <a:extLst xmlns:a="http://schemas.openxmlformats.org/drawingml/2006/main">
              <a:ext uri="{FF2B5EF4-FFF2-40B4-BE49-F238E27FC236}">
                <a16:creationId xmlns:a16="http://schemas.microsoft.com/office/drawing/2014/main" id="{E6160DE0-9195-4654-860F-4858DC6BC4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2352d93b9c4a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514350"/>
            <a:ext cx="4762500" cy="2838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22995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9" name="直接箭头连接符 28">
            <a:extLst xmlns:a="http://schemas.openxmlformats.org/drawingml/2006/main">
              <a:ext uri="{FF2B5EF4-FFF2-40B4-BE49-F238E27FC236}">
                <a16:creationId xmlns:a16="http://schemas.microsoft.com/office/drawing/2014/main" id="{4210AB88-ABBE-4154-8400-283E07DB202B}"/>
              </a:ext>
            </a:extLst>
          </p:cNvPr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772650" y="3219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8" name="直接箭头连接符 27">
            <a:extLst xmlns:a="http://schemas.openxmlformats.org/drawingml/2006/main">
              <a:ext uri="{FF2B5EF4-FFF2-40B4-BE49-F238E27FC236}">
                <a16:creationId xmlns:a16="http://schemas.microsoft.com/office/drawing/2014/main" id="{607D080C-7D7C-438A-979F-8461CB4943F8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7848600" y="3219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7" name="直接箭头连接符 26">
            <a:extLst xmlns:a="http://schemas.openxmlformats.org/drawingml/2006/main">
              <a:ext uri="{FF2B5EF4-FFF2-40B4-BE49-F238E27FC236}">
                <a16:creationId xmlns:a16="http://schemas.microsoft.com/office/drawing/2014/main" id="{8A1E891E-C61E-48D6-BD1E-48B96E6AAE39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5924550" y="3219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6" name="直接箭头连接符 25">
            <a:extLst xmlns:a="http://schemas.openxmlformats.org/drawingml/2006/main">
              <a:ext uri="{FF2B5EF4-FFF2-40B4-BE49-F238E27FC236}">
                <a16:creationId xmlns:a16="http://schemas.microsoft.com/office/drawing/2014/main" id="{D01F87D8-3FCC-4E5B-B21B-39A92DCCFE92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000500" y="3219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25" name="直接箭头连接符 24">
            <a:extLst xmlns:a="http://schemas.openxmlformats.org/drawingml/2006/main">
              <a:ext uri="{FF2B5EF4-FFF2-40B4-BE49-F238E27FC236}">
                <a16:creationId xmlns:a16="http://schemas.microsoft.com/office/drawing/2014/main" id="{E69EFE97-CFA7-4AB8-BD55-F82B9052427E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076450" y="3219450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sp>
        <p:nvSpPr>
          <p:cNvPr id="3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C6F64456-5B2C-4634-B90F-B41951A8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HOW FASTAPI WORKS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E4D244-F8E9-4EFD-A5E0-94B1F981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How a request moves through the app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FB53CD8-B3B9-45B0-9174-3888BB16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Each component has one clear job in the request path.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90661F0-66C7-42C2-B76E-57BC51A1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34BDB3A2-76F1-4D79-BB34-96E7F07A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A4C611E4-B1CB-455C-8C52-7775AA1C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A754EFC8-36F5-4102-A127-BBD1B911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90800"/>
            <a:ext cx="15621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1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E51E4B8-5644-482C-848D-D818DD46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CLIENT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E4E41B9-ECC3-436F-9CF3-529C3025E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242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Sends an HTTP request</a:t>
            </a:r>
          </a:p>
        </p:txBody>
      </p:sp>
      <p:sp>
        <p:nvSpPr>
          <p:cNvPr id="10" name="矩形: 圆角 9">
            <a:extLst xmlns:a="http://schemas.openxmlformats.org/drawingml/2006/main">
              <a:ext uri="{FF2B5EF4-FFF2-40B4-BE49-F238E27FC236}">
                <a16:creationId xmlns:a16="http://schemas.microsoft.com/office/drawing/2014/main" id="{0C40B2DD-1480-4767-8810-D237C483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590800"/>
            <a:ext cx="15621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1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3C731CD-F69D-4B2B-B027-7598D09E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7813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UVICORN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DF6D236-CB0A-43EA-BF27-E1E7C165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242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Receives the connection</a:t>
            </a:r>
          </a:p>
        </p:txBody>
      </p:sp>
      <p:sp>
        <p:nvSpPr>
          <p:cNvPr id="13" name="矩形: 圆角 12">
            <a:extLst xmlns:a="http://schemas.openxmlformats.org/drawingml/2006/main">
              <a:ext uri="{FF2B5EF4-FFF2-40B4-BE49-F238E27FC236}">
                <a16:creationId xmlns:a16="http://schemas.microsoft.com/office/drawing/2014/main" id="{EED69665-692C-46A8-983B-B99E3417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590800"/>
            <a:ext cx="15621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087F73"/>
          </a:solidFill>
          <a:ln xmlns:a="http://schemas.openxmlformats.org/drawingml/2006/main" w="9525">
            <a:solidFill>
              <a:srgbClr val="087F73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57BF90D8-EC37-44B7-8130-338FBC08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813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BFF4DB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9676669-E6FB-46FC-9CE9-D7FE69F2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Selects the matching route</a:t>
            </a:r>
          </a:p>
        </p:txBody>
      </p:sp>
      <p:sp>
        <p:nvSpPr>
          <p:cNvPr id="16" name="矩形: 圆角 15">
            <a:extLst xmlns:a="http://schemas.openxmlformats.org/drawingml/2006/main">
              <a:ext uri="{FF2B5EF4-FFF2-40B4-BE49-F238E27FC236}">
                <a16:creationId xmlns:a16="http://schemas.microsoft.com/office/drawing/2014/main" id="{9881D492-43D7-41CE-8670-1337DF04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90800"/>
            <a:ext cx="15621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1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F02831E-44D4-4E09-A62B-2B4205DAB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PYDANTIC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5D7F9A3-7A9F-4B6B-A1F1-4AE2645C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242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Checks and converts data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E1AFE2BB-F6C3-457F-B7BA-89EB1101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590800"/>
            <a:ext cx="15621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1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7740808-632D-4634-A166-9BF0F16FE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813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6442DA89-8B9A-4392-B1AC-829E723E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1242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Reads or changes tasks</a:t>
            </a:r>
          </a:p>
        </p:txBody>
      </p:sp>
      <p:sp>
        <p:nvSpPr>
          <p:cNvPr id="22" name="矩形: 圆角 21">
            <a:extLst xmlns:a="http://schemas.openxmlformats.org/drawingml/2006/main">
              <a:ext uri="{FF2B5EF4-FFF2-40B4-BE49-F238E27FC236}">
                <a16:creationId xmlns:a16="http://schemas.microsoft.com/office/drawing/2014/main" id="{12A9D2B5-D14D-4DF3-8C86-393790EC0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590800"/>
            <a:ext cx="15621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7D1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81A0D0C-2399-433F-BAB6-85F672B6E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781300"/>
            <a:ext cx="1371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JSON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AC2A456-9B9B-434B-9231-D4A7171E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124200"/>
            <a:ext cx="133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4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0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Returns JSON and status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0FD02A1B-A68C-4907-808E-5C84EB7D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552950"/>
            <a:ext cx="647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9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5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9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The response includes JSON data and an HTTP status code.</a:t>
            </a:r>
          </a:p>
        </p:txBody>
      </p:sp>
    </p:spTree>
    <p:extLst>
      <p:ext uri="{BB962C8B-B14F-4D97-AF65-F5344CB8AC3E}">
        <p14:creationId xmlns:p14="http://schemas.microsoft.com/office/powerpoint/2010/main" val="822344190"/>
      </p:ext>
    </p:extLst>
  </p:cSld>
</p:sld>
</file>

<file path=ppt/slides/slide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FBFAF6"/>
            </a:gs>
            <a:gs pos="100000">
              <a:srgbClr val="EEF7F2"/>
            </a:gs>
          </a:gsLst>
          <a:lin ang="72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9" name="直接箭头连接符 18">
            <a:extLst xmlns:a="http://schemas.openxmlformats.org/drawingml/2006/main">
              <a:ext uri="{FF2B5EF4-FFF2-40B4-BE49-F238E27FC236}">
                <a16:creationId xmlns:a16="http://schemas.microsoft.com/office/drawing/2014/main" id="{D05B536C-FD60-46AD-B955-94C7BFBE4401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19950" y="3390900"/>
            <a:ext cx="112395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cxnSp>
        <p:nvCxnSpPr>
          <p:cNvPr id="18" name="直接箭头连接符 17">
            <a:extLst xmlns:a="http://schemas.openxmlformats.org/drawingml/2006/main">
              <a:ext uri="{FF2B5EF4-FFF2-40B4-BE49-F238E27FC236}">
                <a16:creationId xmlns:a16="http://schemas.microsoft.com/office/drawing/2014/main" id="{40C733B5-F353-4F77-8460-272DD8199AC5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429000" y="339090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76F51"/>
            </a:solidFill>
            <a:prstDash val="solid"/>
            <a:tailEnd type="triangle" w="sm" len="sm"/>
          </a:ln>
        </p:spPr>
      </p:cxnSp>
      <p:sp>
        <p:nvSpPr>
          <p:cNvPr id="21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1542E473-3290-4675-8E8B-1269F34B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HTTP REQUEST EXAMPLE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4982F4-67FB-4FEB-9C5F-36690AAFB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GET /tasks from request to response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D39DDE7F-2C41-4DFA-9FCC-092551B41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client asks for the current task list. FastAPI returns JSON.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0EC00C2-373B-4061-8CD8-BA54C2B5F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9F841AE5-7A3F-4D54-B653-90AE865F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0052E46-EEDF-48F1-9B9C-2A86DDA3C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FBCA04C4-074B-4E4C-AD98-D2B2CF3A1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27241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102A3A"/>
          </a:solidFill>
          <a:ln xmlns:a="http://schemas.openxmlformats.org/drawingml/2006/main" w="9525">
            <a:solidFill>
              <a:srgbClr val="24485A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7A80C2B-4E21-4C8A-984C-E1866515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95550"/>
            <a:ext cx="2305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REQUEST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EA5E61-6C62-4188-AC7C-462D3B90D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2343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D70BA51-7FC2-4C93-BAAF-E59F7D9F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71800"/>
            <a:ext cx="22669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GET /tasks</a:t>
            </a:r>
          </a:p>
          <a:p xmlns:a="http://schemas.openxmlformats.org/drawingml/2006/main">
            <a:endParaRPr sz="1425" b="0" i="0">
              <a:solidFill>
                <a:srgbClr val="D9E8EE"/>
              </a:solidFill>
              <a:latin typeface="Cascadia Mono"/>
              <a:ea typeface="Cascadia Mono"/>
              <a:cs typeface="Cascadia Mono"/>
            </a:endParaRPr>
          </a:p>
          <a:p xmlns:a="http://schemas.openxmlformats.org/drawingml/2006/main">
            <a:pPr algn="l">
              <a:lnSpc>
                <a:spcPct val="105000"/>
              </a:lnSpc>
              <a:buNone/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8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Accept: application/json</a:t>
            </a:r>
          </a:p>
        </p:txBody>
      </p:sp>
      <p:sp>
        <p:nvSpPr>
          <p:cNvPr id="11" name="矩形: 圆角 10">
            <a:extLst xmlns:a="http://schemas.openxmlformats.org/drawingml/2006/main">
              <a:ext uri="{FF2B5EF4-FFF2-40B4-BE49-F238E27FC236}">
                <a16:creationId xmlns:a16="http://schemas.microsoft.com/office/drawing/2014/main" id="{6FBD346E-0414-4DBA-90B6-B870B377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2667000" cy="1409700"/>
          </a:xfrm>
          <a:prstGeom xmlns:a="http://schemas.openxmlformats.org/drawingml/2006/main" prst="roundRect">
            <a:avLst>
              <a:gd name="adj" fmla="val 8108"/>
            </a:avLst>
          </a:prstGeom>
          <a:solidFill xmlns:a="http://schemas.openxmlformats.org/drawingml/2006/main">
            <a:srgbClr val="087F73"/>
          </a:solidFill>
          <a:ln xmlns:a="http://schemas.openxmlformats.org/drawingml/2006/main" w="9525">
            <a:solidFill>
              <a:srgbClr val="087F73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9221A30-8F77-44FA-9D67-145C9A89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146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50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350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125" b="1" i="0">
                <a:solidFill>
                  <a:srgbClr val="BFF4DB"/>
                </a:solidFill>
                <a:latin typeface="Aptos"/>
                <a:ea typeface="Aptos"/>
                <a:cs typeface="Aptos"/>
              </a:defRPr>
            </a:pPr>
            <a:r>
              <a:rPr sz="1500" b="1" i="0">
                <a:solidFill>
                  <a:srgbClr val="BFF4DB"/>
                </a:solidFill>
                <a:latin typeface="Aptos"/>
                <a:ea typeface="Aptos"/>
                <a:cs typeface="Aptos"/>
              </a:rPr>
              <a:t>FASTAPI ROUTE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A284FB6-3589-4934-AE00-5AFA9161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52800"/>
            <a:ext cx="2247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defPPr>
            <a:lvl1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1pPr>
            <a:lvl2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2pPr>
            <a:lvl3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3pPr>
            <a:lvl4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4pPr>
            <a:lvl5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5pPr>
            <a:lvl6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6pPr>
            <a:lvl7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7pPr>
            <a:lvl8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8pPr>
            <a:lvl9pPr algn="ctr">
              <a:buNone/>
              <a:def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defRPr>
            </a:pPr>
            <a:r>
              <a:rPr sz="2250" b="1" i="0">
                <a:solidFill>
                  <a:srgbClr val="FFFFFF"/>
                </a:solidFill>
                <a:latin typeface="Cascadia Mono"/>
                <a:ea typeface="Cascadia Mono"/>
                <a:cs typeface="Cascadia Mono"/>
              </a:rPr>
              <a:t>list_tasks()</a:t>
            </a:r>
          </a:p>
        </p:txBody>
      </p:sp>
      <p:sp>
        <p:nvSpPr>
          <p:cNvPr id="14" name="矩形: 圆角 13">
            <a:extLst xmlns:a="http://schemas.openxmlformats.org/drawingml/2006/main">
              <a:ext uri="{FF2B5EF4-FFF2-40B4-BE49-F238E27FC236}">
                <a16:creationId xmlns:a16="http://schemas.microsoft.com/office/drawing/2014/main" id="{B177C63F-B63C-40DE-863C-D459B171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14550"/>
            <a:ext cx="3143250" cy="2895600"/>
          </a:xfrm>
          <a:prstGeom xmlns:a="http://schemas.openxmlformats.org/drawingml/2006/main" prst="roundRect">
            <a:avLst>
              <a:gd name="adj" fmla="val 3947"/>
            </a:avLst>
          </a:prstGeom>
          <a:solidFill xmlns:a="http://schemas.openxmlformats.org/drawingml/2006/main">
            <a:srgbClr val="102A3A"/>
          </a:solidFill>
          <a:ln xmlns:a="http://schemas.openxmlformats.org/drawingml/2006/main" w="9525">
            <a:solidFill>
              <a:srgbClr val="24485A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EB9A297-D099-4BD9-8808-0074E0C1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28600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SHORTENED JSON RESPONSE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3B1E44B-9615-4FD4-9654-50A3DC28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6098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EF5CD6D-568E-439C-8659-056BC01BE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62250"/>
            <a:ext cx="268605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226"/>
          </a:bodyPr>
          <a:lstStyle xmlns:a="http://schemas.openxmlformats.org/drawingml/2006/main">
            <a:defPPr algn="l">
              <a:def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200 OK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[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{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"id": 1,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"title": "Rehearse the demo",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"status": "todo",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"priority": 5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}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]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31B03F0-6A5A-4329-93B8-1C680440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38700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2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serialises the response model as JSON.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client also receives the 200 status code.</a:t>
            </a:r>
          </a:p>
        </p:txBody>
      </p:sp>
    </p:spTree>
    <p:extLst>
      <p:ext uri="{BB962C8B-B14F-4D97-AF65-F5344CB8AC3E}">
        <p14:creationId xmlns:p14="http://schemas.microsoft.com/office/powerpoint/2010/main" val="8223441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91FF6D2-A824-4C36-8C01-7CADBC85A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APPLICATION SCENARIO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438E6EB-3BAD-4126-90AB-2E464297F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 task tracker for presentation work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83E47D5-3140-4151-A2F3-9CB9C3C7C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Small enough for one lab, complete enough to show a REST workflow.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E378FAB-5EE5-4344-A3FB-81AAFB30E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2AD94370-58BD-40C3-9DD4-A59A6B22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AA6F670-DBAF-45B8-899F-3770E4CC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0BBC906-78FD-4F2A-A3BE-3C1B7A67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479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REAL TASK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50EB679-467D-4B81-B04C-35AD9BDE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90800"/>
            <a:ext cx="457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Check references, rehearse the demo and upload slides.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BD36ED3-4E68-4F78-8BFB-81C32B57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572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F0D0BCA-159F-44DA-9C2F-D05A9FB1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81400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FOUR FIELDS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35F6983-AAC9-4C0C-8006-3E34C565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4572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Title, description, status and priority from 1 to 5.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D67006A-37B6-49E3-8212-0F9E2E3A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4572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45A9629-8B6C-40EC-B972-9AA8CE43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0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TEACHING BOUNDARY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8BAC59F-B699-409E-9FE8-568CA584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1970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Tasks stay in memory. Restarting the server clears them, so we can reset the classroom demo quickly.</a:t>
            </a:r>
          </a:p>
        </p:txBody>
      </p:sp>
      <p:sp>
        <p:nvSpPr>
          <p:cNvPr id="15" name="矩形: 圆角 14">
            <a:extLst xmlns:a="http://schemas.openxmlformats.org/drawingml/2006/main">
              <a:ext uri="{FF2B5EF4-FFF2-40B4-BE49-F238E27FC236}">
                <a16:creationId xmlns:a16="http://schemas.microsoft.com/office/drawing/2014/main" id="{75FB0115-ECE8-4D55-AADE-F70C7D2B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52650"/>
            <a:ext cx="4762500" cy="325755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102A3A"/>
          </a:solidFill>
          <a:ln xmlns:a="http://schemas.openxmlformats.org/drawingml/2006/main" w="9525">
            <a:solidFill>
              <a:srgbClr val="24485A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91A4CEE-21D8-42BF-9390-0F34E74F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324100"/>
            <a:ext cx="434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75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A VALID TASK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B2DFF3E-E000-4A8D-B015-7A65B63E8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381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18E6551-F883-4E07-B8C4-15C67E7C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00350"/>
            <a:ext cx="43053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{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"title": "Rehearse the demo",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"description": "Practise demo",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"status": "todo",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"priority": 5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851932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41C0475-900A-4BCC-B105-EC947843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REST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278374-4C26-4175-861D-2B6C04BAC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CRUD operations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4D3657C-A6F6-4036-B997-B207610A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HTTP method describes the action. The path identifies the task resource. Together they form a clear REST interface.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0C39E21B-EB73-4245-927E-6C9EB3B8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3CE2B013-746B-45C8-83C7-DACDE5BF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6FFFFFB5-353E-4628-AB06-D2C6F6BD0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104E01DC-19BA-414D-8499-D02C7382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125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E302BE0-175C-4582-9380-D6F7B74F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38350"/>
            <a:ext cx="3733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ENDPOINT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03B3A73-CAEA-4149-BC2F-4DC744B2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38350"/>
            <a:ext cx="4438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TASK MANAGER ACTION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B90816-CAEA-4A9D-AD76-51198D51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125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GET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19BC378-6441-463D-922B-7C9829C94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40030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852978C-9059-4119-84D5-D0C26E8F2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438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List all tasks.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33647EA-1BB3-4B45-A696-51B67AAC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10325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BC500BF-2438-4892-A37F-45CBA9A84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25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GET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762BC57-07B1-4B3E-90AE-96BAD7F4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/tasks/{task_id}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1FF5A36-1A31-4F6C-A65E-CA56A045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09900"/>
            <a:ext cx="4438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Read one task.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1800925-D4C0-4A47-A2F0-4C7B3AF3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10325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17CECE66-21F1-4E68-8957-2544FFFD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125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POST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889423B-8983-44C8-8A45-7F8CEB588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61950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841F6768-95CA-4D66-BB8F-18EFD654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19500"/>
            <a:ext cx="4438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Create a validated task.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6BCB3A2-BA2B-41C0-BA5B-82F1819A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0325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FBF9ADCB-37A2-4A07-887B-86D2E63D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125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 i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PUT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DF87E177-A783-4D0F-A133-B81FFA2C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22910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/tasks/{task_id}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622EF185-5789-4487-8BF9-E56D0012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4438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Replace the editable fields.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C7E9966-C77A-402A-8E92-F24EB8AA5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10325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56EBF443-F8C1-4082-B66F-DCC37B3B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1257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1" i="0">
                <a:solidFill>
                  <a:srgbClr val="C94B4B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C94B4B"/>
                </a:solidFill>
                <a:latin typeface="Aptos"/>
                <a:ea typeface="Aptos"/>
                <a:cs typeface="Aptos"/>
              </a:rPr>
              <a:t>DELETE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88E9A99B-DB6D-4519-BD3D-AAE10814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83870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4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/tasks/{task_id}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64B06D12-7AF0-42F9-BA96-34CC2B260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38700"/>
            <a:ext cx="4438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Remove one task.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85B1B03E-07FA-49B5-99C1-5CB19DC7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34000"/>
            <a:ext cx="10325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fixed-crud-footer-label">
            <a:extLst xmlns:a="http://schemas.openxmlformats.org/drawingml/2006/main">
              <a:ext uri="{FF2B5EF4-FFF2-40B4-BE49-F238E27FC236}">
                <a16:creationId xmlns:a16="http://schemas.microsoft.com/office/drawing/2014/main" id="{66891735-0FAF-4179-BFF9-3E5A9EC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566C78"/>
                </a:solidFill>
              </a:defRPr>
            </a:defPPr>
            <a:lvl1pPr algn="l">
              <a:buNone/>
              <a:defRPr sz="975" b="1">
                <a:solidFill>
                  <a:srgbClr val="566C78"/>
                </a:solidFill>
              </a:defRPr>
            </a:lvl1pPr>
            <a:lvl2pPr algn="l">
              <a:buNone/>
              <a:defRPr sz="975" b="1">
                <a:solidFill>
                  <a:srgbClr val="566C78"/>
                </a:solidFill>
              </a:defRPr>
            </a:lvl2pPr>
            <a:lvl3pPr algn="l">
              <a:buNone/>
              <a:defRPr sz="975" b="1">
                <a:solidFill>
                  <a:srgbClr val="566C78"/>
                </a:solidFill>
              </a:defRPr>
            </a:lvl3pPr>
            <a:lvl4pPr algn="l">
              <a:buNone/>
              <a:defRPr sz="975" b="1">
                <a:solidFill>
                  <a:srgbClr val="566C78"/>
                </a:solidFill>
              </a:defRPr>
            </a:lvl4pPr>
            <a:lvl5pPr algn="l">
              <a:buNone/>
              <a:defRPr sz="975" b="1">
                <a:solidFill>
                  <a:srgbClr val="566C78"/>
                </a:solidFill>
              </a:defRPr>
            </a:lvl5pPr>
            <a:lvl6pPr algn="l">
              <a:buNone/>
              <a:defRPr sz="975" b="1">
                <a:solidFill>
                  <a:srgbClr val="566C78"/>
                </a:solidFill>
              </a:defRPr>
            </a:lvl6pPr>
            <a:lvl7pPr algn="l">
              <a:buNone/>
              <a:defRPr sz="975" b="1">
                <a:solidFill>
                  <a:srgbClr val="566C78"/>
                </a:solidFill>
              </a:defRPr>
            </a:lvl7pPr>
            <a:lvl8pPr algn="l">
              <a:buNone/>
              <a:defRPr sz="975" b="1">
                <a:solidFill>
                  <a:srgbClr val="566C78"/>
                </a:solidFill>
              </a:defRPr>
            </a:lvl8pPr>
            <a:lvl9pPr algn="l">
              <a:buNone/>
              <a:defRPr sz="975" b="1">
                <a:solidFill>
                  <a:srgbClr val="566C78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566C78"/>
                </a:solidFill>
              </a:defRPr>
            </a:pPr>
            <a:r>
              <a:rPr sz="975" b="1">
                <a:solidFill>
                  <a:srgbClr val="566C78"/>
                </a:solidFill>
              </a:rPr>
              <a:t>COMP10020 · FASTAPI</a:t>
            </a:r>
          </a:p>
        </p:txBody>
      </p:sp>
    </p:spTree>
    <p:extLst>
      <p:ext uri="{BB962C8B-B14F-4D97-AF65-F5344CB8AC3E}">
        <p14:creationId xmlns:p14="http://schemas.microsoft.com/office/powerpoint/2010/main" val="1040567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269CC0D-7D71-4FC6-95E9-BEC7F8FF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REST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460170-B84C-4720-8A93-1F9F78B7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HTTP status codes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3F5A361-0ED5-4A2C-BBBA-CDDEA8240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Each response code gives the client a short, standard result. This makes success and errors easy to understand.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3F07A87-185B-44D2-9CE3-AD9B6107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9DB95596-8834-46CA-939E-3E7132C8E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674EBE1-6B12-49A4-99AA-BCB046C0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6ECFE67-2DC0-4045-A2AE-F43179F6F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0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SUCCESS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78981FD-1595-424C-AF85-FC53CE41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955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200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8E79F49-6184-4B84-B5BE-CCEC329E3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146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7D3B853-0E0F-438D-A80A-164CAC5EA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838450"/>
            <a:ext cx="3733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request succeeded and returns data.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58B6B24-E522-408F-8948-D1E5BE0D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861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201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B4BD219-8969-49E9-96F5-4B4FAC291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505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Created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6FEBBFD-D3C3-4C52-934B-A54966E4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829050"/>
            <a:ext cx="3733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POST /tasks created a new task.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BE59CD3-FC02-4A41-863D-93E01F82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204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FE2A0D2A-2188-4511-AC83-F1AE18C90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No Content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48912F5-B8FC-4FAA-A8B0-FAC8FA0E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819650"/>
            <a:ext cx="3733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DELETE succeeded. No response body is needed.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A505016-F396-4CE6-9D64-BE2149CA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52650"/>
            <a:ext cx="14288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08B06E-2B7B-4D4B-AB01-4CB80FB1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764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0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3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CLIENT ERRORS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89FCE3D-ACA0-4BE6-9E47-4C86AADD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404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42B5E0B-C861-4F41-8334-7B116585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7813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Not Found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0D4C2F2-C0E4-4041-9F2D-B1C07830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05150"/>
            <a:ext cx="3733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requested task ID does not exist.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59F7E18-DF79-4E7B-931D-486F4BB7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95750"/>
            <a:ext cx="990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422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62B2E719-6C92-42EB-88FB-B57A58F6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148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Validation Error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B80E4332-A5C7-49B2-975B-09F8B31B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438650"/>
            <a:ext cx="3733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request breaks a Pydantic validation rule.</a:t>
            </a:r>
          </a:p>
        </p:txBody>
      </p:sp>
    </p:spTree>
    <p:extLst>
      <p:ext uri="{BB962C8B-B14F-4D97-AF65-F5344CB8AC3E}">
        <p14:creationId xmlns:p14="http://schemas.microsoft.com/office/powerpoint/2010/main" val="10405670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EB410F0-882E-41C5-84B7-D74A57A3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CODE EXAMPLES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63ABFE5-0711-44E2-BCCD-E2B122880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Routes connect HTTP requests to Python functions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DC04CC1-5E39-41C0-8FB3-A654EAB8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00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FastAPI keeps the route declaration close to the Python function. The decorator links each HTTP request to the correct code.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1989758-0607-481C-A906-AB4A17C2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3B8E2AE9-BD0D-4CF2-A2CE-31786D7C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06A6753-17D8-4806-9CEF-12A3E86A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2192A11C-6527-4BFA-934A-A7ADC489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7625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0E1C27"/>
          </a:solidFill>
          <a:ln xmlns:a="http://schemas.openxmlformats.org/drawingml/2006/main" w="9525">
            <a:solidFill>
              <a:srgbClr val="263B4B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D9C20E0-0A81-44CE-99D6-4648D97C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4AC8CF1-D42C-4AEB-80F9-B5B77CB7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90775"/>
            <a:ext cx="4419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>
            <a:defPPr algn="l">
              <a:def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rPr>
              <a:t>Step 1 · list tasks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7E1E178-B599-420F-8ECE-6913A7B29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43434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6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@app.get("/tasks")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def list_tasks():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return repository.list_all()</a:t>
            </a:r>
          </a:p>
        </p:txBody>
      </p:sp>
      <p:sp>
        <p:nvSpPr>
          <p:cNvPr id="11" name="矩形: 圆角 10">
            <a:extLst xmlns:a="http://schemas.openxmlformats.org/drawingml/2006/main">
              <a:ext uri="{FF2B5EF4-FFF2-40B4-BE49-F238E27FC236}">
                <a16:creationId xmlns:a16="http://schemas.microsoft.com/office/drawing/2014/main" id="{64CA49C1-6886-450B-BE04-CF4B0695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47625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0E1C27"/>
          </a:solidFill>
          <a:ln xmlns:a="http://schemas.openxmlformats.org/drawingml/2006/main" w="9525">
            <a:solidFill>
              <a:srgbClr val="263B4B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F8E519F-A3D4-46DF-B01A-53472A90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BEA8747-08B5-4B8D-AE41-1E3D3E346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90775"/>
            <a:ext cx="4419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235"/>
          </a:bodyPr>
          <a:lstStyle xmlns:a="http://schemas.openxmlformats.org/drawingml/2006/main">
            <a:defPPr algn="l">
              <a:def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 i="0">
                <a:solidFill>
                  <a:srgbClr val="A8BAC6"/>
                </a:solidFill>
                <a:latin typeface="Cascadia Mono"/>
                <a:ea typeface="Cascadia Mono"/>
                <a:cs typeface="Cascadia Mono"/>
              </a:rPr>
              <a:t>Step 2 · create a task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73D29FE-27DE-4080-A6B4-6387FC90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19400"/>
            <a:ext cx="43434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50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@app.post(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"/tasks",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response_model=TaskRead,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status_code=201,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)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def create_task(data: TaskCreate):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350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0" i="0">
                <a:solidFill>
                  <a:srgbClr val="D6E6EF"/>
                </a:solidFill>
                <a:latin typeface="Cascadia Mono"/>
                <a:ea typeface="Cascadia Mono"/>
                <a:cs typeface="Cascadia Mono"/>
              </a:rPr>
              <a:t>    return repository.create(data)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D66E3E3-BE26-4070-9AD0-66210B36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43250"/>
            <a:ext cx="95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37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34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37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矩形: 圆角 15">
            <a:extLst xmlns:a="http://schemas.openxmlformats.org/drawingml/2006/main">
              <a:ext uri="{FF2B5EF4-FFF2-40B4-BE49-F238E27FC236}">
                <a16:creationId xmlns:a16="http://schemas.microsoft.com/office/drawing/2014/main" id="{AA86C05A-0055-4767-95AE-9D2B88AC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38750"/>
            <a:ext cx="16192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055A5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PATH + METHOD</a:t>
            </a:r>
          </a:p>
        </p:txBody>
      </p:sp>
      <p:sp>
        <p:nvSpPr>
          <p:cNvPr id="17" name="矩形: 圆角 16">
            <a:extLst xmlns:a="http://schemas.openxmlformats.org/drawingml/2006/main">
              <a:ext uri="{FF2B5EF4-FFF2-40B4-BE49-F238E27FC236}">
                <a16:creationId xmlns:a16="http://schemas.microsoft.com/office/drawing/2014/main" id="{69CDAC28-451C-46AF-A1D5-BACC3DE36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38750"/>
            <a:ext cx="16954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F765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/>
          </a:bodyPr>
          <a:lstStyle xmlns:a="http://schemas.openxmlformats.org/drawingml/2006/main">
            <a:def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+ STATUS</a:t>
            </a:r>
          </a:p>
        </p:txBody>
      </p:sp>
    </p:spTree>
    <p:extLst>
      <p:ext uri="{BB962C8B-B14F-4D97-AF65-F5344CB8AC3E}">
        <p14:creationId xmlns:p14="http://schemas.microsoft.com/office/powerpoint/2010/main" val="9809765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7EFBCAF9-FB72-4D21-9A0B-55B61255F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PYDANTIC VALIDATION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DAB9CE-155E-4DEA-AB43-0CFCBEC8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Pydantic data model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DFB6D35-A7AF-4FF6-B30D-C282B4F35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model describes the fields that a task request may contain. Type hints and Field rules define valid input.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4DBDBEE-DCF7-4BD3-9078-DD800984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6DDD0BC0-74D3-4C0C-8151-359A5478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F59AECD-45EF-43FA-9CAF-3D64140B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15D79E10-901E-4E65-9B8D-C4EE19CA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56959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02A3A"/>
          </a:solidFill>
          <a:ln xmlns:a="http://schemas.openxmlformats.org/drawingml/2006/main" w="9525">
            <a:solidFill>
              <a:srgbClr val="24485A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A01634B-3B29-49E6-A48D-2DC28171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86000"/>
            <a:ext cx="5276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9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 i="0">
                <a:solidFill>
                  <a:srgbClr val="AFC3CC"/>
                </a:solidFill>
                <a:latin typeface="Cascadia Mono"/>
                <a:ea typeface="Cascadia Mono"/>
                <a:cs typeface="Cascadia Mono"/>
              </a:rPr>
              <a:t>app/models.py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F9676E4-41D0-416B-A926-2FC3B589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5314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2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D26D456-B186-47C9-9273-5294CBC1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24150"/>
            <a:ext cx="5238750" cy="297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class TaskData(BaseModel):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title: str = Field(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    min_length=1, max_length=120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)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description: str | None = None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status: TaskStatus = TaskStatus.TODO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priority: int = Field(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    default=3, ge=1, le=5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 i="0">
                <a:solidFill>
                  <a:srgbClr val="D9E8EE"/>
                </a:solidFill>
                <a:latin typeface="Cascadia Mono"/>
                <a:ea typeface="Cascadia Mono"/>
                <a:cs typeface="Cascadia Mono"/>
              </a:rPr>
              <a:t>    )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72E7B91-65B3-4959-93E3-2118F52B6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050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6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rPr>
              <a:t>title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716F700-C653-49DD-B892-95718E31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2860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Required text from 1 to 120 characters.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B428204C-8D49-42BF-B264-CA1FBED6D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57500"/>
            <a:ext cx="4419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D03E971-9FA0-41F4-8B7B-A43CE8B4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861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50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rPr>
              <a:t>description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8872921-91F0-4209-B752-33A882FA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6705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Optional text. It may be left empty.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7DD4185-5909-4BF5-A8B5-DA7949B9C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638550"/>
            <a:ext cx="4419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6F2D333-232B-4700-8960-F26A6944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6715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650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087F73"/>
                </a:solidFill>
                <a:latin typeface="Cascadia Mono"/>
                <a:ea typeface="Cascadia Mono"/>
                <a:cs typeface="Cascadia Mono"/>
              </a:rPr>
              <a:t>status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6DC3213-8C59-4662-843F-BAEDD316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481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One value: todo, in_progress or done.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F3D102E-0414-4D5D-B357-EE6F47BE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419600"/>
            <a:ext cx="44196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75582D9-B9B4-4843-940E-D1632647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48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9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1650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defRPr>
            </a:pPr>
            <a:r>
              <a:rPr sz="1725" b="1" i="0">
                <a:solidFill>
                  <a:srgbClr val="E76F51"/>
                </a:solidFill>
                <a:latin typeface="Cascadia Mono"/>
                <a:ea typeface="Cascadia Mono"/>
                <a:cs typeface="Cascadia Mono"/>
              </a:rPr>
              <a:t>priority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047DEC9-C4D9-4790-8181-3D2C38CC0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7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 whole number from 1 to 5. Default is 3.</a:t>
            </a:r>
          </a:p>
        </p:txBody>
      </p:sp>
    </p:spTree>
    <p:extLst>
      <p:ext uri="{BB962C8B-B14F-4D97-AF65-F5344CB8AC3E}">
        <p14:creationId xmlns:p14="http://schemas.microsoft.com/office/powerpoint/2010/main" val="142397563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C6C1584-ACE8-4BB6-B3C6-0BD57713F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6E483D7-8513-4BCE-8227-269D0B0E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Validation example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9CBE376-6B01-4B32-A5E5-17C5AD924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checks the request against the Pydantic model automatically. Valid data continues; invalid data stops early.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9C0AD823-9C1F-4BF9-B1B2-D8ECE8BC5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DFF6BF13-F3E7-4162-A2E1-F83FF6CC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D9AE186-87DC-4AB7-BD1A-4B444AA4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7" name="矩形: 圆角 6">
            <a:extLst xmlns:a="http://schemas.openxmlformats.org/drawingml/2006/main">
              <a:ext uri="{FF2B5EF4-FFF2-40B4-BE49-F238E27FC236}">
                <a16:creationId xmlns:a16="http://schemas.microsoft.com/office/drawing/2014/main" id="{64158B15-0ACF-44D4-9F2A-5F15B410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323" y="2266950"/>
            <a:ext cx="2348054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EFF8F3"/>
          </a:solidFill>
          <a:ln xmlns:a="http://schemas.openxmlformats.org/drawingml/2006/main" w="9525">
            <a:solidFill>
              <a:srgbClr val="A8D7C7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CD486301-F843-4EDD-811C-2B8BD9DE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431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VALID REQUEST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0CBDBC2-1200-4DE1-B0C9-7479CBA0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861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210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priority = 5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FB411E7-B428-4936-B13D-579E95FF1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19525"/>
            <a:ext cx="2095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201 Created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23C25FE7-BAC8-445B-BC70-BAE3ED46B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81500"/>
            <a:ext cx="2038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task passes every field rule.</a:t>
            </a:r>
          </a:p>
        </p:txBody>
      </p:sp>
      <p:sp>
        <p:nvSpPr>
          <p:cNvPr id="12" name="矩形: 圆角 11">
            <a:extLst xmlns:a="http://schemas.openxmlformats.org/drawingml/2006/main">
              <a:ext uri="{FF2B5EF4-FFF2-40B4-BE49-F238E27FC236}">
                <a16:creationId xmlns:a16="http://schemas.microsoft.com/office/drawing/2014/main" id="{A5FAFC74-1F2E-49C5-8F24-4A803878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611" y="2338747"/>
            <a:ext cx="2492187" cy="2552701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CECE7"/>
          </a:solidFill>
          <a:ln xmlns:a="http://schemas.openxmlformats.org/drawingml/2006/main" w="9525">
            <a:solidFill>
              <a:srgbClr val="F0B8A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104A359-0E78-4127-933F-4FB791CA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57475"/>
            <a:ext cx="2047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1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INVALID REQUEST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7063CBCC-02E4-41B9-8E6A-BC3C9E13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861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23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buNone/>
              <a:defRPr sz="2100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defRPr>
            </a:pPr>
            <a:r>
              <a:rPr sz="2025" b="1" i="0">
                <a:solidFill>
                  <a:srgbClr val="153247"/>
                </a:solidFill>
                <a:latin typeface="Cascadia Mono"/>
                <a:ea typeface="Cascadia Mono"/>
                <a:cs typeface="Cascadia Mono"/>
              </a:rPr>
              <a:t>priority = 9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BE4E7A5-1CB1-49DD-B5C3-86C5BB28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3855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02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422 Validation Error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9DB61560-9193-4B86-8EFE-4BEB4352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0530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4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2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4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Rejected before repository logic.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629BBA0-84AF-48A7-AA7B-071560582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34050"/>
            <a:ext cx="847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725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Invalid data stops before repository code runs. The client receives a clear 422 response.</a:t>
            </a:r>
          </a:p>
        </p:txBody>
      </p:sp>
      <p:pic>
        <p:nvPicPr>
          <p:cNvPr id="26" name="图片 25">
            <a:extLst xmlns:a="http://schemas.openxmlformats.org/drawingml/2006/main">
              <a:ext uri="{FF2B5EF4-FFF2-40B4-BE49-F238E27FC236}">
                <a16:creationId xmlns:a16="http://schemas.microsoft.com/office/drawing/2014/main" id="{9EF7E4AC-FC9F-4102-8B41-DDCCC959AF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47a34b262e4f3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918915" y="2526086"/>
            <a:ext cx="3005475" cy="2243977"/>
          </a:xfrm>
          <a:prstGeom xmlns:a="http://schemas.openxmlformats.org/drawingml/2006/main" prst="rect">
            <a:avLst/>
          </a:prstGeom>
        </p:spPr>
      </p:pic>
      <p:pic>
        <p:nvPicPr>
          <p:cNvPr id="28" name="图片 27">
            <a:extLst xmlns:a="http://schemas.openxmlformats.org/drawingml/2006/main">
              <a:ext uri="{FF2B5EF4-FFF2-40B4-BE49-F238E27FC236}">
                <a16:creationId xmlns:a16="http://schemas.microsoft.com/office/drawing/2014/main" id="{08483DD6-53D3-4BB7-A425-D1228AF65C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3da1eed4941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2793" y="2495491"/>
            <a:ext cx="3141876" cy="2248016"/>
          </a:xfrm>
          <a:prstGeom xmlns:a="http://schemas.openxmlformats.org/drawingml/2006/main" prst="rect">
            <a:avLst/>
          </a:prstGeom>
        </p:spPr>
      </p:pic>
      <p:sp>
        <p:nvSpPr>
          <p:cNvPr id="29" name="fixed-validation-section-label">
            <a:extLst xmlns:a="http://schemas.openxmlformats.org/drawingml/2006/main">
              <a:ext uri="{FF2B5EF4-FFF2-40B4-BE49-F238E27FC236}">
                <a16:creationId xmlns:a16="http://schemas.microsoft.com/office/drawing/2014/main" id="{BCC5F51C-2476-4B3C-BE47-95C8A866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087F73"/>
                </a:solidFill>
              </a:defRPr>
            </a:defPPr>
            <a:lvl1pPr algn="l">
              <a:buNone/>
              <a:defRPr sz="1275" b="1">
                <a:solidFill>
                  <a:srgbClr val="087F73"/>
                </a:solidFill>
              </a:defRPr>
            </a:lvl1pPr>
            <a:lvl2pPr algn="l">
              <a:buNone/>
              <a:defRPr sz="1275" b="1">
                <a:solidFill>
                  <a:srgbClr val="087F73"/>
                </a:solidFill>
              </a:defRPr>
            </a:lvl2pPr>
            <a:lvl3pPr algn="l">
              <a:buNone/>
              <a:defRPr sz="1275" b="1">
                <a:solidFill>
                  <a:srgbClr val="087F73"/>
                </a:solidFill>
              </a:defRPr>
            </a:lvl3pPr>
            <a:lvl4pPr algn="l">
              <a:buNone/>
              <a:defRPr sz="1275" b="1">
                <a:solidFill>
                  <a:srgbClr val="087F73"/>
                </a:solidFill>
              </a:defRPr>
            </a:lvl4pPr>
            <a:lvl5pPr algn="l">
              <a:buNone/>
              <a:defRPr sz="1275" b="1">
                <a:solidFill>
                  <a:srgbClr val="087F73"/>
                </a:solidFill>
              </a:defRPr>
            </a:lvl5pPr>
            <a:lvl6pPr algn="l">
              <a:buNone/>
              <a:defRPr sz="1275" b="1">
                <a:solidFill>
                  <a:srgbClr val="087F73"/>
                </a:solidFill>
              </a:defRPr>
            </a:lvl6pPr>
            <a:lvl7pPr algn="l">
              <a:buNone/>
              <a:defRPr sz="1275" b="1">
                <a:solidFill>
                  <a:srgbClr val="087F73"/>
                </a:solidFill>
              </a:defRPr>
            </a:lvl7pPr>
            <a:lvl8pPr algn="l">
              <a:buNone/>
              <a:defRPr sz="1275" b="1">
                <a:solidFill>
                  <a:srgbClr val="087F73"/>
                </a:solidFill>
              </a:defRPr>
            </a:lvl8pPr>
            <a:lvl9pPr algn="l">
              <a:buNone/>
              <a:defRPr sz="1275" b="1">
                <a:solidFill>
                  <a:srgbClr val="087F73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087F73"/>
                </a:solidFill>
              </a:defRPr>
            </a:pPr>
            <a:r>
              <a:rPr sz="1275" b="1">
                <a:solidFill>
                  <a:srgbClr val="087F73"/>
                </a:solidFill>
              </a:rPr>
              <a:t>PYDANTIC VALIDATION</a:t>
            </a:r>
          </a:p>
        </p:txBody>
      </p:sp>
      <p:sp>
        <p:nvSpPr>
          <p:cNvPr id="30" name="fixed-validation-footer-label">
            <a:extLst xmlns:a="http://schemas.openxmlformats.org/drawingml/2006/main">
              <a:ext uri="{FF2B5EF4-FFF2-40B4-BE49-F238E27FC236}">
                <a16:creationId xmlns:a16="http://schemas.microsoft.com/office/drawing/2014/main" id="{2200BE27-A33C-4536-B896-4441AB50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566C78"/>
                </a:solidFill>
              </a:defRPr>
            </a:defPPr>
            <a:lvl1pPr algn="l">
              <a:buNone/>
              <a:defRPr sz="975" b="1">
                <a:solidFill>
                  <a:srgbClr val="566C78"/>
                </a:solidFill>
              </a:defRPr>
            </a:lvl1pPr>
            <a:lvl2pPr algn="l">
              <a:buNone/>
              <a:defRPr sz="975" b="1">
                <a:solidFill>
                  <a:srgbClr val="566C78"/>
                </a:solidFill>
              </a:defRPr>
            </a:lvl2pPr>
            <a:lvl3pPr algn="l">
              <a:buNone/>
              <a:defRPr sz="975" b="1">
                <a:solidFill>
                  <a:srgbClr val="566C78"/>
                </a:solidFill>
              </a:defRPr>
            </a:lvl3pPr>
            <a:lvl4pPr algn="l">
              <a:buNone/>
              <a:defRPr sz="975" b="1">
                <a:solidFill>
                  <a:srgbClr val="566C78"/>
                </a:solidFill>
              </a:defRPr>
            </a:lvl4pPr>
            <a:lvl5pPr algn="l">
              <a:buNone/>
              <a:defRPr sz="975" b="1">
                <a:solidFill>
                  <a:srgbClr val="566C78"/>
                </a:solidFill>
              </a:defRPr>
            </a:lvl5pPr>
            <a:lvl6pPr algn="l">
              <a:buNone/>
              <a:defRPr sz="975" b="1">
                <a:solidFill>
                  <a:srgbClr val="566C78"/>
                </a:solidFill>
              </a:defRPr>
            </a:lvl6pPr>
            <a:lvl7pPr algn="l">
              <a:buNone/>
              <a:defRPr sz="975" b="1">
                <a:solidFill>
                  <a:srgbClr val="566C78"/>
                </a:solidFill>
              </a:defRPr>
            </a:lvl7pPr>
            <a:lvl8pPr algn="l">
              <a:buNone/>
              <a:defRPr sz="975" b="1">
                <a:solidFill>
                  <a:srgbClr val="566C78"/>
                </a:solidFill>
              </a:defRPr>
            </a:lvl8pPr>
            <a:lvl9pPr algn="l">
              <a:buNone/>
              <a:defRPr sz="975" b="1">
                <a:solidFill>
                  <a:srgbClr val="566C78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566C78"/>
                </a:solidFill>
              </a:defRPr>
            </a:pPr>
            <a:r>
              <a:rPr sz="975" b="1">
                <a:solidFill>
                  <a:srgbClr val="566C78"/>
                </a:solidFill>
              </a:rPr>
              <a:t>COMP10020 · FASTAPI</a:t>
            </a:r>
          </a:p>
        </p:txBody>
      </p:sp>
    </p:spTree>
    <p:extLst>
      <p:ext uri="{BB962C8B-B14F-4D97-AF65-F5344CB8AC3E}">
        <p14:creationId xmlns:p14="http://schemas.microsoft.com/office/powerpoint/2010/main" val="142397563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3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5B41387-4AAE-46C7-BE1C-0780B105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LIVE DEMONSTRATION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22696913-537E-4246-BFAE-1412B99F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Three requests in Swagger UI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E91B9F3-2DAC-400F-9B1E-658C5E48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The server starts before class. We send only three requests, so the live demo stays under three minutes.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D4D6817-CE90-4DF4-9A1C-97D1ED397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6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38DB181-B915-4C17-9F6F-D67BC2B2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862A157-FE8F-45CD-9F47-B7B21094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7" name="椭圆 6">
            <a:extLst xmlns:a="http://schemas.openxmlformats.org/drawingml/2006/main">
              <a:ext uri="{FF2B5EF4-FFF2-40B4-BE49-F238E27FC236}">
                <a16:creationId xmlns:a16="http://schemas.microsoft.com/office/drawing/2014/main" id="{AA8D67AF-9B30-4368-84B2-6D81903A2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242C75E-0A81-4E94-A9EC-9E4334AB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24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FD73003B-07C2-4678-8B6A-C360D17D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907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GET /tasks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B57D380-E89B-47F4-8EAF-89458953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5270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Open GET /tasks, choose Try it out, then Execute. Confirm 200 and view the list.</a:t>
            </a:r>
          </a:p>
        </p:txBody>
      </p:sp>
      <p:sp>
        <p:nvSpPr>
          <p:cNvPr id="11" name="椭圆 10">
            <a:extLst xmlns:a="http://schemas.openxmlformats.org/drawingml/2006/main">
              <a:ext uri="{FF2B5EF4-FFF2-40B4-BE49-F238E27FC236}">
                <a16:creationId xmlns:a16="http://schemas.microsoft.com/office/drawing/2014/main" id="{E6ED63EC-7479-4067-BA86-C5431103C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7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23265F2-00C6-41F4-BC30-9FF1351BC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86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6172659-F4A0-46F0-ACD1-31D7BB64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528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/tasks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D947232-9B35-4547-81DC-00E50763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71475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Open POST /tasks, paste the valid JSON, then Execute. Confirm 201 Created.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F3D658B8-0CF2-4084-BBB7-86D77A65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33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76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38627CCC-897A-4061-B5F2-4034E725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21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9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E368996-EED1-4D2C-B5C3-006E27ED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5148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POST invalid data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0247C82-4450-47BE-95F7-171BF48F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876800"/>
            <a:ext cx="5334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0000"/>
              </a:lnSpc>
              <a:buNone/>
              <a:defRPr sz="12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Change only priority to 9, Execute again and point out the 422 message.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DAFAA05C-1BB7-45B8-9BCE-48ABAE69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390900" cy="3429000"/>
          </a:xfrm>
          <a:prstGeom xmlns:a="http://schemas.openxmlformats.org/drawingml/2006/main" prst="roundRect">
            <a:avLst>
              <a:gd name="adj" fmla="val 3371"/>
            </a:avLst>
          </a:prstGeom>
          <a:solidFill xmlns:a="http://schemas.openxmlformats.org/drawingml/2006/main">
            <a:srgbClr val="15394A"/>
          </a:solidFill>
          <a:ln xmlns:a="http://schemas.openxmlformats.org/drawingml/2006/main" w="9525">
            <a:solidFill>
              <a:srgbClr val="365367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A7592BD-CFD0-4812-94FE-652C91FD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57450"/>
            <a:ext cx="2819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DEMO CHECKLIST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A30ABEF-0803-44F6-B77E-4FD7BBFF6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90850"/>
            <a:ext cx="2667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Uvicorn already running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Browser open at /docs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Valid JSON copied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 Backup slide ready</a:t>
            </a:r>
          </a:p>
        </p:txBody>
      </p:sp>
      <p:sp>
        <p:nvSpPr>
          <p:cNvPr id="22" name="矩形: 圆角 21">
            <a:extLst xmlns:a="http://schemas.openxmlformats.org/drawingml/2006/main">
              <a:ext uri="{FF2B5EF4-FFF2-40B4-BE49-F238E27FC236}">
                <a16:creationId xmlns:a16="http://schemas.microsoft.com/office/drawing/2014/main" id="{36F33C47-FC4C-48CF-BCD5-A6382D6E0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33950"/>
            <a:ext cx="2000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F765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/>
          </a:bodyPr>
          <a:lstStyle xmlns:a="http://schemas.openxmlformats.org/drawingml/2006/main">
            <a:def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STOP AFTER 422</a:t>
            </a:r>
          </a:p>
        </p:txBody>
      </p:sp>
    </p:spTree>
    <p:extLst>
      <p:ext uri="{BB962C8B-B14F-4D97-AF65-F5344CB8AC3E}">
        <p14:creationId xmlns:p14="http://schemas.microsoft.com/office/powerpoint/2010/main" val="12323195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5F71C611-C593-4FF3-BF7E-49CAB470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AUTOMATED VERIFICATION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4290E27-AE92-4547-AFCD-6E084DA7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31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3150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Eight tests verify the main API behaviour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EE06F50-742F-4793-8C66-3689C837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Each test uses a fresh in-memory repository.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Eight passing tests check the main routes and error responses.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857CE31-B440-43C6-87CA-D3749BFF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FA466A00-EA8B-406A-8C5A-49346F07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13CF1EE-7863-4F08-B3B8-FE73DDCBB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808DE34-A57A-41B5-80F7-D2328C249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286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1" i="0">
                <a:solidFill>
                  <a:srgbClr val="102333"/>
                </a:solidFill>
                <a:latin typeface="Cascadia Mono"/>
                <a:ea typeface="Cascadia Mono"/>
                <a:cs typeface="Cascadia Mono"/>
              </a:defRPr>
            </a:defPPr>
            <a:lvl1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1pPr>
            <a:lvl2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2pPr>
            <a:lvl3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3pPr>
            <a:lvl4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4pPr>
            <a:lvl5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5pPr>
            <a:lvl6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6pPr>
            <a:lvl7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7pPr>
            <a:lvl8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8pPr>
            <a:lvl9pPr algn="l">
              <a:buNone/>
              <a:defRPr sz="1725" b="0" i="0">
                <a:solidFill>
                  <a:srgbClr val="8DE2BD"/>
                </a:solidFill>
                <a:latin typeface="Cascadia Mono"/>
                <a:ea typeface="Cascadia Mono"/>
                <a:cs typeface="Cascadia Mono"/>
              </a:defRPr>
            </a:lvl9pPr>
          </a:lstStyle>
          <a:p xmlns:a="http://schemas.openxmlformats.org/drawingml/2006/main">
            <a:pPr algn="l">
              <a:lnSpc>
                <a:spcPct val="130000"/>
              </a:lnSpc>
              <a:buNone/>
              <a:defRPr sz="2100" b="1" i="0">
                <a:solidFill>
                  <a:srgbClr val="102333"/>
                </a:solidFill>
                <a:latin typeface="Cascadia Mono"/>
                <a:ea typeface="Cascadia Mono"/>
                <a:cs typeface="Cascadia Mono"/>
              </a:defRPr>
            </a:pPr>
            <a:r>
              <a:rPr sz="2100" b="1">
                <a:solidFill>
                  <a:srgbClr val="102333"/>
                </a:solidFill>
              </a:rPr>
              <a:t>..\.venv\Scripts\python.exe -m pytest -q</a:t>
            </a:r>
            <a:endParaRPr sz="1725" b="0" i="0">
              <a:solidFill>
                <a:srgbClr val="8DE2BD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612616A-4BFC-4FF2-BAD3-2D99AB12A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C624A89-ACF5-49C6-9C9B-FCE0E6BC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DOCS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2EEF0D88-82C3-4EB3-9E77-AA852FC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483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/docs and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OpenAPI schema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349E6A3-EAFD-4C65-93CF-7D14E5A4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95850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F6B2A5E-D769-427C-932A-7EA5BEA8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0673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CRUD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4EEF8EC-C7B6-4EE7-9377-905D2F75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54483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Create, read,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replace, delete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90F4B7A-4026-4357-B484-2A4E9E7E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95850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BF96C28-705D-47B5-9F17-EB793717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0673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ERRORS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59EDF870-0EFE-463C-8AD3-758836111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4483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404 and 422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responses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7AE9853-3689-412D-9C36-EC0B8640D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95850"/>
            <a:ext cx="25717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178B6A97-5365-47DE-A9BB-EF0E91F4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673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FILTERS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B7A3118-434B-4356-96F0-37C1DB5C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4830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>
            <a:defPPr algn="l"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Status and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75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875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priority queries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F397B6D0-C4B6-41CC-A41F-12BFA321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pytest runs the tests. TestClient sends HTTP-style requests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2100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without starting Uvicorn.</a:t>
            </a:r>
          </a:p>
        </p:txBody>
      </p:sp>
      <p:sp>
        <p:nvSpPr>
          <p:cNvPr id="25" name="Test command location">
            <a:extLst xmlns:a="http://schemas.openxmlformats.org/drawingml/2006/main">
              <a:ext uri="{FF2B5EF4-FFF2-40B4-BE49-F238E27FC236}">
                <a16:creationId xmlns:a16="http://schemas.microsoft.com/office/drawing/2014/main" id="{F4D16E3A-DEC5-4358-B137-1CF367A8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809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725" b="1">
                <a:solidFill>
                  <a:srgbClr val="055A52"/>
                </a:solidFill>
              </a:defRPr>
            </a:defPPr>
            <a:lvl1pPr>
              <a:buNone/>
              <a:defRPr sz="1725" b="1">
                <a:solidFill>
                  <a:srgbClr val="055A52"/>
                </a:solidFill>
              </a:defRPr>
            </a:lvl1pPr>
            <a:lvl2pPr>
              <a:buNone/>
              <a:defRPr sz="1725" b="1">
                <a:solidFill>
                  <a:srgbClr val="055A52"/>
                </a:solidFill>
              </a:defRPr>
            </a:lvl2pPr>
            <a:lvl3pPr>
              <a:buNone/>
              <a:defRPr sz="1725" b="1">
                <a:solidFill>
                  <a:srgbClr val="055A52"/>
                </a:solidFill>
              </a:defRPr>
            </a:lvl3pPr>
            <a:lvl4pPr>
              <a:buNone/>
              <a:defRPr sz="1725" b="1">
                <a:solidFill>
                  <a:srgbClr val="055A52"/>
                </a:solidFill>
              </a:defRPr>
            </a:lvl4pPr>
            <a:lvl5pPr>
              <a:buNone/>
              <a:defRPr sz="1725" b="1">
                <a:solidFill>
                  <a:srgbClr val="055A52"/>
                </a:solidFill>
              </a:defRPr>
            </a:lvl5pPr>
            <a:lvl6pPr>
              <a:buNone/>
              <a:defRPr sz="1725" b="1">
                <a:solidFill>
                  <a:srgbClr val="055A52"/>
                </a:solidFill>
              </a:defRPr>
            </a:lvl6pPr>
            <a:lvl7pPr>
              <a:buNone/>
              <a:defRPr sz="1725" b="1">
                <a:solidFill>
                  <a:srgbClr val="055A52"/>
                </a:solidFill>
              </a:defRPr>
            </a:lvl7pPr>
            <a:lvl8pPr>
              <a:buNone/>
              <a:defRPr sz="1725" b="1">
                <a:solidFill>
                  <a:srgbClr val="055A52"/>
                </a:solidFill>
              </a:defRPr>
            </a:lvl8pPr>
            <a:lvl9pPr>
              <a:buNone/>
              <a:defRPr sz="1725" b="1">
                <a:solidFill>
                  <a:srgbClr val="055A52"/>
                </a:solidFill>
              </a:defRPr>
            </a:lvl9pPr>
          </a:lstStyle>
          <a:p xmlns:a="http://schemas.openxmlformats.org/drawingml/2006/main">
            <a:pPr>
              <a:buNone/>
              <a:defRPr sz="1725" b="1">
                <a:solidFill>
                  <a:srgbClr val="055A52"/>
                </a:solidFill>
              </a:defRPr>
            </a:pPr>
            <a:r>
              <a:rPr sz="1725" b="1">
                <a:solidFill>
                  <a:srgbClr val="055A52"/>
                </a:solidFill>
              </a:rPr>
              <a:t>Run from fastapi-project</a:t>
            </a:r>
          </a:p>
        </p:txBody>
      </p:sp>
      <p:sp>
        <p:nvSpPr>
          <p:cNvPr id="26" name="Verified test result">
            <a:extLst xmlns:a="http://schemas.openxmlformats.org/drawingml/2006/main">
              <a:ext uri="{FF2B5EF4-FFF2-40B4-BE49-F238E27FC236}">
                <a16:creationId xmlns:a16="http://schemas.microsoft.com/office/drawing/2014/main" id="{D93313B5-DCA3-4882-BFDD-CC9433F3C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686050"/>
            <a:ext cx="2419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050" b="1">
                <a:solidFill>
                  <a:srgbClr val="055A52"/>
                </a:solidFill>
              </a:defRPr>
            </a:defPPr>
            <a:lvl1pPr>
              <a:buNone/>
              <a:defRPr sz="4050" b="1">
                <a:solidFill>
                  <a:srgbClr val="055A52"/>
                </a:solidFill>
              </a:defRPr>
            </a:lvl1pPr>
            <a:lvl2pPr>
              <a:buNone/>
              <a:defRPr sz="4050" b="1">
                <a:solidFill>
                  <a:srgbClr val="055A52"/>
                </a:solidFill>
              </a:defRPr>
            </a:lvl2pPr>
            <a:lvl3pPr>
              <a:buNone/>
              <a:defRPr sz="4050" b="1">
                <a:solidFill>
                  <a:srgbClr val="055A52"/>
                </a:solidFill>
              </a:defRPr>
            </a:lvl3pPr>
            <a:lvl4pPr>
              <a:buNone/>
              <a:defRPr sz="4050" b="1">
                <a:solidFill>
                  <a:srgbClr val="055A52"/>
                </a:solidFill>
              </a:defRPr>
            </a:lvl4pPr>
            <a:lvl5pPr>
              <a:buNone/>
              <a:defRPr sz="4050" b="1">
                <a:solidFill>
                  <a:srgbClr val="055A52"/>
                </a:solidFill>
              </a:defRPr>
            </a:lvl5pPr>
            <a:lvl6pPr>
              <a:buNone/>
              <a:defRPr sz="4050" b="1">
                <a:solidFill>
                  <a:srgbClr val="055A52"/>
                </a:solidFill>
              </a:defRPr>
            </a:lvl6pPr>
            <a:lvl7pPr>
              <a:buNone/>
              <a:defRPr sz="4050" b="1">
                <a:solidFill>
                  <a:srgbClr val="055A52"/>
                </a:solidFill>
              </a:defRPr>
            </a:lvl7pPr>
            <a:lvl8pPr>
              <a:buNone/>
              <a:defRPr sz="4050" b="1">
                <a:solidFill>
                  <a:srgbClr val="055A52"/>
                </a:solidFill>
              </a:defRPr>
            </a:lvl8pPr>
            <a:lvl9pPr>
              <a:buNone/>
              <a:defRPr sz="4050" b="1">
                <a:solidFill>
                  <a:srgbClr val="055A52"/>
                </a:solidFill>
              </a:defRPr>
            </a:lvl9pPr>
          </a:lstStyle>
          <a:p xmlns:a="http://schemas.openxmlformats.org/drawingml/2006/main">
            <a:pPr>
              <a:buNone/>
              <a:defRPr sz="4050" b="1">
                <a:solidFill>
                  <a:srgbClr val="055A52"/>
                </a:solidFill>
              </a:defRPr>
            </a:pPr>
            <a:r>
              <a:rPr sz="4050" b="1">
                <a:solidFill>
                  <a:srgbClr val="055A52"/>
                </a:solidFill>
              </a:rPr>
              <a:t>8 passed</a:t>
            </a:r>
          </a:p>
        </p:txBody>
      </p:sp>
    </p:spTree>
    <p:extLst>
      <p:ext uri="{BB962C8B-B14F-4D97-AF65-F5344CB8AC3E}">
        <p14:creationId xmlns:p14="http://schemas.microsoft.com/office/powerpoint/2010/main" val="1028268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BA78449-7C53-4108-9F56-12FA85D2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DB80BB-9FD9-4CC7-BB06-9A04CE223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Advantages of FastAPI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F96BB0F-34F4-4A10-B3F7-E8FB6127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reduces repeated work and keeps the main parts of a small API connected.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9DF8ED5-55E4-49D6-B5D4-23412C53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D9C51C4E-F28C-4FC7-BDB7-B1624A6A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E2DD451-0906-45FB-B429-D730EA15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18FCC5EE-32B5-4500-A93D-D0789C5BC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F57B304-C6E1-4813-89BB-E17051476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05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Connected contracts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4C923AE-8E6C-44D6-8409-521F275F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241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One model guides validation, responses and API documentation, so the parts stay consistent.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EF0BE74-F9AF-40CF-9FA0-8355EB4F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4BA017E-998F-47BD-A18A-EC8335B6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6537341A-B8C9-47F3-85E0-4D6DBF6A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52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Fast feedback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255B330-EADB-4A9B-B105-C18200FE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Swagger UI lets us inspect and call each route immediately, without building a separate client.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72C079D-4D80-41C3-9FB0-D7246646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83A7D05-AEB0-4D35-A23A-0AA653D4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3D81561F-67BC-45C5-8D78-C4F9EDF1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Room to grow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F69CBF2-AC2D-4845-A8E8-71A4C7E0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The project can later add routers, services and a database without changing its basic API design.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8A9C2EE-1A3D-42AE-A7DD-5FDCE0534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15021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4806EA2-6BD1-4649-8FC1-72D306698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B81498-086B-46C9-A745-D2645914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Limitations to plan for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B12B793-A971-4F70-8F3E-62F911D3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8C3A863-751A-4C22-88AB-2E48BE341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3943D64-2D53-4D69-82AD-EEB326F2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0D41EB57-D530-4A70-914D-21C4FB87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A9D43ED-CB22-4B0A-89E7-C7684AC3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16D0E14-DDB2-486E-BC1D-2CEFEDB11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3050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Security needs design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914916-D577-4E87-B8C8-9C4E4CA38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14575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 lnSpcReduction="1000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Authentication, </a:t>
            </a: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authorisation</a:t>
            </a: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, permissions and safe deployment still need careful design.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A209BE6-7666-45B5-A3B5-CE98A3E3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1DD9A4A-A27B-4351-843D-51B7B974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1404D462-8CDD-42B4-B23D-8FF7FFDC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3528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Some concepts take time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2BDCA70-024E-4717-B7FA-EB3DC016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718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Type hints, </a:t>
            </a: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Pydantic</a:t>
            </a: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 models and asynchronous Python may take time for beginners to learn.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0E9216E-4C2C-44C1-B9B1-05BFF7A99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5765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63EC617-A0B8-4959-8F9E-7206ED00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C5FBB26-D785-4633-88B6-CFE9A57D8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10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Production needs more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402525D-669D-4317-8A76-0BD7DA88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196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Real systems also need persistent storage, migrations, logging, monitoring and backups.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67FE533-EEB1-48CA-9993-F96B5900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054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ixed-section-label">
            <a:extLst xmlns:a="http://schemas.openxmlformats.org/drawingml/2006/main">
              <a:ext uri="{FF2B5EF4-FFF2-40B4-BE49-F238E27FC236}">
                <a16:creationId xmlns:a16="http://schemas.microsoft.com/office/drawing/2014/main" id="{16ACB27C-C6F0-40D0-AA55-8458DFE2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087F73"/>
                </a:solidFill>
              </a:defRPr>
            </a:defPPr>
            <a:lvl1pPr algn="l">
              <a:buNone/>
              <a:defRPr sz="1275" b="1">
                <a:solidFill>
                  <a:srgbClr val="087F73"/>
                </a:solidFill>
              </a:defRPr>
            </a:lvl1pPr>
            <a:lvl2pPr algn="l">
              <a:buNone/>
              <a:defRPr sz="1275" b="1">
                <a:solidFill>
                  <a:srgbClr val="087F73"/>
                </a:solidFill>
              </a:defRPr>
            </a:lvl2pPr>
            <a:lvl3pPr algn="l">
              <a:buNone/>
              <a:defRPr sz="1275" b="1">
                <a:solidFill>
                  <a:srgbClr val="087F73"/>
                </a:solidFill>
              </a:defRPr>
            </a:lvl3pPr>
            <a:lvl4pPr algn="l">
              <a:buNone/>
              <a:defRPr sz="1275" b="1">
                <a:solidFill>
                  <a:srgbClr val="087F73"/>
                </a:solidFill>
              </a:defRPr>
            </a:lvl4pPr>
            <a:lvl5pPr algn="l">
              <a:buNone/>
              <a:defRPr sz="1275" b="1">
                <a:solidFill>
                  <a:srgbClr val="087F73"/>
                </a:solidFill>
              </a:defRPr>
            </a:lvl5pPr>
            <a:lvl6pPr algn="l">
              <a:buNone/>
              <a:defRPr sz="1275" b="1">
                <a:solidFill>
                  <a:srgbClr val="087F73"/>
                </a:solidFill>
              </a:defRPr>
            </a:lvl6pPr>
            <a:lvl7pPr algn="l">
              <a:buNone/>
              <a:defRPr sz="1275" b="1">
                <a:solidFill>
                  <a:srgbClr val="087F73"/>
                </a:solidFill>
              </a:defRPr>
            </a:lvl7pPr>
            <a:lvl8pPr algn="l">
              <a:buNone/>
              <a:defRPr sz="1275" b="1">
                <a:solidFill>
                  <a:srgbClr val="087F73"/>
                </a:solidFill>
              </a:defRPr>
            </a:lvl8pPr>
            <a:lvl9pPr algn="l">
              <a:buNone/>
              <a:defRPr sz="1275" b="1">
                <a:solidFill>
                  <a:srgbClr val="087F73"/>
                </a:solidFill>
              </a:defRPr>
            </a:lvl9pPr>
          </a:lstStyle>
          <a:p xmlns:a="http://schemas.openxmlformats.org/drawingml/2006/main">
            <a:pPr algn="l">
              <a:buNone/>
              <a:defRPr sz="1275" b="1">
                <a:solidFill>
                  <a:srgbClr val="087F73"/>
                </a:solidFill>
              </a:defRPr>
            </a:pPr>
            <a:r>
              <a:rPr sz="1275" b="1">
                <a:solidFill>
                  <a:srgbClr val="087F73"/>
                </a:solidFill>
              </a:rPr>
              <a:t>EVALUATION</a:t>
            </a:r>
          </a:p>
        </p:txBody>
      </p:sp>
      <p:sp>
        <p:nvSpPr>
          <p:cNvPr id="21" name="fixed-subtitle">
            <a:extLst xmlns:a="http://schemas.openxmlformats.org/drawingml/2006/main">
              <a:ext uri="{FF2B5EF4-FFF2-40B4-BE49-F238E27FC236}">
                <a16:creationId xmlns:a16="http://schemas.microsoft.com/office/drawing/2014/main" id="{7682D70F-5C7C-449F-8CF8-1A7FBFC2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566C78"/>
                </a:solidFill>
              </a:defRPr>
            </a:defPPr>
            <a:lvl1pPr algn="l">
              <a:buNone/>
              <a:defRPr sz="1800" b="0">
                <a:solidFill>
                  <a:srgbClr val="566C78"/>
                </a:solidFill>
              </a:defRPr>
            </a:lvl1pPr>
            <a:lvl2pPr algn="l">
              <a:buNone/>
              <a:defRPr sz="1800" b="0">
                <a:solidFill>
                  <a:srgbClr val="566C78"/>
                </a:solidFill>
              </a:defRPr>
            </a:lvl2pPr>
            <a:lvl3pPr algn="l">
              <a:buNone/>
              <a:defRPr sz="1800" b="0">
                <a:solidFill>
                  <a:srgbClr val="566C78"/>
                </a:solidFill>
              </a:defRPr>
            </a:lvl3pPr>
            <a:lvl4pPr algn="l">
              <a:buNone/>
              <a:defRPr sz="1800" b="0">
                <a:solidFill>
                  <a:srgbClr val="566C78"/>
                </a:solidFill>
              </a:defRPr>
            </a:lvl4pPr>
            <a:lvl5pPr algn="l">
              <a:buNone/>
              <a:defRPr sz="1800" b="0">
                <a:solidFill>
                  <a:srgbClr val="566C78"/>
                </a:solidFill>
              </a:defRPr>
            </a:lvl5pPr>
            <a:lvl6pPr algn="l">
              <a:buNone/>
              <a:defRPr sz="1800" b="0">
                <a:solidFill>
                  <a:srgbClr val="566C78"/>
                </a:solidFill>
              </a:defRPr>
            </a:lvl6pPr>
            <a:lvl7pPr algn="l">
              <a:buNone/>
              <a:defRPr sz="1800" b="0">
                <a:solidFill>
                  <a:srgbClr val="566C78"/>
                </a:solidFill>
              </a:defRPr>
            </a:lvl7pPr>
            <a:lvl8pPr algn="l">
              <a:buNone/>
              <a:defRPr sz="1800" b="0">
                <a:solidFill>
                  <a:srgbClr val="566C78"/>
                </a:solidFill>
              </a:defRPr>
            </a:lvl8pPr>
            <a:lvl9pPr algn="l">
              <a:buNone/>
              <a:defRPr sz="1800" b="0">
                <a:solidFill>
                  <a:srgbClr val="566C78"/>
                </a:solidFill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66C78"/>
                </a:solidFill>
              </a:defRPr>
            </a:pPr>
            <a:r>
              <a:rPr sz="1800" b="0">
                <a:solidFill>
                  <a:srgbClr val="566C78"/>
                </a:solidFill>
              </a:rPr>
              <a:t>FastAPI supports API development, but it does not design, secure or deploy the whole system for us.</a:t>
            </a:r>
          </a:p>
        </p:txBody>
      </p:sp>
      <p:sp>
        <p:nvSpPr>
          <p:cNvPr id="22" name="fixed-number-01">
            <a:extLst xmlns:a="http://schemas.openxmlformats.org/drawingml/2006/main">
              <a:ext uri="{FF2B5EF4-FFF2-40B4-BE49-F238E27FC236}">
                <a16:creationId xmlns:a16="http://schemas.microsoft.com/office/drawing/2014/main" id="{EFAD03CF-B6AD-4716-9DCC-48AF29ED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050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E76F51"/>
                </a:solidFill>
              </a:defRPr>
            </a:defPPr>
            <a:lvl1pPr algn="l">
              <a:buNone/>
              <a:defRPr sz="2400" b="1">
                <a:solidFill>
                  <a:srgbClr val="E76F51"/>
                </a:solidFill>
              </a:defRPr>
            </a:lvl1pPr>
            <a:lvl2pPr algn="l">
              <a:buNone/>
              <a:defRPr sz="2400" b="1">
                <a:solidFill>
                  <a:srgbClr val="E76F51"/>
                </a:solidFill>
              </a:defRPr>
            </a:lvl2pPr>
            <a:lvl3pPr algn="l">
              <a:buNone/>
              <a:defRPr sz="2400" b="1">
                <a:solidFill>
                  <a:srgbClr val="E76F51"/>
                </a:solidFill>
              </a:defRPr>
            </a:lvl3pPr>
            <a:lvl4pPr algn="l">
              <a:buNone/>
              <a:defRPr sz="2400" b="1">
                <a:solidFill>
                  <a:srgbClr val="E76F51"/>
                </a:solidFill>
              </a:defRPr>
            </a:lvl4pPr>
            <a:lvl5pPr algn="l">
              <a:buNone/>
              <a:defRPr sz="2400" b="1">
                <a:solidFill>
                  <a:srgbClr val="E76F51"/>
                </a:solidFill>
              </a:defRPr>
            </a:lvl5pPr>
            <a:lvl6pPr algn="l">
              <a:buNone/>
              <a:defRPr sz="2400" b="1">
                <a:solidFill>
                  <a:srgbClr val="E76F51"/>
                </a:solidFill>
              </a:defRPr>
            </a:lvl6pPr>
            <a:lvl7pPr algn="l">
              <a:buNone/>
              <a:defRPr sz="2400" b="1">
                <a:solidFill>
                  <a:srgbClr val="E76F51"/>
                </a:solidFill>
              </a:defRPr>
            </a:lvl7pPr>
            <a:lvl8pPr algn="l">
              <a:buNone/>
              <a:defRPr sz="2400" b="1">
                <a:solidFill>
                  <a:srgbClr val="E76F51"/>
                </a:solidFill>
              </a:defRPr>
            </a:lvl8pPr>
            <a:lvl9pPr algn="l">
              <a:buNone/>
              <a:defRPr sz="2400" b="1">
                <a:solidFill>
                  <a:srgbClr val="E76F51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E76F51"/>
                </a:solidFill>
              </a:defRPr>
            </a:pPr>
            <a:r>
              <a:rPr sz="2400" b="1">
                <a:solidFill>
                  <a:srgbClr val="E76F51"/>
                </a:solidFill>
              </a:rPr>
              <a:t>01</a:t>
            </a:r>
          </a:p>
        </p:txBody>
      </p:sp>
      <p:sp>
        <p:nvSpPr>
          <p:cNvPr id="23" name="fixed-number-02">
            <a:extLst xmlns:a="http://schemas.openxmlformats.org/drawingml/2006/main">
              <a:ext uri="{FF2B5EF4-FFF2-40B4-BE49-F238E27FC236}">
                <a16:creationId xmlns:a16="http://schemas.microsoft.com/office/drawing/2014/main" id="{D6C384F7-FE91-4158-B885-3FC830AD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E76F51"/>
                </a:solidFill>
              </a:defRPr>
            </a:defPPr>
            <a:lvl1pPr algn="l">
              <a:buNone/>
              <a:defRPr sz="2400" b="1">
                <a:solidFill>
                  <a:srgbClr val="E76F51"/>
                </a:solidFill>
              </a:defRPr>
            </a:lvl1pPr>
            <a:lvl2pPr algn="l">
              <a:buNone/>
              <a:defRPr sz="2400" b="1">
                <a:solidFill>
                  <a:srgbClr val="E76F51"/>
                </a:solidFill>
              </a:defRPr>
            </a:lvl2pPr>
            <a:lvl3pPr algn="l">
              <a:buNone/>
              <a:defRPr sz="2400" b="1">
                <a:solidFill>
                  <a:srgbClr val="E76F51"/>
                </a:solidFill>
              </a:defRPr>
            </a:lvl3pPr>
            <a:lvl4pPr algn="l">
              <a:buNone/>
              <a:defRPr sz="2400" b="1">
                <a:solidFill>
                  <a:srgbClr val="E76F51"/>
                </a:solidFill>
              </a:defRPr>
            </a:lvl4pPr>
            <a:lvl5pPr algn="l">
              <a:buNone/>
              <a:defRPr sz="2400" b="1">
                <a:solidFill>
                  <a:srgbClr val="E76F51"/>
                </a:solidFill>
              </a:defRPr>
            </a:lvl5pPr>
            <a:lvl6pPr algn="l">
              <a:buNone/>
              <a:defRPr sz="2400" b="1">
                <a:solidFill>
                  <a:srgbClr val="E76F51"/>
                </a:solidFill>
              </a:defRPr>
            </a:lvl6pPr>
            <a:lvl7pPr algn="l">
              <a:buNone/>
              <a:defRPr sz="2400" b="1">
                <a:solidFill>
                  <a:srgbClr val="E76F51"/>
                </a:solidFill>
              </a:defRPr>
            </a:lvl7pPr>
            <a:lvl8pPr algn="l">
              <a:buNone/>
              <a:defRPr sz="2400" b="1">
                <a:solidFill>
                  <a:srgbClr val="E76F51"/>
                </a:solidFill>
              </a:defRPr>
            </a:lvl8pPr>
            <a:lvl9pPr algn="l">
              <a:buNone/>
              <a:defRPr sz="2400" b="1">
                <a:solidFill>
                  <a:srgbClr val="E76F51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E76F51"/>
                </a:solidFill>
              </a:defRPr>
            </a:pPr>
            <a:r>
              <a:rPr sz="2400" b="1">
                <a:solidFill>
                  <a:srgbClr val="E76F51"/>
                </a:solidFill>
              </a:rPr>
              <a:t>02</a:t>
            </a:r>
          </a:p>
        </p:txBody>
      </p:sp>
      <p:sp>
        <p:nvSpPr>
          <p:cNvPr id="24" name="fixed-number-03">
            <a:extLst xmlns:a="http://schemas.openxmlformats.org/drawingml/2006/main">
              <a:ext uri="{FF2B5EF4-FFF2-40B4-BE49-F238E27FC236}">
                <a16:creationId xmlns:a16="http://schemas.microsoft.com/office/drawing/2014/main" id="{8B1FAE98-2B22-4425-A100-CB0D6C7C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E76F51"/>
                </a:solidFill>
              </a:defRPr>
            </a:defPPr>
            <a:lvl1pPr algn="l">
              <a:buNone/>
              <a:defRPr sz="2400" b="1">
                <a:solidFill>
                  <a:srgbClr val="E76F51"/>
                </a:solidFill>
              </a:defRPr>
            </a:lvl1pPr>
            <a:lvl2pPr algn="l">
              <a:buNone/>
              <a:defRPr sz="2400" b="1">
                <a:solidFill>
                  <a:srgbClr val="E76F51"/>
                </a:solidFill>
              </a:defRPr>
            </a:lvl2pPr>
            <a:lvl3pPr algn="l">
              <a:buNone/>
              <a:defRPr sz="2400" b="1">
                <a:solidFill>
                  <a:srgbClr val="E76F51"/>
                </a:solidFill>
              </a:defRPr>
            </a:lvl3pPr>
            <a:lvl4pPr algn="l">
              <a:buNone/>
              <a:defRPr sz="2400" b="1">
                <a:solidFill>
                  <a:srgbClr val="E76F51"/>
                </a:solidFill>
              </a:defRPr>
            </a:lvl4pPr>
            <a:lvl5pPr algn="l">
              <a:buNone/>
              <a:defRPr sz="2400" b="1">
                <a:solidFill>
                  <a:srgbClr val="E76F51"/>
                </a:solidFill>
              </a:defRPr>
            </a:lvl5pPr>
            <a:lvl6pPr algn="l">
              <a:buNone/>
              <a:defRPr sz="2400" b="1">
                <a:solidFill>
                  <a:srgbClr val="E76F51"/>
                </a:solidFill>
              </a:defRPr>
            </a:lvl6pPr>
            <a:lvl7pPr algn="l">
              <a:buNone/>
              <a:defRPr sz="2400" b="1">
                <a:solidFill>
                  <a:srgbClr val="E76F51"/>
                </a:solidFill>
              </a:defRPr>
            </a:lvl7pPr>
            <a:lvl8pPr algn="l">
              <a:buNone/>
              <a:defRPr sz="2400" b="1">
                <a:solidFill>
                  <a:srgbClr val="E76F51"/>
                </a:solidFill>
              </a:defRPr>
            </a:lvl8pPr>
            <a:lvl9pPr algn="l">
              <a:buNone/>
              <a:defRPr sz="2400" b="1">
                <a:solidFill>
                  <a:srgbClr val="E76F51"/>
                </a:solidFill>
              </a:defRPr>
            </a:lvl9pPr>
          </a:lstStyle>
          <a:p xmlns:a="http://schemas.openxmlformats.org/drawingml/2006/main">
            <a:pPr algn="l">
              <a:buNone/>
              <a:defRPr sz="2400" b="1">
                <a:solidFill>
                  <a:srgbClr val="E76F51"/>
                </a:solidFill>
              </a:defRPr>
            </a:pPr>
            <a:r>
              <a:rPr sz="2400" b="1">
                <a:solidFill>
                  <a:srgbClr val="E76F51"/>
                </a:solidFill>
              </a:rPr>
              <a:t>03</a:t>
            </a:r>
          </a:p>
        </p:txBody>
      </p:sp>
      <p:sp>
        <p:nvSpPr>
          <p:cNvPr id="25" name="fixed-footer-label">
            <a:extLst xmlns:a="http://schemas.openxmlformats.org/drawingml/2006/main">
              <a:ext uri="{FF2B5EF4-FFF2-40B4-BE49-F238E27FC236}">
                <a16:creationId xmlns:a16="http://schemas.microsoft.com/office/drawing/2014/main" id="{58C28A1D-C1A8-4F9E-80EF-B0D57BDE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566C78"/>
                </a:solidFill>
              </a:defRPr>
            </a:defPPr>
            <a:lvl1pPr algn="l">
              <a:buNone/>
              <a:defRPr sz="975" b="1">
                <a:solidFill>
                  <a:srgbClr val="566C78"/>
                </a:solidFill>
              </a:defRPr>
            </a:lvl1pPr>
            <a:lvl2pPr algn="l">
              <a:buNone/>
              <a:defRPr sz="975" b="1">
                <a:solidFill>
                  <a:srgbClr val="566C78"/>
                </a:solidFill>
              </a:defRPr>
            </a:lvl2pPr>
            <a:lvl3pPr algn="l">
              <a:buNone/>
              <a:defRPr sz="975" b="1">
                <a:solidFill>
                  <a:srgbClr val="566C78"/>
                </a:solidFill>
              </a:defRPr>
            </a:lvl3pPr>
            <a:lvl4pPr algn="l">
              <a:buNone/>
              <a:defRPr sz="975" b="1">
                <a:solidFill>
                  <a:srgbClr val="566C78"/>
                </a:solidFill>
              </a:defRPr>
            </a:lvl4pPr>
            <a:lvl5pPr algn="l">
              <a:buNone/>
              <a:defRPr sz="975" b="1">
                <a:solidFill>
                  <a:srgbClr val="566C78"/>
                </a:solidFill>
              </a:defRPr>
            </a:lvl5pPr>
            <a:lvl6pPr algn="l">
              <a:buNone/>
              <a:defRPr sz="975" b="1">
                <a:solidFill>
                  <a:srgbClr val="566C78"/>
                </a:solidFill>
              </a:defRPr>
            </a:lvl6pPr>
            <a:lvl7pPr algn="l">
              <a:buNone/>
              <a:defRPr sz="975" b="1">
                <a:solidFill>
                  <a:srgbClr val="566C78"/>
                </a:solidFill>
              </a:defRPr>
            </a:lvl7pPr>
            <a:lvl8pPr algn="l">
              <a:buNone/>
              <a:defRPr sz="975" b="1">
                <a:solidFill>
                  <a:srgbClr val="566C78"/>
                </a:solidFill>
              </a:defRPr>
            </a:lvl8pPr>
            <a:lvl9pPr algn="l">
              <a:buNone/>
              <a:defRPr sz="975" b="1">
                <a:solidFill>
                  <a:srgbClr val="566C78"/>
                </a:solidFill>
              </a:defRPr>
            </a:lvl9pPr>
          </a:lstStyle>
          <a:p xmlns:a="http://schemas.openxmlformats.org/drawingml/2006/main">
            <a:pPr algn="l">
              <a:buNone/>
              <a:defRPr sz="975" b="1">
                <a:solidFill>
                  <a:srgbClr val="566C78"/>
                </a:solidFill>
              </a:defRPr>
            </a:pPr>
            <a:r>
              <a:rPr sz="975" b="1">
                <a:solidFill>
                  <a:srgbClr val="566C78"/>
                </a:solidFill>
              </a:rPr>
              <a:t>COMP10020 · FASTAPI</a:t>
            </a:r>
          </a:p>
        </p:txBody>
      </p:sp>
    </p:spTree>
    <p:extLst>
      <p:ext uri="{BB962C8B-B14F-4D97-AF65-F5344CB8AC3E}">
        <p14:creationId xmlns:p14="http://schemas.microsoft.com/office/powerpoint/2010/main" val="1791502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FB9B6FE1-3AFE-41AC-AC4C-2611A616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975" b="1" i="0">
                <a:solidFill>
                  <a:srgbClr val="087F73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87F73"/>
                </a:solidFill>
                <a:latin typeface="Aptos"/>
                <a:ea typeface="Aptos"/>
                <a:cs typeface="Aptos"/>
              </a:rPr>
              <a:t>PRACTICAL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ED0C3E-6BB9-4909-A617-37E411C6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4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7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850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3450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Where FastAPI fits well</a:t>
            </a:r>
          </a:p>
        </p:txBody>
      </p:sp>
      <p:sp>
        <p:nvSpPr>
          <p:cNvPr id="3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60E5580-E6CC-4EBB-A1FF-20FCB06A6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906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3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FastAPI works well when a clear Python API is the main product or connects other components.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22A7E5E-7678-4905-A2E2-4C8C86195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6B6F32D9-11A8-4862-8638-EE64CF5D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footer-page">
            <a:extLst xmlns:a="http://schemas.openxmlformats.org/drawingml/2006/main">
              <a:ext uri="{FF2B5EF4-FFF2-40B4-BE49-F238E27FC236}">
                <a16:creationId xmlns:a16="http://schemas.microsoft.com/office/drawing/2014/main" id="{FE943E45-F43D-486E-8336-7BC79AC7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buNone/>
              <a:defRPr sz="825" b="1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43F9229-75E4-45B1-94FA-49A4E89F9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907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24D8E05-1F2E-4B2F-9853-65FEFB36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90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REST backends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9AF59D9-6B38-47B5-B5CC-486261C4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2098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JSON endpoints can serve web applications, mobile clients and internal tools.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0D864ED-9FD3-4193-B05E-5705A589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CAB50A0-E8D5-45A4-999B-07B8E5AA3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813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0A32A386-FE24-4EE8-8AFC-5A3E3C95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813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Data and ML services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885F46B-1E56-44FB-85D6-CED8F27B6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004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Typed inputs and outputs can wrap existing Python or machine-learning logic.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7305BE8-D756-427A-84AC-E1E85815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EAAA964-9093-4659-AD35-011E5A9C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781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4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22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88B59D8-1052-480D-A7D0-4257E041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719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02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875" b="1" i="0">
                <a:solidFill>
                  <a:srgbClr val="153247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53247"/>
                </a:solidFill>
                <a:latin typeface="Aptos"/>
                <a:ea typeface="Aptos"/>
                <a:cs typeface="Aptos"/>
              </a:rPr>
              <a:t>Teaching and prototypes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FC24D79-38E3-4BB8-B84B-AD3EA466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9100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750"/>
          </a:bodyPr>
          <a:lstStyle xmlns:a="http://schemas.openxmlformats.org/drawingml/2006/main">
            <a:defPPr algn="l">
              <a:defRPr sz="18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buNone/>
              <a:defRPr sz="1500" b="0" i="0">
                <a:solidFill>
                  <a:srgbClr val="566C78"/>
                </a:solidFill>
                <a:latin typeface="Aptos"/>
                <a:ea typeface="Aptos"/>
                <a:cs typeface="Aptos"/>
              </a:defRPr>
            </a:pPr>
            <a:r>
              <a:rPr sz="1800" b="0" i="0">
                <a:solidFill>
                  <a:srgbClr val="566C78"/>
                </a:solidFill>
                <a:latin typeface="Aptos"/>
                <a:ea typeface="Aptos"/>
                <a:cs typeface="Aptos"/>
              </a:rPr>
              <a:t>Generated documentation gives learners quick feedback and makes testing easier.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C41192C-C6A6-4258-858D-91719485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103441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7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5468C94-4C3B-47DF-B68A-E9368320D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8640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ctr">
              <a:defRPr sz="1575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50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buNone/>
              <a:defRPr sz="1350" b="1" i="0">
                <a:solidFill>
                  <a:srgbClr val="E76F51"/>
                </a:solidFill>
                <a:latin typeface="Aptos"/>
                <a:ea typeface="Aptos"/>
                <a:cs typeface="Aptos"/>
              </a:defRPr>
            </a:pPr>
            <a:r>
              <a:rPr sz="1575" b="1" i="0">
                <a:solidFill>
                  <a:srgbClr val="E76F51"/>
                </a:solidFill>
                <a:latin typeface="Aptos"/>
                <a:ea typeface="Aptos"/>
                <a:cs typeface="Aptos"/>
              </a:rPr>
              <a:t>Production systems still need security, persistent storage, deployment and monitoring.</a:t>
            </a:r>
          </a:p>
        </p:txBody>
      </p:sp>
    </p:spTree>
    <p:extLst>
      <p:ext uri="{BB962C8B-B14F-4D97-AF65-F5344CB8AC3E}">
        <p14:creationId xmlns:p14="http://schemas.microsoft.com/office/powerpoint/2010/main" val="8634709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023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4E8189E-2574-4BBE-96AC-83835177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4213673-02C5-464F-91B1-E200BF45C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FastAPI in three ideas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A9F8CC1-33CD-427C-AC83-A9BF59B3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Continue with our GitHub Pages resource for online information and the step-by-step tutorial.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DF226C7-CF14-4E99-B72D-52CDD244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9606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A450800-5265-4F1B-9EDC-CA6E96F6A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04D3F80-1692-48C5-8BF3-B08483F86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1" i="0">
                <a:solidFill>
                  <a:srgbClr val="AFC0C9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AFC0C9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87EE56B-D383-4079-8601-CD8AB6F02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390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3C"/>
          </a:solidFill>
          <a:ln xmlns:a="http://schemas.openxmlformats.org/drawingml/2006/main" w="9525">
            <a:solidFill>
              <a:srgbClr val="365367"/>
            </a:solidFill>
            <a:prstDash val="solid"/>
          </a:ln>
        </p:spPr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3DC3B3F-A0B1-4368-B09A-980DDB95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2366232-AE1E-4B06-AD60-8D2BA4B0C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914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Types become a contract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90377EA-FB89-47C7-B8D5-9AD5EB3A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Types guide validation, schema generation and consistent responses.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693F73C-544C-4B28-85EB-BFF3ECD9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038350"/>
            <a:ext cx="3390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94A"/>
          </a:solidFill>
          <a:ln xmlns:a="http://schemas.openxmlformats.org/drawingml/2006/main" w="9525">
            <a:solidFill>
              <a:srgbClr val="365367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E393461-67C5-4CBB-ABC1-FA649402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0980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49F9A56B-7647-42F1-8014-969F4F6C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24150"/>
            <a:ext cx="2914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docs are executable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E54D4CD-F0C0-4629-AC28-07BB9BEE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0515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Swagger UI makes the API visible, testable and easier to explain.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EBCC7DE6-56E2-45AD-B73C-C8FCC67B6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38350"/>
            <a:ext cx="33909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D3C"/>
          </a:solidFill>
          <a:ln xmlns:a="http://schemas.openxmlformats.org/drawingml/2006/main" w="9525">
            <a:solidFill>
              <a:srgbClr val="365367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1A61FD4-AB00-4D81-AA83-968560E2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09800"/>
            <a:ext cx="47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5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23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2550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494FB25-0EF9-4EAC-AB68-528B7609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24150"/>
            <a:ext cx="2914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65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Simple can still be complete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84588BAA-4869-4722-BAD9-5A12E8B2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0515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2000"/>
              </a:lnSpc>
              <a:buNone/>
              <a:defRPr sz="112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0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Five routes, clear errors and tests show a complete learning example.</a:t>
            </a:r>
          </a:p>
        </p:txBody>
      </p:sp>
      <p:sp>
        <p:nvSpPr>
          <p:cNvPr id="19" name="矩形: 圆角 18">
            <a:extLst xmlns:a="http://schemas.openxmlformats.org/drawingml/2006/main">
              <a:ext uri="{FF2B5EF4-FFF2-40B4-BE49-F238E27FC236}">
                <a16:creationId xmlns:a16="http://schemas.microsoft.com/office/drawing/2014/main" id="{D7C05B64-A3DE-43F2-B871-76C75A55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15394A"/>
          </a:solidFill>
          <a:ln xmlns:a="http://schemas.openxmlformats.org/drawingml/2006/main" w="9525">
            <a:solidFill>
              <a:srgbClr val="365367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D6E2A2C-391D-46A6-A2F9-D7BB3C5B6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386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8DE2BD"/>
                </a:solidFill>
                <a:latin typeface="Aptos"/>
                <a:ea typeface="Aptos"/>
                <a:cs typeface="Aptos"/>
              </a:defRPr>
            </a:pPr>
            <a:r>
              <a:rPr sz="1275" b="1" i="0">
                <a:solidFill>
                  <a:srgbClr val="8DE2BD"/>
                </a:solidFill>
                <a:latin typeface="Aptos"/>
                <a:ea typeface="Aptos"/>
                <a:cs typeface="Aptos"/>
              </a:rPr>
              <a:t>ONLINE LEARNING RESOURCE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97E81AB-20A1-468A-8BDD-49AA124F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72440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Scan the QR code or open: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6CBFD03-8103-474E-B438-9F5627CA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800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https://tianjianzou123.github.io/fastapi-cw1/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CBF65A29-A2E9-4CB1-9DE4-15E0FDA0D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6735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3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75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14000"/>
              </a:lnSpc>
              <a:buNone/>
              <a:defRPr sz="10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Online Information: overview · architecture · examples · evaluation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050" b="0" i="0">
                <a:solidFill>
                  <a:srgbClr val="C6D2DA"/>
                </a:solidFill>
                <a:latin typeface="Aptos"/>
                <a:ea typeface="Aptos"/>
                <a:cs typeface="Aptos"/>
              </a:defRPr>
            </a:pPr>
            <a:r>
              <a:rPr sz="1350" b="0" i="0">
                <a:solidFill>
                  <a:srgbClr val="C6D2DA"/>
                </a:solidFill>
                <a:latin typeface="Aptos"/>
                <a:ea typeface="Aptos"/>
                <a:cs typeface="Aptos"/>
              </a:rPr>
              <a:t>Online Tutorial: setup · CRUD · validation · exercises</a:t>
            </a:r>
          </a:p>
        </p:txBody>
      </p:sp>
      <p:pic>
        <p:nvPicPr>
          <p:cNvPr id="24" name="图片 23">
            <a:extLst xmlns:a="http://schemas.openxmlformats.org/drawingml/2006/main">
              <a:ext uri="{FF2B5EF4-FFF2-40B4-BE49-F238E27FC236}">
                <a16:creationId xmlns:a16="http://schemas.microsoft.com/office/drawing/2014/main" id="{19AF28DB-959A-4C87-B18D-32281A5FBC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221d9625b84035"/>
          <a:stretch xmlns:a="http://schemas.openxmlformats.org/drawingml/2006/main"/>
        </p:blipFill>
        <p:spPr>
          <a:xfrm xmlns:a="http://schemas.openxmlformats.org/drawingml/2006/main">
            <a:off x="9620250" y="4362450"/>
            <a:ext cx="1657350" cy="16573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390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E882C8CB-ACE8-4202-8410-D393682D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55A52"/>
                </a:solidFill>
                <a:latin typeface="Aptos"/>
                <a:ea typeface="Aptos"/>
                <a:cs typeface="Aptos"/>
              </a:defRPr>
            </a:pPr>
            <a:r>
              <a:rPr sz="1200" b="1" i="0">
                <a:solidFill>
                  <a:srgbClr val="055A52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6A1ACDA-4FC1-4639-80FC-6D30097E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360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95000"/>
              </a:lnSpc>
              <a:buNone/>
              <a:defRPr sz="2850" b="1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3300" b="1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Official documentation used</a:t>
            </a: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1F508DF7-FF6B-4764-97EF-7B2728C2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725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1725" b="0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These official sources support our definitions, examples, testing and status-code explanations. Full citations also appear online.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5CEC1CE-9AC0-4B5E-B537-89B09F8D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A953EF2-16A6-436A-9498-B1687DC7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COMP10020 · FASTAPI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D792078-8602-46D8-960F-E5AC62EF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43675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r"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97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lnSpc>
                <a:spcPct val="100000"/>
              </a:lnSpc>
              <a:buNone/>
              <a:defRPr sz="825" b="1" i="0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975" b="1" i="0">
                <a:solidFill>
                  <a:srgbClr val="536876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C7EEBD0-F879-42F4-8326-AEACCBC9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0452C04-AFBE-4347-9533-7B7C7038E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1526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FastAPI (2026) Features — fastapi.tiangolo.com/features/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ABA5353-70A3-4804-B05D-63BCA96F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14600"/>
            <a:ext cx="977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EB17AA3-CD7C-437D-B715-FA9BEF47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29CE064-4631-456C-9756-16822635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7051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FastAPI (2026) First Steps — fastapi.tiangolo.com/tutorial/first-steps/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4384549-83EF-4286-B201-BC458A5D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977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AF5DD5F-694E-4FD0-811C-E13E52EEA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866F65-3C49-49FE-A972-1C71C747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575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FastAPI (2026) Testing — fastapi.tiangolo.com/tutorial/testing/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ED521B1-ED74-40EC-9405-34899527E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19500"/>
            <a:ext cx="977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051E52A-462A-4B29-8AFE-FEDABC78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C03B2D1-145F-4991-974A-401E3F7E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100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Pydantic (2026) Documentation — docs.pydantic.dev/latest/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103291F6-56C6-472E-89A9-F5915FD7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71950"/>
            <a:ext cx="977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AC925F3-A041-4A2C-A223-32BFD1F43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624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79942FE-75DA-45C3-A2FA-1A877BB1E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36245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Uvicorn (2026) Documentation — uvicorn.dev/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B9B1AD0-1AF0-4BF8-9724-9CF1E104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24400"/>
            <a:ext cx="977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271EEAA-F6D9-4037-9656-1838BB74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149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425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35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F765E"/>
                </a:solidFill>
                <a:latin typeface="Aptos"/>
                <a:ea typeface="Aptos"/>
                <a:cs typeface="Aptos"/>
              </a:defRPr>
            </a:pPr>
            <a:r>
              <a:rPr sz="1425" b="1" i="0">
                <a:solidFill>
                  <a:srgbClr val="EF765E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6686DAC-F4BB-4901-841A-6BFB7E79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981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>
            <a:defPPr algn="l">
              <a:defRPr sz="1575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50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02333"/>
                </a:solidFill>
                <a:latin typeface="Aptos"/>
                <a:ea typeface="Aptos"/>
                <a:cs typeface="Aptos"/>
              </a:defRPr>
            </a:pPr>
            <a:r>
              <a:rPr sz="1575" b="0" i="0">
                <a:solidFill>
                  <a:srgbClr val="102333"/>
                </a:solidFill>
                <a:latin typeface="Aptos"/>
                <a:ea typeface="Aptos"/>
                <a:cs typeface="Aptos"/>
              </a:rPr>
              <a:t>OpenAPI Initiative (2021) Specification v3.1.0 — spec.openapis.org/oas/v3.1.0.html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4B624106-5685-40D3-A9AF-52619536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76850"/>
            <a:ext cx="9772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D9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FD407D80-5AF3-489F-8FC5-EDD3A7CA1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275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20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lnSpc>
                <a:spcPct val="100000"/>
              </a:lnSpc>
              <a:buNone/>
              <a:defRPr sz="1050" b="0" i="1">
                <a:solidFill>
                  <a:srgbClr val="536876"/>
                </a:solidFill>
                <a:latin typeface="Aptos"/>
                <a:ea typeface="Aptos"/>
                <a:cs typeface="Aptos"/>
              </a:defRPr>
            </a:pPr>
            <a:r>
              <a:rPr sz="1275" b="0" i="1">
                <a:solidFill>
                  <a:srgbClr val="536876"/>
                </a:solidFill>
                <a:latin typeface="Aptos"/>
                <a:ea typeface="Aptos"/>
                <a:cs typeface="Aptos"/>
              </a:rPr>
              <a:t>Accessed 14 October 2026 · Full reference list: tianjianzou123.github.io/fastapi-cw1/#references</a:t>
            </a:r>
          </a:p>
        </p:txBody>
      </p:sp>
    </p:spTree>
    <p:extLst>
      <p:ext uri="{BB962C8B-B14F-4D97-AF65-F5344CB8AC3E}">
        <p14:creationId xmlns:p14="http://schemas.microsoft.com/office/powerpoint/2010/main" val="150274327"/>
      </p:ext>
    </p:extLst>
  </p:cSld>
</p:sld>
</file>

<file path=ppt/theme/theme1.xml><?xml version="1.0" encoding="utf-8"?>
<a:theme xmlns:a="http://schemas.openxmlformats.org/drawingml/2006/main" name="FastAPI CW1">
  <a:themeElements>
    <a:clrScheme name="FastAPI CW1">
      <a:dk1>
        <a:srgbClr val="000000"/>
      </a:dk1>
      <a:lt1>
        <a:srgbClr val="FFFFFF"/>
      </a:lt1>
      <a:dk2>
        <a:srgbClr val="0E1C27"/>
      </a:dk2>
      <a:lt2>
        <a:srgbClr val="E8E8E8"/>
      </a:lt2>
      <a:accent1>
        <a:srgbClr val="087F72"/>
      </a:accent1>
      <a:accent2>
        <a:srgbClr val="EF765E"/>
      </a:accent2>
      <a:accent3>
        <a:srgbClr val="8DE2BD"/>
      </a:accent3>
      <a:accent4>
        <a:srgbClr val="055A52"/>
      </a:accent4>
      <a:accent5>
        <a:srgbClr val="EAF3FA"/>
      </a:accent5>
      <a:accent6>
        <a:srgbClr val="D7B95D"/>
      </a:accent6>
      <a:hlink>
        <a:srgbClr val="087F72"/>
      </a:hlink>
      <a:folHlink>
        <a:srgbClr val="6B4B95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astAPI CW1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2026-10-31T09:20:01.6350000Z</dcterms:created>
  <dcterms:modified xsi:type="dcterms:W3CDTF">2026-10-31T09:20:01.6350000Z</dcterms:modified>
</coreProperties>
</file>