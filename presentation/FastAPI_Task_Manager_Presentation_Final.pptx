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1</a:t>
            </a:r>
          </a:p>
          <a:p>
            <a:r>
              <a:t>Suggested time: 0:30</a:t>
            </a:r>
          </a:p>
          <a:p>
            <a:r>
              <a:t>Key points:</a:t>
            </a:r>
          </a:p>
          <a:p>
            <a:r>
              <a:t>1. Introduce FastAPI as the topic.</a:t>
            </a:r>
          </a:p>
          <a:p>
            <a:r>
              <a:t>2. Name the Task Manager example.</a:t>
            </a:r>
          </a:p>
          <a:p>
            <a:r>
              <a:t>3. Preview routes, validation, documentation and testing.</a:t>
            </a:r>
          </a:p>
          <a:p>
            <a:r>
              <a:t>Technical terms: REST API, route</a:t>
            </a:r>
          </a:p>
          <a:p>
            <a:r>
              <a:t>Order: Topic, project, presentation structure.</a:t>
            </a:r>
          </a:p>
          <a:p>
            <a:r>
              <a:t>中文理解提示：先说主题，再说我们用一个小型任务管理 API 来解释 FastAPI。不要逐字读副标题。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1</a:t>
            </a:r>
          </a:p>
          <a:p>
            <a:r>
              <a:t>Suggested time: 0:45</a:t>
            </a:r>
          </a:p>
          <a:p>
            <a:r>
              <a:t>Key points:</a:t>
            </a:r>
          </a:p>
          <a:p>
            <a:r>
              <a:t>1. FastAPI is a Python framework for web APIs.</a:t>
            </a:r>
          </a:p>
          <a:p>
            <a:r>
              <a:t>2. REST routes use HTTP methods and paths.</a:t>
            </a:r>
          </a:p>
          <a:p>
            <a:r>
              <a:t>3. Type hints describe expected data and support common API projects.</a:t>
            </a:r>
          </a:p>
          <a:p>
            <a:r>
              <a:t>Technical terms: framework, REST API, type hint</a:t>
            </a:r>
          </a:p>
          <a:p>
            <a:r>
              <a:t>Order: Definition, REST idea, types, common uses.</a:t>
            </a:r>
          </a:p>
          <a:p>
            <a:r>
              <a:t>中文理解提示：把 FastAPI 理解成用 Python 建立接口的框架，重点不是网页外观，而是客户端与服务器交换数据。</a:t>
            </a:r>
          </a:p>
          <a:p>
            <a:r>
              <a:t>Source: https://fastapi.tiangolo.com/features/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1</a:t>
            </a:r>
          </a:p>
          <a:p>
            <a:r>
              <a:t>Suggested time: 0:45</a:t>
            </a:r>
          </a:p>
          <a:p>
            <a:r>
              <a:t>Key points:</a:t>
            </a:r>
          </a:p>
          <a:p>
            <a:r>
              <a:t>1. Decorators make route declarations short.</a:t>
            </a:r>
          </a:p>
          <a:p>
            <a:r>
              <a:t>2. Pydantic validates declared request data.</a:t>
            </a:r>
          </a:p>
          <a:p>
            <a:r>
              <a:t>3. FastAPI generates OpenAPI documentation automatically.</a:t>
            </a:r>
          </a:p>
          <a:p>
            <a:r>
              <a:t>Technical terms: decorator, validation, OpenAPI, Swagger UI</a:t>
            </a:r>
          </a:p>
          <a:p>
            <a:r>
              <a:t>Order: Routes, validation, documentation.</a:t>
            </a:r>
          </a:p>
          <a:p>
            <a:r>
              <a:t>中文理解提示：三个功能按从写代码到测试接口的顺序讲，每项只解释一句。</a:t>
            </a:r>
          </a:p>
          <a:p>
            <a:r>
              <a:t>Source: https://fastapi.tiangolo.com/features/</a:t>
            </a:r>
          </a:p>
          <a:p>
            <a:r>
              <a:t>Source: https://fastapi.tiangolo.com/tutorial/first-steps/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1</a:t>
            </a:r>
          </a:p>
          <a:p>
            <a:r>
              <a:t>Suggested time: 0:55</a:t>
            </a:r>
          </a:p>
          <a:p>
            <a:r>
              <a:t>Key points:</a:t>
            </a:r>
          </a:p>
          <a:p>
            <a:r>
              <a:t>1. The client sends an HTTP request through Uvicorn.</a:t>
            </a:r>
          </a:p>
          <a:p>
            <a:r>
              <a:t>2. FastAPI selects the route and Pydantic checks data.</a:t>
            </a:r>
          </a:p>
          <a:p>
            <a:r>
              <a:t>3. The repository returns task data as JSON.</a:t>
            </a:r>
          </a:p>
          <a:p>
            <a:r>
              <a:t>Technical terms: client, Uvicorn, Pydantic, repository, JSON</a:t>
            </a:r>
          </a:p>
          <a:p>
            <a:r>
              <a:t>Order: Follow the diagram from left to right.</a:t>
            </a:r>
          </a:p>
          <a:p>
            <a:r>
              <a:t>中文理解提示：按箭头顺序讲，不需要深入解释 ASGI。最后说明返回 JSON 和状态码。</a:t>
            </a:r>
          </a:p>
          <a:p>
            <a:r>
              <a:t>Source: https://www.uvicorn.org/</a:t>
            </a:r>
          </a:p>
          <a:p>
            <a:r>
              <a:t>Source: https://docs.pydantic.dev/latest/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2</a:t>
            </a:r>
          </a:p>
          <a:p>
            <a:r>
              <a:t>Suggested time: 0:45</a:t>
            </a:r>
          </a:p>
          <a:p>
            <a:r>
              <a:t>Key points:</a:t>
            </a:r>
          </a:p>
          <a:p>
            <a:r>
              <a:t>1. GET /tasks requests the task list.</a:t>
            </a:r>
          </a:p>
          <a:p>
            <a:r>
              <a:t>2. FastAPI matches the list_tasks route.</a:t>
            </a:r>
          </a:p>
          <a:p>
            <a:r>
              <a:t>3. The response contains status 200 and JSON data.</a:t>
            </a:r>
          </a:p>
          <a:p>
            <a:r>
              <a:t>Technical terms: GET, JSON response, serialise</a:t>
            </a:r>
          </a:p>
          <a:p>
            <a:r>
              <a:t>Order: Request, route, response.</a:t>
            </a:r>
          </a:p>
          <a:p>
            <a:r>
              <a:t>中文理解提示：指出右侧 JSON 是缩短后的示例，真实响应还包含其他模型字段。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2</a:t>
            </a:r>
          </a:p>
          <a:p>
            <a:r>
              <a:t>Suggested time: 0:40</a:t>
            </a:r>
          </a:p>
          <a:p>
            <a:r>
              <a:t>Key points:</a:t>
            </a:r>
          </a:p>
          <a:p>
            <a:r>
              <a:t>1. The scenario supports real presentation tasks.</a:t>
            </a:r>
          </a:p>
          <a:p>
            <a:r>
              <a:t>2. Each task uses four editable fields.</a:t>
            </a:r>
          </a:p>
          <a:p>
            <a:r>
              <a:t>3. Memory storage keeps the teaching setup simple.</a:t>
            </a:r>
          </a:p>
          <a:p>
            <a:r>
              <a:t>Technical terms: in-memory storage, workflow status</a:t>
            </a:r>
          </a:p>
          <a:p>
            <a:r>
              <a:t>Order: Scenario, fields, deliberate limitation.</a:t>
            </a:r>
          </a:p>
          <a:p>
            <a:r>
              <a:t>中文理解提示：强调这是教学示例。服务器重启后数据清空，SQLite 只是后续扩展。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2</a:t>
            </a:r>
          </a:p>
          <a:p>
            <a:r>
              <a:t>Suggested time: 0:50</a:t>
            </a:r>
          </a:p>
          <a:p>
            <a:r>
              <a:t>Key points:</a:t>
            </a:r>
          </a:p>
          <a:p>
            <a:r>
              <a:t>1. GET reads tasks.</a:t>
            </a:r>
          </a:p>
          <a:p>
            <a:r>
              <a:t>2. POST creates and PUT replaces.</a:t>
            </a:r>
          </a:p>
          <a:p>
            <a:r>
              <a:t>3. DELETE removes a task.</a:t>
            </a:r>
          </a:p>
          <a:p>
            <a:r>
              <a:t>Technical terms: CRUD, HTTP method, resource path</a:t>
            </a:r>
          </a:p>
          <a:p>
            <a:r>
              <a:t>Order: Read the lifecycle from GET to DELETE.</a:t>
            </a:r>
          </a:p>
          <a:p>
            <a:r>
              <a:t>中文理解提示：把 CRUD 当作任务生命周期来讲，不需要现场演示全部五个路由。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2</a:t>
            </a:r>
          </a:p>
          <a:p>
            <a:r>
              <a:t>Suggested time: 0:45</a:t>
            </a:r>
          </a:p>
          <a:p>
            <a:r>
              <a:t>Key points:</a:t>
            </a:r>
          </a:p>
          <a:p>
            <a:r>
              <a:t>1. 200, 201 and 204 show successful requests.</a:t>
            </a:r>
          </a:p>
          <a:p>
            <a:r>
              <a:t>2. 404 means the task ID is missing.</a:t>
            </a:r>
          </a:p>
          <a:p>
            <a:r>
              <a:t>3. 422 means request data failed validation.</a:t>
            </a:r>
          </a:p>
          <a:p>
            <a:r>
              <a:t>Technical terms: HTTP status code, response body, validation error</a:t>
            </a:r>
          </a:p>
          <a:p>
            <a:r>
              <a:t>Order: Success codes first, then client errors.</a:t>
            </a:r>
          </a:p>
          <a:p>
            <a:r>
              <a:t>中文理解提示：不要逐个长讲。重点记住 POST 成功是 201，非法 priority 是 422。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3</a:t>
            </a:r>
          </a:p>
          <a:p>
            <a:r>
              <a:t>Suggested time: 0:35</a:t>
            </a:r>
          </a:p>
          <a:p>
            <a:r>
              <a:t>Key points:</a:t>
            </a:r>
          </a:p>
          <a:p>
            <a:r>
              <a:t>1. A decorator combines the method and path.</a:t>
            </a:r>
          </a:p>
          <a:p>
            <a:r>
              <a:t>2. The function contains the Python behaviour.</a:t>
            </a:r>
          </a:p>
          <a:p>
            <a:r>
              <a:t>3. The POST route declares its models and 201 status.</a:t>
            </a:r>
          </a:p>
          <a:p>
            <a:r>
              <a:t>Technical terms: decorator, response model, status_code</a:t>
            </a:r>
          </a:p>
          <a:p>
            <a:r>
              <a:t>Order: Simple GET example, then the richer POST example.</a:t>
            </a:r>
          </a:p>
          <a:p>
            <a:r>
              <a:t>中文理解提示：只比较左右两段代码的差别，不需要逐行解释。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3</a:t>
            </a:r>
          </a:p>
          <a:p>
            <a:r>
              <a:t>Suggested time: 0:35</a:t>
            </a:r>
          </a:p>
          <a:p>
            <a:r>
              <a:t>Key points:</a:t>
            </a:r>
          </a:p>
          <a:p>
            <a:r>
              <a:t>1. TaskData defines the shared request fields.</a:t>
            </a:r>
          </a:p>
          <a:p>
            <a:r>
              <a:t>2. Status has three allowed workflow values.</a:t>
            </a:r>
          </a:p>
          <a:p>
            <a:r>
              <a:t>3. Priority accepts only integers from 1 to 5.</a:t>
            </a:r>
          </a:p>
          <a:p>
            <a:r>
              <a:t>Technical terms: BaseModel, Field, enum, constraint</a:t>
            </a:r>
          </a:p>
          <a:p>
            <a:r>
              <a:t>Order: Model purpose, four fields, priority rule.</a:t>
            </a:r>
          </a:p>
          <a:p>
            <a:r>
              <a:t>中文理解提示：重点讲 priority 的 ge=1 和 le=5，因为下一页和 Demo 都会用到。</a:t>
            </a:r>
          </a:p>
          <a:p>
            <a:r>
              <a:t>Source: https://docs.pydantic.dev/latest/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3</a:t>
            </a:r>
          </a:p>
          <a:p>
            <a:r>
              <a:t>Suggested time: 0:30</a:t>
            </a:r>
          </a:p>
          <a:p>
            <a:r>
              <a:t>Key points:</a:t>
            </a:r>
          </a:p>
          <a:p>
            <a:r>
              <a:t>1. Priority 5 satisfies the model.</a:t>
            </a:r>
          </a:p>
          <a:p>
            <a:r>
              <a:t>2. Priority 9 breaks the maximum value.</a:t>
            </a:r>
          </a:p>
          <a:p>
            <a:r>
              <a:t>3. FastAPI returns 422 before repository code runs.</a:t>
            </a:r>
          </a:p>
          <a:p>
            <a:r>
              <a:t>Technical terms: 201 Created, 422 Validation Error</a:t>
            </a:r>
          </a:p>
          <a:p>
            <a:r>
              <a:t>Order: Valid request, invalid request, automatic check.</a:t>
            </a:r>
          </a:p>
          <a:p>
            <a:r>
              <a:t>中文理解提示：左右对比即可。不要解释完整错误 JSON，只说 9 超出 1 到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3</a:t>
            </a:r>
          </a:p>
          <a:p>
            <a:r>
              <a:t>Suggested time: 2:15</a:t>
            </a:r>
          </a:p>
          <a:p>
            <a:r>
              <a:t>Key points:</a:t>
            </a:r>
          </a:p>
          <a:p>
            <a:r>
              <a:t>1. GET /tasks returns 200.</a:t>
            </a:r>
          </a:p>
          <a:p>
            <a:r>
              <a:t>2. A valid POST returns 201.</a:t>
            </a:r>
          </a:p>
          <a:p>
            <a:r>
              <a:t>3. Priority 9 returns 422 automatically.</a:t>
            </a:r>
          </a:p>
          <a:p>
            <a:r>
              <a:t>Technical terms: Swagger UI, Try it out, Execute</a:t>
            </a:r>
          </a:p>
          <a:p>
            <a:r>
              <a:t>Order: GET, valid POST, invalid POST, then stop.</a:t>
            </a:r>
          </a:p>
          <a:p>
            <a:r>
              <a:t>中文理解提示：课前启动服务器并打开 /docs。不要现场写代码，不要演示 PUT 或 DELETE。出错时留在本页口头说明结果。</a:t>
            </a:r>
          </a:p>
          <a:p>
            <a:r>
              <a:t>Source: https://fastapi.tiangolo.com/tutorial/first-steps/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4</a:t>
            </a:r>
          </a:p>
          <a:p>
            <a:r>
              <a:t>Suggested time: 0:40</a:t>
            </a:r>
          </a:p>
          <a:p>
            <a:r>
              <a:t>Key points:</a:t>
            </a:r>
          </a:p>
          <a:p>
            <a:r>
              <a:t>1. The suite contains eight API tests.</a:t>
            </a:r>
          </a:p>
          <a:p>
            <a:r>
              <a:t>2. It covers docs, CRUD, errors and filters.</a:t>
            </a:r>
          </a:p>
          <a:p>
            <a:r>
              <a:t>3. The current project result is 8 passed.</a:t>
            </a:r>
          </a:p>
          <a:p>
            <a:r>
              <a:t>Technical terms: pytest, TestClient, repeatable test</a:t>
            </a:r>
          </a:p>
          <a:p>
            <a:r>
              <a:t>Order: Result, coverage, why the repository resets.</a:t>
            </a:r>
          </a:p>
          <a:p>
            <a:r>
              <a:t>中文理解提示：展示结果即可，不需要打开测试代码。当前复核结果是 8 passed in 0.47s。</a:t>
            </a:r>
          </a:p>
          <a:p>
            <a:r>
              <a:t>Source: https://fastapi.tiangolo.com/tutorial/testing/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4</a:t>
            </a:r>
          </a:p>
          <a:p>
            <a:r>
              <a:t>Suggested time: 0:40</a:t>
            </a:r>
          </a:p>
          <a:p>
            <a:r>
              <a:t>Key points:</a:t>
            </a:r>
          </a:p>
          <a:p>
            <a:r>
              <a:t>1. Types connect validation, responses and documentation.</a:t>
            </a:r>
          </a:p>
          <a:p>
            <a:r>
              <a:t>2. Swagger UI gives fast feedback.</a:t>
            </a:r>
          </a:p>
          <a:p>
            <a:r>
              <a:t>3. The structure can grow beyond the teaching example.</a:t>
            </a:r>
          </a:p>
          <a:p>
            <a:r>
              <a:t>Technical terms: contract, Swagger UI, router</a:t>
            </a:r>
          </a:p>
          <a:p>
            <a:r>
              <a:t>Order: Contract, feedback, growth.</a:t>
            </a:r>
          </a:p>
          <a:p>
            <a:r>
              <a:t>中文理解提示：用项目中的实际例子说明优点，避免夸大性能。</a:t>
            </a:r>
          </a:p>
          <a:p>
            <a:r>
              <a:t>Source: https://fastapi.tiangolo.com/features/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4</a:t>
            </a:r>
          </a:p>
          <a:p>
            <a:r>
              <a:t>Suggested time: 0:40</a:t>
            </a:r>
          </a:p>
          <a:p>
            <a:r>
              <a:t>Key points:</a:t>
            </a:r>
          </a:p>
          <a:p>
            <a:r>
              <a:t>1. Security still requires application design.</a:t>
            </a:r>
          </a:p>
          <a:p>
            <a:r>
              <a:t>2. Some Python concepts may be unfamiliar.</a:t>
            </a:r>
          </a:p>
          <a:p>
            <a:r>
              <a:t>3. Production systems need storage and operations work.</a:t>
            </a:r>
          </a:p>
          <a:p>
            <a:r>
              <a:t>Technical terms: authentication, authorisation, persistence, monitoring</a:t>
            </a:r>
          </a:p>
          <a:p>
            <a:r>
              <a:t>Order: Security, learning curve, production needs.</a:t>
            </a:r>
          </a:p>
          <a:p>
            <a:r>
              <a:t>中文理解提示：说明框架不能自动解决所有问题，这体现批判性分析。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4</a:t>
            </a:r>
          </a:p>
          <a:p>
            <a:r>
              <a:t>Suggested time: 0:40</a:t>
            </a:r>
          </a:p>
          <a:p>
            <a:r>
              <a:t>Key points:</a:t>
            </a:r>
          </a:p>
          <a:p>
            <a:r>
              <a:t>1. FastAPI fits REST backends.</a:t>
            </a:r>
          </a:p>
          <a:p>
            <a:r>
              <a:t>2. It also fits data and ML services.</a:t>
            </a:r>
          </a:p>
          <a:p>
            <a:r>
              <a:t>3. Generated docs help teaching and prototypes.</a:t>
            </a:r>
          </a:p>
          <a:p>
            <a:r>
              <a:t>Technical terms: backend, typed contract, prototype</a:t>
            </a:r>
          </a:p>
          <a:p>
            <a:r>
              <a:t>Order: Three use cases, then the production reminder.</a:t>
            </a:r>
          </a:p>
          <a:p>
            <a:r>
              <a:t>中文理解提示：说适用场景，不要说 FastAPI 永远是最佳选择。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Member 4</a:t>
            </a:r>
          </a:p>
          <a:p>
            <a:r>
              <a:t>Suggested time: 0:45</a:t>
            </a:r>
          </a:p>
          <a:p>
            <a:r>
              <a:t>Key points:</a:t>
            </a:r>
          </a:p>
          <a:p>
            <a:r>
              <a:t>1. Types support a clear API contract.</a:t>
            </a:r>
          </a:p>
          <a:p>
            <a:r>
              <a:t>2. Swagger UI makes the API visible and testable.</a:t>
            </a:r>
          </a:p>
          <a:p>
            <a:r>
              <a:t>3. The GitHub Pages site continues with information and a tutorial.</a:t>
            </a:r>
          </a:p>
          <a:p>
            <a:r>
              <a:t>Technical terms: GitHub Pages, Online Information, Online Tutorial</a:t>
            </a:r>
          </a:p>
          <a:p>
            <a:r>
              <a:t>Order: Three ideas, URL and QR code, thank the audience.</a:t>
            </a:r>
          </a:p>
          <a:p>
            <a:r>
              <a:t>中文理解提示：最后指向真实网址和二维码，说明网站分为知识介绍与分步教程。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Owner: Reference slide</a:t>
            </a:r>
          </a:p>
          <a:p>
            <a:r>
              <a:t>Suggested time: 0:00 planned</a:t>
            </a:r>
          </a:p>
          <a:p>
            <a:r>
              <a:t>Key points:</a:t>
            </a:r>
          </a:p>
          <a:p>
            <a:r>
              <a:t>1. The main claims use official FastAPI documentation.</a:t>
            </a:r>
          </a:p>
          <a:p>
            <a:r>
              <a:t>2. Pydantic, Uvicorn and OpenAPI sources are included.</a:t>
            </a:r>
          </a:p>
          <a:p>
            <a:r>
              <a:t>3. The online resource contains the full reference list.</a:t>
            </a:r>
          </a:p>
          <a:p>
            <a:r>
              <a:t>Technical terms: official documentation, access date</a:t>
            </a:r>
          </a:p>
          <a:p>
            <a:r>
              <a:t>Order: Display briefly before questions if needed.</a:t>
            </a:r>
          </a:p>
          <a:p>
            <a:r>
              <a:t>中文理解提示：此页不计入正式讲解时间，需要时停留几秒即可。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DD5E4EC-CB60-4327-9E62-D8BAA9BB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255B629-0A1E-47A1-B75C-8EDD350B1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BB93AE0-56E4-44FF-B775-B341F7DD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D65311B-3CE2-4463-A89F-B2508EB8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6DC949F-191F-47A8-B7E8-D3A13E26A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F611340-008A-4C35-BB35-BB6E1CBD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C405DD7-0AF3-49FE-B638-3BEC5B33E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30D120F-25DD-4918-B0CA-3209420E35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3463D99-9E3F-421A-8F31-31DDD120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4E59AEC-3782-4671-8C22-CB5AE6925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2A3A"/>
            </a:gs>
            <a:gs pos="100000">
              <a:srgbClr val="174C4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6FAE6E3-2E08-4B6F-BDBA-EBA8B69FB5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9B99A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D4E061-A3E3-4C90-B818-E6E1392475F1}"/>
              </a:ext>
            </a:extLst>
          </p:cNvPr>
          <p:cNvSpPr>
            <a:spLocks noGrp="1"/>
          </p:cNvSpPr>
          <p:nvPr/>
        </p:nvSpPr>
        <p:spPr>
          <a:xfrm>
            <a:off x="704850" y="5715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8E8D0"/>
                </a:solidFill>
                <a:latin typeface="Aptos"/>
                <a:ea typeface="Aptos"/>
                <a:cs typeface="Aptos"/>
              </a:rPr>
              <a:t>COMP10020 INTERNET TECHNOLOGIES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36A3BF-BD3F-4613-8F5A-FCDAE248BFFD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191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5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4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05B525-5A01-49CC-AA99-3D1085B8DE79}"/>
              </a:ext>
            </a:extLst>
          </p:cNvPr>
          <p:cNvSpPr>
            <a:spLocks noGrp="1"/>
          </p:cNvSpPr>
          <p:nvPr/>
        </p:nvSpPr>
        <p:spPr>
          <a:xfrm>
            <a:off x="723900" y="2247900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7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325" b="1" i="0">
                <a:solidFill>
                  <a:srgbClr val="E4F0F2"/>
                </a:solidFill>
                <a:latin typeface="Aptos"/>
                <a:ea typeface="Aptos"/>
                <a:cs typeface="Aptos"/>
              </a:defRPr>
            </a:pPr>
            <a:r>
              <a:rPr sz="2475" b="1" i="0">
                <a:solidFill>
                  <a:srgbClr val="E4F0F2"/>
                </a:solidFill>
                <a:latin typeface="Aptos"/>
                <a:ea typeface="Aptos"/>
                <a:cs typeface="Aptos"/>
              </a:rPr>
              <a:t>Building a Simple Task Management REST API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290A74-5323-46D4-A1B5-B44C238A2834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647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BED0D6"/>
                </a:solidFill>
                <a:latin typeface="Aptos"/>
                <a:ea typeface="Aptos"/>
                <a:cs typeface="Aptos"/>
              </a:rPr>
              <a:t>FastAPI is a Python framework for web APIs.</a:t>
            </a:r>
          </a:p>
          <a:p>
            <a:pPr algn="l">
              <a:buNone/>
              <a:defRPr sz="14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BED0D6"/>
                </a:solidFill>
                <a:latin typeface="Aptos"/>
                <a:ea typeface="Aptos"/>
                <a:cs typeface="Aptos"/>
              </a:rPr>
              <a:t>This Task Manager shows how it works.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9BC566-72F9-4878-91ED-05A2DB38FE0A}"/>
              </a:ext>
            </a:extLst>
          </p:cNvPr>
          <p:cNvSpPr>
            <a:spLocks noGrp="1"/>
          </p:cNvSpPr>
          <p:nvPr/>
        </p:nvSpPr>
        <p:spPr>
          <a:xfrm>
            <a:off x="723900" y="4610100"/>
            <a:ext cx="5905500" cy="9525"/>
          </a:xfrm>
          <a:prstGeom prst="rect">
            <a:avLst/>
          </a:prstGeom>
          <a:solidFill>
            <a:srgbClr val="5B8C8A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024B71-B8DB-4ABF-A7BC-143E39A27786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 i="0">
                <a:solidFill>
                  <a:srgbClr val="A8E8D0"/>
                </a:solidFill>
                <a:latin typeface="Aptos"/>
                <a:ea typeface="Aptos"/>
                <a:cs typeface="Aptos"/>
              </a:defRPr>
            </a:pPr>
            <a:endParaRPr sz="1350" b="1" i="0" dirty="0">
              <a:solidFill>
                <a:srgbClr val="A8E8D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2DA16B-284B-493F-AD96-F5702696917B}"/>
              </a:ext>
            </a:extLst>
          </p:cNvPr>
          <p:cNvSpPr>
            <a:spLocks noGrp="1"/>
          </p:cNvSpPr>
          <p:nvPr/>
        </p:nvSpPr>
        <p:spPr>
          <a:xfrm>
            <a:off x="723900" y="5105400"/>
            <a:ext cx="647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0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pPr>
            <a:endParaRPr sz="1725" b="0" i="0" dirty="0">
              <a:solidFill>
                <a:srgbClr val="BED0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F49E06F-6334-4860-B980-D3D65060DDD9}"/>
              </a:ext>
            </a:extLst>
          </p:cNvPr>
          <p:cNvSpPr>
            <a:spLocks noGrp="1"/>
          </p:cNvSpPr>
          <p:nvPr/>
        </p:nvSpPr>
        <p:spPr>
          <a:xfrm>
            <a:off x="7620000" y="1295400"/>
            <a:ext cx="3657600" cy="3390900"/>
          </a:xfrm>
          <a:prstGeom prst="roundRect">
            <a:avLst>
              <a:gd name="adj" fmla="val 3488"/>
            </a:avLst>
          </a:prstGeom>
          <a:solidFill>
            <a:srgbClr val="102A3A"/>
          </a:solidFill>
          <a:ln w="9525">
            <a:solidFill>
              <a:srgbClr val="24485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820CDE-815A-4B9F-8029-64A35E977CB8}"/>
              </a:ext>
            </a:extLst>
          </p:cNvPr>
          <p:cNvSpPr>
            <a:spLocks noGrp="1"/>
          </p:cNvSpPr>
          <p:nvPr/>
        </p:nvSpPr>
        <p:spPr>
          <a:xfrm>
            <a:off x="7848600" y="1466850"/>
            <a:ext cx="320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9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rPr>
              <a:t>app/main.py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CF02A7-FC0C-495E-9BF7-C0D7172DA643}"/>
              </a:ext>
            </a:extLst>
          </p:cNvPr>
          <p:cNvSpPr>
            <a:spLocks noGrp="1"/>
          </p:cNvSpPr>
          <p:nvPr/>
        </p:nvSpPr>
        <p:spPr>
          <a:xfrm>
            <a:off x="7829550" y="1790700"/>
            <a:ext cx="3238500" cy="9525"/>
          </a:xfrm>
          <a:prstGeom prst="rect">
            <a:avLst/>
          </a:prstGeom>
          <a:solidFill>
            <a:srgbClr val="2F5261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D1639-0A41-4308-A6B1-57C9120E8086}"/>
              </a:ext>
            </a:extLst>
          </p:cNvPr>
          <p:cNvSpPr>
            <a:spLocks noGrp="1"/>
          </p:cNvSpPr>
          <p:nvPr/>
        </p:nvSpPr>
        <p:spPr>
          <a:xfrm>
            <a:off x="7867650" y="1943100"/>
            <a:ext cx="3181350" cy="2552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05000"/>
              </a:lnSpc>
              <a:buNone/>
              <a:defRPr sz="12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from fastapi import FastAPI</a:t>
            </a:r>
          </a:p>
          <a:p>
            <a:endParaRPr sz="1200" b="0" i="0">
              <a:solidFill>
                <a:srgbClr val="D9E8EE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app = FastAPI()</a:t>
            </a:r>
          </a:p>
          <a:p>
            <a:endParaRPr sz="1200" b="0" i="0">
              <a:solidFill>
                <a:srgbClr val="D9E8EE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@app.get("/tasks")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def list_tasks():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return tasks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8FDD74-B2C9-409C-B793-4E212E2ADA6B}"/>
              </a:ext>
            </a:extLst>
          </p:cNvPr>
          <p:cNvSpPr>
            <a:spLocks noGrp="1"/>
          </p:cNvSpPr>
          <p:nvPr/>
        </p:nvSpPr>
        <p:spPr>
          <a:xfrm>
            <a:off x="723900" y="60769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050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BED0D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ED0D6"/>
                </a:solidFill>
                <a:latin typeface="Aptos"/>
                <a:ea typeface="Aptos"/>
                <a:cs typeface="Aptos"/>
              </a:rPr>
              <a:t>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815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AF6"/>
            </a:gs>
            <a:gs pos="100000">
              <a:srgbClr val="EEF7F2"/>
            </a:gs>
          </a:gsLst>
          <a:lin ang="7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ction-label">
            <a:extLst>
              <a:ext uri="{FF2B5EF4-FFF2-40B4-BE49-F238E27FC236}">
                <a16:creationId xmlns:a16="http://schemas.microsoft.com/office/drawing/2014/main" id="{17BEC9FB-596F-4ABC-A92D-72A23048BB1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FASTAPI OVERVIEW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77BEE4F-D7A9-48A7-ABF1-796164B560B3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What is FastAPI?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F2CBBA51-7C1E-4EC1-B494-CD6DB00F285A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A Python framework for building web APIs with clear data rules.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DB3E60-76BB-437F-BF10-8F885AD903E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466B3A6A-78E8-4A26-9729-7DA7C7D59F3E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CEC1EDB4-9057-4B4F-9AEB-9C79F8E46846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FF2B3F-7E8C-4EC0-9322-3C7BAB5314E0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33343C-BBF0-4383-AA19-22007C9481CB}"/>
              </a:ext>
            </a:extLst>
          </p:cNvPr>
          <p:cNvSpPr>
            <a:spLocks noGrp="1"/>
          </p:cNvSpPr>
          <p:nvPr/>
        </p:nvSpPr>
        <p:spPr>
          <a:xfrm>
            <a:off x="2076450" y="21526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Web API framework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72C3B6-D1E9-4FF8-9F1A-1876AC2F7E8E}"/>
              </a:ext>
            </a:extLst>
          </p:cNvPr>
          <p:cNvSpPr>
            <a:spLocks noGrp="1"/>
          </p:cNvSpPr>
          <p:nvPr/>
        </p:nvSpPr>
        <p:spPr>
          <a:xfrm>
            <a:off x="5467350" y="2152650"/>
            <a:ext cx="539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Each API route is a normal Python function. This makes the project easy to read.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B65A8C-68BA-458D-9C3F-6BE4F3A5CF36}"/>
              </a:ext>
            </a:extLst>
          </p:cNvPr>
          <p:cNvSpPr>
            <a:spLocks noGrp="1"/>
          </p:cNvSpPr>
          <p:nvPr/>
        </p:nvSpPr>
        <p:spPr>
          <a:xfrm>
            <a:off x="742950" y="2800350"/>
            <a:ext cx="103632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19C9C6-277D-473E-AD15-921F6321D4E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REST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836D2B-977B-410E-B407-0F666222EB14}"/>
              </a:ext>
            </a:extLst>
          </p:cNvPr>
          <p:cNvSpPr>
            <a:spLocks noGrp="1"/>
          </p:cNvSpPr>
          <p:nvPr/>
        </p:nvSpPr>
        <p:spPr>
          <a:xfrm>
            <a:off x="2076450" y="30099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Resource routes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0D64E-BB6F-4940-BECC-FAB03C2ACF3A}"/>
              </a:ext>
            </a:extLst>
          </p:cNvPr>
          <p:cNvSpPr>
            <a:spLocks noGrp="1"/>
          </p:cNvSpPr>
          <p:nvPr/>
        </p:nvSpPr>
        <p:spPr>
          <a:xfrm>
            <a:off x="5467350" y="3009900"/>
            <a:ext cx="539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method and path describe the action and identify the task resource.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EE8354-F2FB-4721-AE22-25B1371A9B41}"/>
              </a:ext>
            </a:extLst>
          </p:cNvPr>
          <p:cNvSpPr>
            <a:spLocks noGrp="1"/>
          </p:cNvSpPr>
          <p:nvPr/>
        </p:nvSpPr>
        <p:spPr>
          <a:xfrm>
            <a:off x="742950" y="3657600"/>
            <a:ext cx="103632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328D91-9C93-4C7B-BDA4-83A3936FCDE0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TYPES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B9E683-CAB9-4EBD-A43D-37B6A149CD20}"/>
              </a:ext>
            </a:extLst>
          </p:cNvPr>
          <p:cNvSpPr>
            <a:spLocks noGrp="1"/>
          </p:cNvSpPr>
          <p:nvPr/>
        </p:nvSpPr>
        <p:spPr>
          <a:xfrm>
            <a:off x="2076450" y="3867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Type hints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4A35A5-09F5-4276-9E4E-6EE1F2A8F73C}"/>
              </a:ext>
            </a:extLst>
          </p:cNvPr>
          <p:cNvSpPr>
            <a:spLocks noGrp="1"/>
          </p:cNvSpPr>
          <p:nvPr/>
        </p:nvSpPr>
        <p:spPr>
          <a:xfrm>
            <a:off x="5467350" y="3867150"/>
            <a:ext cx="539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Python type hints define the expected data. They also support automatic validation.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6D6D58-C33E-4B0B-8E9B-A4FD13B5988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103632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69084C-5300-4979-B749-B3AF5C6A9D40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USES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A40E0E-BD8E-4A34-B9B7-CC2B5DBC77CB}"/>
              </a:ext>
            </a:extLst>
          </p:cNvPr>
          <p:cNvSpPr>
            <a:spLocks noGrp="1"/>
          </p:cNvSpPr>
          <p:nvPr/>
        </p:nvSpPr>
        <p:spPr>
          <a:xfrm>
            <a:off x="2076450" y="47244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7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Typical applications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8DA798-593D-4774-9660-C470353D091F}"/>
              </a:ext>
            </a:extLst>
          </p:cNvPr>
          <p:cNvSpPr>
            <a:spLocks noGrp="1"/>
          </p:cNvSpPr>
          <p:nvPr/>
        </p:nvSpPr>
        <p:spPr>
          <a:xfrm>
            <a:off x="5467350" y="4724400"/>
            <a:ext cx="539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FastAPI is useful for web backends, internal tools and data services.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8529DD-ACC6-4A84-92BD-BBFE31A7674E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3632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229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label">
            <a:extLst>
              <a:ext uri="{FF2B5EF4-FFF2-40B4-BE49-F238E27FC236}">
                <a16:creationId xmlns:a16="http://schemas.microsoft.com/office/drawing/2014/main" id="{B641489A-70AE-496B-8B3B-012CD39BB2C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FASTAPI OVERVIEW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C2DA031-5ECB-4E54-A947-2E4657A610AE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Key features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8BE4F3AB-DBE2-4C24-8A27-3347C7AACC19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4381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FastAPI connects the route, data model and documentation.</a:t>
            </a:r>
          </a:p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This reduces setup work and mistakes.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43D3A3-C597-4015-B7A7-21BF92243DD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84DC31D2-C850-468B-987B-E6573B1E142A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2ED1C48D-D677-47DD-A2EE-BFDD1305B2A0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D1EE9E-99D3-4621-9DF2-06E6F6AA1785}"/>
              </a:ext>
            </a:extLst>
          </p:cNvPr>
          <p:cNvSpPr>
            <a:spLocks noGrp="1"/>
          </p:cNvSpPr>
          <p:nvPr/>
        </p:nvSpPr>
        <p:spPr>
          <a:xfrm>
            <a:off x="800100" y="3759074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828302-81E0-4690-95B7-990A21FA894A}"/>
              </a:ext>
            </a:extLst>
          </p:cNvPr>
          <p:cNvSpPr>
            <a:spLocks noGrp="1"/>
          </p:cNvSpPr>
          <p:nvPr/>
        </p:nvSpPr>
        <p:spPr>
          <a:xfrm>
            <a:off x="1714500" y="3781425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Simple routes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DDE8D2-8B37-4C4A-B8D2-0AA719B1F5A0}"/>
              </a:ext>
            </a:extLst>
          </p:cNvPr>
          <p:cNvSpPr>
            <a:spLocks noGrp="1"/>
          </p:cNvSpPr>
          <p:nvPr/>
        </p:nvSpPr>
        <p:spPr>
          <a:xfrm>
            <a:off x="5143500" y="3781425"/>
            <a:ext cx="600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A decorator links the URL and HTTP method to a Python function.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859DBC-5FF5-48F8-ABA6-C2E1C50B7401}"/>
              </a:ext>
            </a:extLst>
          </p:cNvPr>
          <p:cNvSpPr>
            <a:spLocks noGrp="1"/>
          </p:cNvSpPr>
          <p:nvPr/>
        </p:nvSpPr>
        <p:spPr>
          <a:xfrm>
            <a:off x="800100" y="4302999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CE2BE3-398D-4A0F-AA25-AD63EB63E80E}"/>
              </a:ext>
            </a:extLst>
          </p:cNvPr>
          <p:cNvSpPr>
            <a:spLocks noGrp="1"/>
          </p:cNvSpPr>
          <p:nvPr/>
        </p:nvSpPr>
        <p:spPr>
          <a:xfrm>
            <a:off x="800100" y="451409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1C2D20-73B6-4BA5-945E-9823EA6678CC}"/>
              </a:ext>
            </a:extLst>
          </p:cNvPr>
          <p:cNvSpPr>
            <a:spLocks noGrp="1"/>
          </p:cNvSpPr>
          <p:nvPr/>
        </p:nvSpPr>
        <p:spPr>
          <a:xfrm>
            <a:off x="1714500" y="4543425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Automatic validation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C621E1-7E58-4B9D-A0AF-212095B597B9}"/>
              </a:ext>
            </a:extLst>
          </p:cNvPr>
          <p:cNvSpPr>
            <a:spLocks noGrp="1"/>
          </p:cNvSpPr>
          <p:nvPr/>
        </p:nvSpPr>
        <p:spPr>
          <a:xfrm>
            <a:off x="5143500" y="4533900"/>
            <a:ext cx="600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Pydantic checks request data before the function runs. Invalid values stop early.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9C865D-3ED7-4388-9C43-0A895740B9B3}"/>
              </a:ext>
            </a:extLst>
          </p:cNvPr>
          <p:cNvSpPr>
            <a:spLocks noGrp="1"/>
          </p:cNvSpPr>
          <p:nvPr/>
        </p:nvSpPr>
        <p:spPr>
          <a:xfrm>
            <a:off x="800100" y="5082948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17DA5E-5578-4276-8F2F-34FE1FF93DBA}"/>
              </a:ext>
            </a:extLst>
          </p:cNvPr>
          <p:cNvSpPr>
            <a:spLocks noGrp="1"/>
          </p:cNvSpPr>
          <p:nvPr/>
        </p:nvSpPr>
        <p:spPr>
          <a:xfrm>
            <a:off x="800100" y="5339283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821549-1FAD-4E9E-97F1-A4CCE4963463}"/>
              </a:ext>
            </a:extLst>
          </p:cNvPr>
          <p:cNvSpPr>
            <a:spLocks noGrp="1"/>
          </p:cNvSpPr>
          <p:nvPr/>
        </p:nvSpPr>
        <p:spPr>
          <a:xfrm>
            <a:off x="1714500" y="52959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Automatic documentation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FD246C-E8E2-457D-90B6-CC873B82915E}"/>
              </a:ext>
            </a:extLst>
          </p:cNvPr>
          <p:cNvSpPr>
            <a:spLocks noGrp="1"/>
          </p:cNvSpPr>
          <p:nvPr/>
        </p:nvSpPr>
        <p:spPr>
          <a:xfrm>
            <a:off x="5143500" y="5295900"/>
            <a:ext cx="600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FastAPI generates Swagger UI and ReDoc directly from the route definitions.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273240-5CED-4D42-A4E9-0ACBC9671366}"/>
              </a:ext>
            </a:extLst>
          </p:cNvPr>
          <p:cNvSpPr>
            <a:spLocks noGrp="1"/>
          </p:cNvSpPr>
          <p:nvPr/>
        </p:nvSpPr>
        <p:spPr>
          <a:xfrm>
            <a:off x="800100" y="590518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2E3291-4749-0CFE-A34B-F1094D0FAD0E}"/>
              </a:ext>
            </a:extLst>
          </p:cNvPr>
          <p:cNvSpPr>
            <a:spLocks noGrp="1"/>
          </p:cNvSpPr>
          <p:nvPr/>
        </p:nvSpPr>
        <p:spPr>
          <a:xfrm>
            <a:off x="800100" y="3647736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C41098E-9351-4BAA-BD76-4007E45E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514350"/>
            <a:ext cx="47625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9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DCCCAC5-CDAF-475C-B7A8-A47AF16F8634}"/>
              </a:ext>
            </a:extLst>
          </p:cNvPr>
          <p:cNvCxnSpPr>
            <a:stCxn id="19" idx="3"/>
            <a:endCxn id="22" idx="1"/>
          </p:cNvCxnSpPr>
          <p:nvPr/>
        </p:nvCxnSpPr>
        <p:spPr>
          <a:xfrm>
            <a:off x="9772650" y="3219450"/>
            <a:ext cx="361950" cy="0"/>
          </a:xfrm>
          <a:prstGeom prst="straightConnector1">
            <a:avLst/>
          </a:prstGeom>
          <a:ln w="19050">
            <a:solidFill>
              <a:srgbClr val="E76F51"/>
            </a:solidFill>
            <a:prstDash val="solid"/>
            <a:tailEnd type="triangle" w="sm" len="sm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D446C17-E24C-4932-A176-C5CF15B479A1}"/>
              </a:ext>
            </a:extLst>
          </p:cNvPr>
          <p:cNvCxnSpPr>
            <a:stCxn id="16" idx="3"/>
            <a:endCxn id="19" idx="1"/>
          </p:cNvCxnSpPr>
          <p:nvPr/>
        </p:nvCxnSpPr>
        <p:spPr>
          <a:xfrm>
            <a:off x="7848600" y="3219450"/>
            <a:ext cx="361950" cy="0"/>
          </a:xfrm>
          <a:prstGeom prst="straightConnector1">
            <a:avLst/>
          </a:prstGeom>
          <a:ln w="19050">
            <a:solidFill>
              <a:srgbClr val="E76F51"/>
            </a:solidFill>
            <a:prstDash val="solid"/>
            <a:tailEnd type="triangle" w="sm" len="sm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FCD9FE1-A2F4-4E18-869F-B02033CDCE67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>
            <a:off x="5924550" y="3219450"/>
            <a:ext cx="361950" cy="0"/>
          </a:xfrm>
          <a:prstGeom prst="straightConnector1">
            <a:avLst/>
          </a:prstGeom>
          <a:ln w="19050">
            <a:solidFill>
              <a:srgbClr val="E76F51"/>
            </a:solidFill>
            <a:prstDash val="solid"/>
            <a:tailEnd type="triangle" w="sm" len="sm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C0968A9-5926-4707-B42F-A567C2FF7E09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4000500" y="3219450"/>
            <a:ext cx="361950" cy="0"/>
          </a:xfrm>
          <a:prstGeom prst="straightConnector1">
            <a:avLst/>
          </a:prstGeom>
          <a:ln w="19050">
            <a:solidFill>
              <a:srgbClr val="E76F51"/>
            </a:solidFill>
            <a:prstDash val="solid"/>
            <a:tailEnd type="triangle" w="sm" len="sm"/>
          </a:ln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4A56666-81BE-4AD1-AF19-8485728D0DDB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2076450" y="3219450"/>
            <a:ext cx="361950" cy="0"/>
          </a:xfrm>
          <a:prstGeom prst="straightConnector1">
            <a:avLst/>
          </a:prstGeom>
          <a:ln w="19050">
            <a:solidFill>
              <a:srgbClr val="E76F51"/>
            </a:solidFill>
            <a:prstDash val="solid"/>
            <a:tailEnd type="triangle" w="sm" len="sm"/>
          </a:ln>
        </p:spPr>
      </p:cxnSp>
      <p:sp>
        <p:nvSpPr>
          <p:cNvPr id="31" name="section-label">
            <a:extLst>
              <a:ext uri="{FF2B5EF4-FFF2-40B4-BE49-F238E27FC236}">
                <a16:creationId xmlns:a16="http://schemas.microsoft.com/office/drawing/2014/main" id="{C6F64456-5B2C-4634-B90F-B41951A8116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HOW FASTAPI WORKS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AE4D244-F8E9-4EFD-A5E0-94B1F9816092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How a request moves through the app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5FB53CD8-B3B9-45B0-9174-3888BB16DE94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Each component has one clear job in the request path.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0661F0-66C7-42C2-B76E-57BC51A1AED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34BDB3A2-76F1-4D79-BB34-96E7F07AE10F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A4C611E4-B1CB-455C-8C52-7775AA1C67C6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754EFC8-36F5-4102-A127-BBD1B911F770}"/>
              </a:ext>
            </a:extLst>
          </p:cNvPr>
          <p:cNvSpPr>
            <a:spLocks noGrp="1"/>
          </p:cNvSpPr>
          <p:nvPr/>
        </p:nvSpPr>
        <p:spPr>
          <a:xfrm>
            <a:off x="514350" y="2590800"/>
            <a:ext cx="156210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9D7D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51E4B8-5644-482C-848D-D818DD46C2E0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E41B9-ECC3-436F-9CF3-529C3025E872}"/>
              </a:ext>
            </a:extLst>
          </p:cNvPr>
          <p:cNvSpPr>
            <a:spLocks noGrp="1"/>
          </p:cNvSpPr>
          <p:nvPr/>
        </p:nvSpPr>
        <p:spPr>
          <a:xfrm>
            <a:off x="628650" y="31242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Sends an HTTP request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C40B2DD-1480-4767-8810-D237C4836FB1}"/>
              </a:ext>
            </a:extLst>
          </p:cNvPr>
          <p:cNvSpPr>
            <a:spLocks noGrp="1"/>
          </p:cNvSpPr>
          <p:nvPr/>
        </p:nvSpPr>
        <p:spPr>
          <a:xfrm>
            <a:off x="2438400" y="2590800"/>
            <a:ext cx="156210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9D7D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C731CD-F69D-4B2B-B027-7598D09E25B8}"/>
              </a:ext>
            </a:extLst>
          </p:cNvPr>
          <p:cNvSpPr>
            <a:spLocks noGrp="1"/>
          </p:cNvSpPr>
          <p:nvPr/>
        </p:nvSpPr>
        <p:spPr>
          <a:xfrm>
            <a:off x="2533650" y="2781300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UVICORN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F6D236-CB0A-43EA-BF27-E1E7C165D91E}"/>
              </a:ext>
            </a:extLst>
          </p:cNvPr>
          <p:cNvSpPr>
            <a:spLocks noGrp="1"/>
          </p:cNvSpPr>
          <p:nvPr/>
        </p:nvSpPr>
        <p:spPr>
          <a:xfrm>
            <a:off x="2552700" y="31242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Receives the connection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ED69665-692C-46A8-983B-B99E341793B6}"/>
              </a:ext>
            </a:extLst>
          </p:cNvPr>
          <p:cNvSpPr>
            <a:spLocks noGrp="1"/>
          </p:cNvSpPr>
          <p:nvPr/>
        </p:nvSpPr>
        <p:spPr>
          <a:xfrm>
            <a:off x="4362450" y="2590800"/>
            <a:ext cx="1562100" cy="1257300"/>
          </a:xfrm>
          <a:prstGeom prst="roundRect">
            <a:avLst>
              <a:gd name="adj" fmla="val 7576"/>
            </a:avLst>
          </a:prstGeom>
          <a:solidFill>
            <a:srgbClr val="087F73"/>
          </a:solidFill>
          <a:ln w="9525">
            <a:solidFill>
              <a:srgbClr val="087F7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BF90D8-EC37-44B7-8130-338FBC08F8ED}"/>
              </a:ext>
            </a:extLst>
          </p:cNvPr>
          <p:cNvSpPr>
            <a:spLocks noGrp="1"/>
          </p:cNvSpPr>
          <p:nvPr/>
        </p:nvSpPr>
        <p:spPr>
          <a:xfrm>
            <a:off x="4457700" y="2781300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FF4DB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676669-E6FB-46FC-9CE9-D7FE69F24070}"/>
              </a:ext>
            </a:extLst>
          </p:cNvPr>
          <p:cNvSpPr>
            <a:spLocks noGrp="1"/>
          </p:cNvSpPr>
          <p:nvPr/>
        </p:nvSpPr>
        <p:spPr>
          <a:xfrm>
            <a:off x="4476750" y="31242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Selects the matching route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81D492-43D7-41CE-8670-1337DF04833C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156210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9D7D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02831E-44D4-4E09-A62B-2B4205DAB487}"/>
              </a:ext>
            </a:extLst>
          </p:cNvPr>
          <p:cNvSpPr>
            <a:spLocks noGrp="1"/>
          </p:cNvSpPr>
          <p:nvPr/>
        </p:nvSpPr>
        <p:spPr>
          <a:xfrm>
            <a:off x="6381750" y="2781300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PYDANTIC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D7F9A3-7A9F-4B6B-A1F1-4AE2645C9D49}"/>
              </a:ext>
            </a:extLst>
          </p:cNvPr>
          <p:cNvSpPr>
            <a:spLocks noGrp="1"/>
          </p:cNvSpPr>
          <p:nvPr/>
        </p:nvSpPr>
        <p:spPr>
          <a:xfrm>
            <a:off x="6400800" y="31242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Checks and converts data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1AFE2BB-F6C3-457F-B7BA-89EB110137B9}"/>
              </a:ext>
            </a:extLst>
          </p:cNvPr>
          <p:cNvSpPr>
            <a:spLocks noGrp="1"/>
          </p:cNvSpPr>
          <p:nvPr/>
        </p:nvSpPr>
        <p:spPr>
          <a:xfrm>
            <a:off x="8210550" y="2590800"/>
            <a:ext cx="156210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9D7D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740808-632D-4634-A166-9BF0F16FEEAA}"/>
              </a:ext>
            </a:extLst>
          </p:cNvPr>
          <p:cNvSpPr>
            <a:spLocks noGrp="1"/>
          </p:cNvSpPr>
          <p:nvPr/>
        </p:nvSpPr>
        <p:spPr>
          <a:xfrm>
            <a:off x="8305800" y="2781300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42DA89-8B9A-4392-B1AC-829E723E2B66}"/>
              </a:ext>
            </a:extLst>
          </p:cNvPr>
          <p:cNvSpPr>
            <a:spLocks noGrp="1"/>
          </p:cNvSpPr>
          <p:nvPr/>
        </p:nvSpPr>
        <p:spPr>
          <a:xfrm>
            <a:off x="8324850" y="31242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Reads or changes tasks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2A9D2B5-D14D-4DF3-8C86-393790EC05DC}"/>
              </a:ext>
            </a:extLst>
          </p:cNvPr>
          <p:cNvSpPr>
            <a:spLocks noGrp="1"/>
          </p:cNvSpPr>
          <p:nvPr/>
        </p:nvSpPr>
        <p:spPr>
          <a:xfrm>
            <a:off x="10134600" y="2590800"/>
            <a:ext cx="156210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C9D7D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1A0D0C-2399-433F-BAB6-85F672B6E76E}"/>
              </a:ext>
            </a:extLst>
          </p:cNvPr>
          <p:cNvSpPr>
            <a:spLocks noGrp="1"/>
          </p:cNvSpPr>
          <p:nvPr/>
        </p:nvSpPr>
        <p:spPr>
          <a:xfrm>
            <a:off x="10229850" y="2781300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C2A456-9B9B-434B-9231-D4A7171E18C6}"/>
              </a:ext>
            </a:extLst>
          </p:cNvPr>
          <p:cNvSpPr>
            <a:spLocks noGrp="1"/>
          </p:cNvSpPr>
          <p:nvPr/>
        </p:nvSpPr>
        <p:spPr>
          <a:xfrm>
            <a:off x="10248900" y="31242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25" b="0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Returns JSON and status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D02A1B-A68C-4907-808E-5C84EB7D32EB}"/>
              </a:ext>
            </a:extLst>
          </p:cNvPr>
          <p:cNvSpPr>
            <a:spLocks noGrp="1"/>
          </p:cNvSpPr>
          <p:nvPr/>
        </p:nvSpPr>
        <p:spPr>
          <a:xfrm>
            <a:off x="2857500" y="4552950"/>
            <a:ext cx="647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9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5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The response includes JSON data and an HTTP status code.</a:t>
            </a:r>
          </a:p>
        </p:txBody>
      </p:sp>
    </p:spTree>
    <p:extLst>
      <p:ext uri="{BB962C8B-B14F-4D97-AF65-F5344CB8AC3E}">
        <p14:creationId xmlns:p14="http://schemas.microsoft.com/office/powerpoint/2010/main" val="82234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AF6"/>
            </a:gs>
            <a:gs pos="100000">
              <a:srgbClr val="EEF7F2"/>
            </a:gs>
          </a:gsLst>
          <a:lin ang="7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76850E3-B31B-41CB-805A-9FF69B4B460D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7219950" y="3390900"/>
            <a:ext cx="1123950" cy="171450"/>
          </a:xfrm>
          <a:prstGeom prst="straightConnector1">
            <a:avLst/>
          </a:prstGeom>
          <a:ln w="19050">
            <a:solidFill>
              <a:srgbClr val="E76F51"/>
            </a:solidFill>
            <a:prstDash val="solid"/>
            <a:tailEnd type="triangle" w="sm" len="sm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5EA40C5-CC47-482A-BB2E-F3E3F6F6F1BA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3429000" y="3390900"/>
            <a:ext cx="1123950" cy="0"/>
          </a:xfrm>
          <a:prstGeom prst="straightConnector1">
            <a:avLst/>
          </a:prstGeom>
          <a:ln w="19050">
            <a:solidFill>
              <a:srgbClr val="E76F51"/>
            </a:solidFill>
            <a:prstDash val="solid"/>
            <a:tailEnd type="triangle" w="sm" len="sm"/>
          </a:ln>
        </p:spPr>
      </p:cxnSp>
      <p:sp>
        <p:nvSpPr>
          <p:cNvPr id="21" name="section-label">
            <a:extLst>
              <a:ext uri="{FF2B5EF4-FFF2-40B4-BE49-F238E27FC236}">
                <a16:creationId xmlns:a16="http://schemas.microsoft.com/office/drawing/2014/main" id="{1542E473-3290-4675-8E8B-1269F34BFCE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HTTP REQUEST EXAMPLE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C4982F4-67FB-4FEB-9C5F-36690AAFB423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GET /tasks from request to response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D39DDE7F-2C41-4DFA-9FCC-092551B41113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client asks for the current task list. FastAPI returns JSON.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EC00C2-373B-4061-8CD8-BA54C2B5F5F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9F841AE5-7A3F-4D54-B653-90AE865FD043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80052E46-EEDF-48F1-9B9C-2A86DDA3C5DB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CA04C4-074B-4E4C-AD98-D2B2CF3A1FE8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2724150" cy="2133600"/>
          </a:xfrm>
          <a:prstGeom prst="roundRect">
            <a:avLst>
              <a:gd name="adj" fmla="val 5357"/>
            </a:avLst>
          </a:prstGeom>
          <a:solidFill>
            <a:srgbClr val="102A3A"/>
          </a:solidFill>
          <a:ln w="9525">
            <a:solidFill>
              <a:srgbClr val="24485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A80C2B-4E21-4C8A-984C-E1866515BA0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2305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9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rPr>
              <a:t>REQUEST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EA5E61-6C62-4188-AC7C-462D3B90DC95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2343150" cy="9525"/>
          </a:xfrm>
          <a:prstGeom prst="rect">
            <a:avLst/>
          </a:prstGeom>
          <a:solidFill>
            <a:srgbClr val="2F5261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70BA51-7FC2-4C93-BAAF-E59F7D9F0EE0}"/>
              </a:ext>
            </a:extLst>
          </p:cNvPr>
          <p:cNvSpPr>
            <a:spLocks noGrp="1"/>
          </p:cNvSpPr>
          <p:nvPr/>
        </p:nvSpPr>
        <p:spPr>
          <a:xfrm>
            <a:off x="933450" y="2971800"/>
            <a:ext cx="22669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05000"/>
              </a:lnSpc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GET /tasks</a:t>
            </a:r>
          </a:p>
          <a:p>
            <a:endParaRPr sz="1425" b="0" i="0">
              <a:solidFill>
                <a:srgbClr val="D9E8EE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Accept: application/json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FBD346E-0414-4DBA-90B6-B870B3771AB9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2667000" cy="1409700"/>
          </a:xfrm>
          <a:prstGeom prst="roundRect">
            <a:avLst>
              <a:gd name="adj" fmla="val 8108"/>
            </a:avLst>
          </a:prstGeom>
          <a:solidFill>
            <a:srgbClr val="087F73"/>
          </a:solidFill>
          <a:ln w="9525">
            <a:solidFill>
              <a:srgbClr val="087F7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221A30-8F77-44FA-9D67-145C9A898C25}"/>
              </a:ext>
            </a:extLst>
          </p:cNvPr>
          <p:cNvSpPr>
            <a:spLocks noGrp="1"/>
          </p:cNvSpPr>
          <p:nvPr/>
        </p:nvSpPr>
        <p:spPr>
          <a:xfrm>
            <a:off x="4762500" y="291465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0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350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25" b="1" i="0">
                <a:solidFill>
                  <a:srgbClr val="BFF4D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FF4DB"/>
                </a:solidFill>
                <a:latin typeface="Aptos"/>
                <a:ea typeface="Aptos"/>
                <a:cs typeface="Aptos"/>
              </a:rPr>
              <a:t>FASTAPI ROUTE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284FB6-3589-4934-AE00-5AFA9161B99B}"/>
              </a:ext>
            </a:extLst>
          </p:cNvPr>
          <p:cNvSpPr>
            <a:spLocks noGrp="1"/>
          </p:cNvSpPr>
          <p:nvPr/>
        </p:nvSpPr>
        <p:spPr>
          <a:xfrm>
            <a:off x="4762500" y="3352800"/>
            <a:ext cx="2247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defPPr>
            <a:lvl1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1pPr>
            <a:lvl2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2pPr>
            <a:lvl3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3pPr>
            <a:lvl4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4pPr>
            <a:lvl5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5pPr>
            <a:lvl6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6pPr>
            <a:lvl7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7pPr>
            <a:lvl8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8pPr>
            <a:lvl9pPr algn="ctr">
              <a:buNone/>
              <a:def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ctr">
              <a:buNone/>
              <a:defRPr sz="1725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 i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list_tasks()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177C63F-B63C-40DE-863C-D459B1714E00}"/>
              </a:ext>
            </a:extLst>
          </p:cNvPr>
          <p:cNvSpPr>
            <a:spLocks noGrp="1"/>
          </p:cNvSpPr>
          <p:nvPr/>
        </p:nvSpPr>
        <p:spPr>
          <a:xfrm>
            <a:off x="8343900" y="2114550"/>
            <a:ext cx="3143250" cy="2895600"/>
          </a:xfrm>
          <a:prstGeom prst="roundRect">
            <a:avLst>
              <a:gd name="adj" fmla="val 3947"/>
            </a:avLst>
          </a:prstGeom>
          <a:solidFill>
            <a:srgbClr val="102A3A"/>
          </a:solidFill>
          <a:ln w="9525">
            <a:solidFill>
              <a:srgbClr val="24485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B9A297-D099-4BD9-8808-0074E0C18823}"/>
              </a:ext>
            </a:extLst>
          </p:cNvPr>
          <p:cNvSpPr>
            <a:spLocks noGrp="1"/>
          </p:cNvSpPr>
          <p:nvPr/>
        </p:nvSpPr>
        <p:spPr>
          <a:xfrm>
            <a:off x="8553450" y="2286000"/>
            <a:ext cx="272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9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rPr>
              <a:t>SHORTENED JSON RESPONSE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B1E44B-9615-4FD4-9654-50A3DC288159}"/>
              </a:ext>
            </a:extLst>
          </p:cNvPr>
          <p:cNvSpPr>
            <a:spLocks noGrp="1"/>
          </p:cNvSpPr>
          <p:nvPr/>
        </p:nvSpPr>
        <p:spPr>
          <a:xfrm>
            <a:off x="8534400" y="2609850"/>
            <a:ext cx="2762250" cy="9525"/>
          </a:xfrm>
          <a:prstGeom prst="rect">
            <a:avLst/>
          </a:prstGeom>
          <a:solidFill>
            <a:srgbClr val="2F5261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F5CD6D-568E-439C-8659-056BC01BED2C}"/>
              </a:ext>
            </a:extLst>
          </p:cNvPr>
          <p:cNvSpPr>
            <a:spLocks noGrp="1"/>
          </p:cNvSpPr>
          <p:nvPr/>
        </p:nvSpPr>
        <p:spPr>
          <a:xfrm>
            <a:off x="8572500" y="2762250"/>
            <a:ext cx="2686050" cy="2057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226"/>
          </a:bodyPr>
          <a:lstStyle>
            <a:defPPr algn="l">
              <a:def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200 OK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[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{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"id": 1,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"title": "Rehearse the demo",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"status": "todo",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"priority": 5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>
            <a:pPr algn="l">
              <a:lnSpc>
                <a:spcPct val="105000"/>
              </a:lnSpc>
              <a:buNone/>
              <a:defRPr sz="11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]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31B03F0-6A5A-4329-93B8-1C6804407E37}"/>
              </a:ext>
            </a:extLst>
          </p:cNvPr>
          <p:cNvSpPr>
            <a:spLocks noGrp="1"/>
          </p:cNvSpPr>
          <p:nvPr/>
        </p:nvSpPr>
        <p:spPr>
          <a:xfrm>
            <a:off x="2571750" y="4838700"/>
            <a:ext cx="571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2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FastAPI serialises the response model as JSON.</a:t>
            </a:r>
          </a:p>
          <a:p>
            <a:pPr algn="ctr">
              <a:buNone/>
              <a:defRPr sz="12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client also receives the 200 status code.</a:t>
            </a:r>
          </a:p>
        </p:txBody>
      </p:sp>
    </p:spTree>
    <p:extLst>
      <p:ext uri="{BB962C8B-B14F-4D97-AF65-F5344CB8AC3E}">
        <p14:creationId xmlns:p14="http://schemas.microsoft.com/office/powerpoint/2010/main" val="82234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label">
            <a:extLst>
              <a:ext uri="{FF2B5EF4-FFF2-40B4-BE49-F238E27FC236}">
                <a16:creationId xmlns:a16="http://schemas.microsoft.com/office/drawing/2014/main" id="{091FF6D2-A824-4C36-8C01-7CADBC85A06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APPLICATION SCENARIO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438E6EB-3BAD-4126-90AB-2E464297F1F2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6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A task tracker for presentation work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683E47D5-3140-4151-A2F3-9CB9C3C7C011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Small enough for one lab, complete enough to show a REST workflow.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78FAB-5EE5-4344-A3FB-81AAFB30EA7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2AD94370-58BD-40C3-9DD4-A59A6B22743F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FAA6F670-DBAF-45B8-899F-3770E4CC4B06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BBC906-78FD-4F2A-A3BE-3C1B7A671270}"/>
              </a:ext>
            </a:extLst>
          </p:cNvPr>
          <p:cNvSpPr>
            <a:spLocks noGrp="1"/>
          </p:cNvSpPr>
          <p:nvPr/>
        </p:nvSpPr>
        <p:spPr>
          <a:xfrm>
            <a:off x="723900" y="22479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REAL TASK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0EB679-467D-4B81-B04C-35AD9BDE2E63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4572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Check references, rehearse the demo and upload slides.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D36ED3-4E68-4F78-8BFB-81C32B573F2C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45720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0D0BCA-159F-44DA-9C2F-D05A9FB137E6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FOUR FIELDS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5F6983-AAC9-4C0C-8006-3E34C565FC36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4572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Title, description, status and priority from 1 to 5.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67006A-37B6-49E3-8212-0F9E2E3ABB77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45720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5A9629-8B6C-40EC-B972-9AA8CE43446A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TEACHING BOUNDARY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BAC59F-B699-409E-9FE8-568CA58487BF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Tasks stay in memory. Restarting the server clears them, so we can reset the classroom demo quickly.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5FB0115-ECE8-4D55-AADE-F70C7D2BD0B0}"/>
              </a:ext>
            </a:extLst>
          </p:cNvPr>
          <p:cNvSpPr>
            <a:spLocks noGrp="1"/>
          </p:cNvSpPr>
          <p:nvPr/>
        </p:nvSpPr>
        <p:spPr>
          <a:xfrm>
            <a:off x="6381750" y="2152650"/>
            <a:ext cx="4762500" cy="3257550"/>
          </a:xfrm>
          <a:prstGeom prst="roundRect">
            <a:avLst>
              <a:gd name="adj" fmla="val 3509"/>
            </a:avLst>
          </a:prstGeom>
          <a:solidFill>
            <a:srgbClr val="102A3A"/>
          </a:solidFill>
          <a:ln w="9525">
            <a:solidFill>
              <a:srgbClr val="24485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1A4CEE-21D8-42BF-9390-0F34E74FE811}"/>
              </a:ext>
            </a:extLst>
          </p:cNvPr>
          <p:cNvSpPr>
            <a:spLocks noGrp="1"/>
          </p:cNvSpPr>
          <p:nvPr/>
        </p:nvSpPr>
        <p:spPr>
          <a:xfrm>
            <a:off x="6591300" y="2324100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275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9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rPr>
              <a:t>A VALID TASK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2DFF3E-E000-4A8D-B015-7A65B63E89B3}"/>
              </a:ext>
            </a:extLst>
          </p:cNvPr>
          <p:cNvSpPr>
            <a:spLocks noGrp="1"/>
          </p:cNvSpPr>
          <p:nvPr/>
        </p:nvSpPr>
        <p:spPr>
          <a:xfrm>
            <a:off x="6572250" y="2647950"/>
            <a:ext cx="4381500" cy="9525"/>
          </a:xfrm>
          <a:prstGeom prst="rect">
            <a:avLst/>
          </a:prstGeom>
          <a:solidFill>
            <a:srgbClr val="2F5261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8E6551-F883-4E07-B8C4-15C67E7C8D2B}"/>
              </a:ext>
            </a:extLst>
          </p:cNvPr>
          <p:cNvSpPr>
            <a:spLocks noGrp="1"/>
          </p:cNvSpPr>
          <p:nvPr/>
        </p:nvSpPr>
        <p:spPr>
          <a:xfrm>
            <a:off x="6610350" y="2800350"/>
            <a:ext cx="43053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05000"/>
              </a:lnSpc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>
            <a:pPr algn="l">
              <a:lnSpc>
                <a:spcPct val="105000"/>
              </a:lnSpc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"title": "Rehearse the demo",</a:t>
            </a:r>
          </a:p>
          <a:p>
            <a:pPr algn="l">
              <a:lnSpc>
                <a:spcPct val="105000"/>
              </a:lnSpc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"description": "Practise demo",</a:t>
            </a:r>
          </a:p>
          <a:p>
            <a:pPr algn="l">
              <a:lnSpc>
                <a:spcPct val="105000"/>
              </a:lnSpc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"status": "todo",</a:t>
            </a:r>
          </a:p>
          <a:p>
            <a:pPr algn="l">
              <a:lnSpc>
                <a:spcPct val="105000"/>
              </a:lnSpc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"priority": 5</a:t>
            </a:r>
          </a:p>
          <a:p>
            <a:pPr algn="l">
              <a:lnSpc>
                <a:spcPct val="105000"/>
              </a:lnSpc>
              <a:buNone/>
              <a:defRPr sz="150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519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ion-label">
            <a:extLst>
              <a:ext uri="{FF2B5EF4-FFF2-40B4-BE49-F238E27FC236}">
                <a16:creationId xmlns:a16="http://schemas.microsoft.com/office/drawing/2014/main" id="{041C0475-900A-4BCC-B105-EC94784357A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REST DESIGN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D278374-4C26-4175-861D-2B6C04BACFD4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CRUD operations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A4D3657C-A6F6-4036-B997-B207610AF39E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HTTP method describes the action. The path identifies the task resource. Together they form a clear REST interface.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39E21B-EB73-4245-927E-6C9EB3B8A99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3CE2B013-746B-45C8-83C7-DACDE5BFB074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6FFFFFB5-353E-4628-AB06-D2C6F6BD079C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4E01DC-19BA-414D-8499-D02C7382D01A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302BE0-175C-4582-9380-D6F7B74FD435}"/>
              </a:ext>
            </a:extLst>
          </p:cNvPr>
          <p:cNvSpPr>
            <a:spLocks noGrp="1"/>
          </p:cNvSpPr>
          <p:nvPr/>
        </p:nvSpPr>
        <p:spPr>
          <a:xfrm>
            <a:off x="2476500" y="2038350"/>
            <a:ext cx="3733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3B3A73-CAEA-4149-BC2F-4DC744B2C04C}"/>
              </a:ext>
            </a:extLst>
          </p:cNvPr>
          <p:cNvSpPr>
            <a:spLocks noGrp="1"/>
          </p:cNvSpPr>
          <p:nvPr/>
        </p:nvSpPr>
        <p:spPr>
          <a:xfrm>
            <a:off x="6667500" y="2038350"/>
            <a:ext cx="443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TASK MANAGER ACTION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B90816-CAEA-4A9D-AD76-51198D51818C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9BC378-6441-463D-922B-7C9829C943FD}"/>
              </a:ext>
            </a:extLst>
          </p:cNvPr>
          <p:cNvSpPr>
            <a:spLocks noGrp="1"/>
          </p:cNvSpPr>
          <p:nvPr/>
        </p:nvSpPr>
        <p:spPr>
          <a:xfrm>
            <a:off x="2476500" y="240030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4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rPr>
              <a:t>/tasks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52978C-9059-4119-84D5-D0C26E8F229E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43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List all tasks.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3647EA-1BB3-4B45-A696-51B67AACFE49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103251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C500BF-2438-4892-A37F-45CBA9A8473B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62BC57-07B1-4B3E-90AE-96BAD7F40E6D}"/>
              </a:ext>
            </a:extLst>
          </p:cNvPr>
          <p:cNvSpPr>
            <a:spLocks noGrp="1"/>
          </p:cNvSpPr>
          <p:nvPr/>
        </p:nvSpPr>
        <p:spPr>
          <a:xfrm>
            <a:off x="2476500" y="300990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4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rPr>
              <a:t>/tasks/{task_id}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FF5A36-1A31-4F6C-A65E-CA56A045AF11}"/>
              </a:ext>
            </a:extLst>
          </p:cNvPr>
          <p:cNvSpPr>
            <a:spLocks noGrp="1"/>
          </p:cNvSpPr>
          <p:nvPr/>
        </p:nvSpPr>
        <p:spPr>
          <a:xfrm>
            <a:off x="6667500" y="3009900"/>
            <a:ext cx="443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Read one task.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800925-D4C0-4A47-A2F0-4C7B3AF35ABF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3251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CECE66-21F1-4E68-8957-2544FFFD06A3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89423B-8983-44C8-8A45-7F8CEB5887E1}"/>
              </a:ext>
            </a:extLst>
          </p:cNvPr>
          <p:cNvSpPr>
            <a:spLocks noGrp="1"/>
          </p:cNvSpPr>
          <p:nvPr/>
        </p:nvSpPr>
        <p:spPr>
          <a:xfrm>
            <a:off x="2476500" y="361950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4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rPr>
              <a:t>/tasks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1F6768-95CA-4D66-BB8F-18EFD6542FAC}"/>
              </a:ext>
            </a:extLst>
          </p:cNvPr>
          <p:cNvSpPr>
            <a:spLocks noGrp="1"/>
          </p:cNvSpPr>
          <p:nvPr/>
        </p:nvSpPr>
        <p:spPr>
          <a:xfrm>
            <a:off x="6667500" y="3619500"/>
            <a:ext cx="443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Create a validated task.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BCB3A2-BA2B-41C0-BA5B-82F1819A4DDA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3251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F9ADCB-37A2-4A07-887B-86D2E63DF765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 i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F87E177-A783-4D0F-A133-B81FFA2CD0C4}"/>
              </a:ext>
            </a:extLst>
          </p:cNvPr>
          <p:cNvSpPr>
            <a:spLocks noGrp="1"/>
          </p:cNvSpPr>
          <p:nvPr/>
        </p:nvSpPr>
        <p:spPr>
          <a:xfrm>
            <a:off x="2476500" y="422910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4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rPr>
              <a:t>/tasks/{task_id}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2EF185-5789-4487-8BF9-E56D0012E062}"/>
              </a:ext>
            </a:extLst>
          </p:cNvPr>
          <p:cNvSpPr>
            <a:spLocks noGrp="1"/>
          </p:cNvSpPr>
          <p:nvPr/>
        </p:nvSpPr>
        <p:spPr>
          <a:xfrm>
            <a:off x="6667500" y="4229100"/>
            <a:ext cx="443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Replace the editable fields.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7E9966-C77A-402A-8E92-F24EB8AA5323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103251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EBF443-F8C1-4082-B66F-DCC37B3BB238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 i="0">
                <a:solidFill>
                  <a:srgbClr val="C94B4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94B4B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E9A99B-DB6D-4519-BD3D-AAE108145957}"/>
              </a:ext>
            </a:extLst>
          </p:cNvPr>
          <p:cNvSpPr>
            <a:spLocks noGrp="1"/>
          </p:cNvSpPr>
          <p:nvPr/>
        </p:nvSpPr>
        <p:spPr>
          <a:xfrm>
            <a:off x="2476500" y="483870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65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4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rPr>
              <a:t>/tasks/{task_id}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B06D12-7AF0-42F9-BA96-34CC2B2607F8}"/>
              </a:ext>
            </a:extLst>
          </p:cNvPr>
          <p:cNvSpPr>
            <a:spLocks noGrp="1"/>
          </p:cNvSpPr>
          <p:nvPr/>
        </p:nvSpPr>
        <p:spPr>
          <a:xfrm>
            <a:off x="6667500" y="4838700"/>
            <a:ext cx="443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Remove one task.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B1B03E-07FA-49B5-99C1-5CB19DC71C9F}"/>
              </a:ext>
            </a:extLst>
          </p:cNvPr>
          <p:cNvSpPr>
            <a:spLocks noGrp="1"/>
          </p:cNvSpPr>
          <p:nvPr/>
        </p:nvSpPr>
        <p:spPr>
          <a:xfrm>
            <a:off x="781050" y="5334000"/>
            <a:ext cx="103251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31" name="fixed-crud-footer-label">
            <a:extLst>
              <a:ext uri="{FF2B5EF4-FFF2-40B4-BE49-F238E27FC236}">
                <a16:creationId xmlns:a16="http://schemas.microsoft.com/office/drawing/2014/main" id="{66891735-0FAF-4179-BFF9-3E5A9ECBCA7E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1">
                <a:solidFill>
                  <a:srgbClr val="566C78"/>
                </a:solidFill>
              </a:defRPr>
            </a:defPPr>
            <a:lvl1pPr algn="l">
              <a:buNone/>
              <a:defRPr sz="975" b="1">
                <a:solidFill>
                  <a:srgbClr val="566C78"/>
                </a:solidFill>
              </a:defRPr>
            </a:lvl1pPr>
            <a:lvl2pPr algn="l">
              <a:buNone/>
              <a:defRPr sz="975" b="1">
                <a:solidFill>
                  <a:srgbClr val="566C78"/>
                </a:solidFill>
              </a:defRPr>
            </a:lvl2pPr>
            <a:lvl3pPr algn="l">
              <a:buNone/>
              <a:defRPr sz="975" b="1">
                <a:solidFill>
                  <a:srgbClr val="566C78"/>
                </a:solidFill>
              </a:defRPr>
            </a:lvl3pPr>
            <a:lvl4pPr algn="l">
              <a:buNone/>
              <a:defRPr sz="975" b="1">
                <a:solidFill>
                  <a:srgbClr val="566C78"/>
                </a:solidFill>
              </a:defRPr>
            </a:lvl4pPr>
            <a:lvl5pPr algn="l">
              <a:buNone/>
              <a:defRPr sz="975" b="1">
                <a:solidFill>
                  <a:srgbClr val="566C78"/>
                </a:solidFill>
              </a:defRPr>
            </a:lvl5pPr>
            <a:lvl6pPr algn="l">
              <a:buNone/>
              <a:defRPr sz="975" b="1">
                <a:solidFill>
                  <a:srgbClr val="566C78"/>
                </a:solidFill>
              </a:defRPr>
            </a:lvl6pPr>
            <a:lvl7pPr algn="l">
              <a:buNone/>
              <a:defRPr sz="975" b="1">
                <a:solidFill>
                  <a:srgbClr val="566C78"/>
                </a:solidFill>
              </a:defRPr>
            </a:lvl7pPr>
            <a:lvl8pPr algn="l">
              <a:buNone/>
              <a:defRPr sz="975" b="1">
                <a:solidFill>
                  <a:srgbClr val="566C78"/>
                </a:solidFill>
              </a:defRPr>
            </a:lvl8pPr>
            <a:lvl9pPr algn="l">
              <a:buNone/>
              <a:defRPr sz="975" b="1">
                <a:solidFill>
                  <a:srgbClr val="566C78"/>
                </a:solidFill>
              </a:defRPr>
            </a:lvl9pPr>
          </a:lstStyle>
          <a:p>
            <a:pPr algn="l">
              <a:buNone/>
              <a:defRPr sz="975" b="1">
                <a:solidFill>
                  <a:srgbClr val="566C78"/>
                </a:solidFill>
              </a:defRPr>
            </a:pPr>
            <a:r>
              <a:rPr sz="975" b="1">
                <a:solidFill>
                  <a:srgbClr val="566C78"/>
                </a:solidFill>
              </a:rPr>
              <a:t>COMP10020 · FASTAPI</a:t>
            </a:r>
          </a:p>
        </p:txBody>
      </p:sp>
    </p:spTree>
    <p:extLst>
      <p:ext uri="{BB962C8B-B14F-4D97-AF65-F5344CB8AC3E}">
        <p14:creationId xmlns:p14="http://schemas.microsoft.com/office/powerpoint/2010/main" val="10405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ection-label">
            <a:extLst>
              <a:ext uri="{FF2B5EF4-FFF2-40B4-BE49-F238E27FC236}">
                <a16:creationId xmlns:a16="http://schemas.microsoft.com/office/drawing/2014/main" id="{5269CC0D-7D71-4FC6-95E9-BEC7F8FF0A0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REST DESIGN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E460170-B84C-4720-8A93-1F9F78B771B6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HTTP status codes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83F5A361-0ED5-4A2C-BBBA-CDDEA8240484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Each response code gives the client a short, standard result. This makes success and errors easy to understand.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F07A87-185B-44D2-9CE3-AD9B61075E4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9DB95596-8834-46CA-939E-3E7132C8ECD3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B674EBE1-6B12-49A4-99AA-BCB046C081E1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ECFE67-2DC0-4045-A2AE-F43179F6F113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8981FD-1595-424C-AF85-FC53CE4142A3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99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E79F49-6184-4B84-B5BE-CCEC329E38E7}"/>
              </a:ext>
            </a:extLst>
          </p:cNvPr>
          <p:cNvSpPr>
            <a:spLocks noGrp="1"/>
          </p:cNvSpPr>
          <p:nvPr/>
        </p:nvSpPr>
        <p:spPr>
          <a:xfrm>
            <a:off x="1790700" y="2514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D3B853-0E0F-438D-A80A-164CAC5EA561}"/>
              </a:ext>
            </a:extLst>
          </p:cNvPr>
          <p:cNvSpPr>
            <a:spLocks noGrp="1"/>
          </p:cNvSpPr>
          <p:nvPr/>
        </p:nvSpPr>
        <p:spPr>
          <a:xfrm>
            <a:off x="1790700" y="2838450"/>
            <a:ext cx="3733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request succeeded and returns data.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8B6B24-E522-408F-8948-D1E5BE0DEDA0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99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201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4BD219-8969-49E9-96F5-4B4FAC291B21}"/>
              </a:ext>
            </a:extLst>
          </p:cNvPr>
          <p:cNvSpPr>
            <a:spLocks noGrp="1"/>
          </p:cNvSpPr>
          <p:nvPr/>
        </p:nvSpPr>
        <p:spPr>
          <a:xfrm>
            <a:off x="1790700" y="35052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Created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FEBBFD-D3C3-4C52-934B-A54966E457DD}"/>
              </a:ext>
            </a:extLst>
          </p:cNvPr>
          <p:cNvSpPr>
            <a:spLocks noGrp="1"/>
          </p:cNvSpPr>
          <p:nvPr/>
        </p:nvSpPr>
        <p:spPr>
          <a:xfrm>
            <a:off x="1790700" y="3829050"/>
            <a:ext cx="3733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POST /tasks created a new task.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E59CD3-FC02-4A41-863D-93E01F828E16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99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204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2A0D2A-2188-4511-AC83-F1AE18C90B36}"/>
              </a:ext>
            </a:extLst>
          </p:cNvPr>
          <p:cNvSpPr>
            <a:spLocks noGrp="1"/>
          </p:cNvSpPr>
          <p:nvPr/>
        </p:nvSpPr>
        <p:spPr>
          <a:xfrm>
            <a:off x="1790700" y="44958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No Content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8912F5-B8FC-4FAA-A8B0-FAC8FA0E4F14}"/>
              </a:ext>
            </a:extLst>
          </p:cNvPr>
          <p:cNvSpPr>
            <a:spLocks noGrp="1"/>
          </p:cNvSpPr>
          <p:nvPr/>
        </p:nvSpPr>
        <p:spPr>
          <a:xfrm>
            <a:off x="1790700" y="4819650"/>
            <a:ext cx="3733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DELETE succeeded. No response body is needed.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505016-F396-4CE6-9D64-BE2149CA21D1}"/>
              </a:ext>
            </a:extLst>
          </p:cNvPr>
          <p:cNvSpPr>
            <a:spLocks noGrp="1"/>
          </p:cNvSpPr>
          <p:nvPr/>
        </p:nvSpPr>
        <p:spPr>
          <a:xfrm>
            <a:off x="5943600" y="2152650"/>
            <a:ext cx="14288" cy="3524250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08B06E-2B7B-4D4B-AB01-4CB80FB115A4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0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CLIENT ERRORS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9FCE3D-ACA0-4BE6-9E47-4C86AADD13ED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99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404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2B5E0B-C861-4F41-8334-7B116585FAD6}"/>
              </a:ext>
            </a:extLst>
          </p:cNvPr>
          <p:cNvSpPr>
            <a:spLocks noGrp="1"/>
          </p:cNvSpPr>
          <p:nvPr/>
        </p:nvSpPr>
        <p:spPr>
          <a:xfrm>
            <a:off x="7581900" y="27813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Not Found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D4C2F2-C0E4-4041-9F2D-B1C07830FFDC}"/>
              </a:ext>
            </a:extLst>
          </p:cNvPr>
          <p:cNvSpPr>
            <a:spLocks noGrp="1"/>
          </p:cNvSpPr>
          <p:nvPr/>
        </p:nvSpPr>
        <p:spPr>
          <a:xfrm>
            <a:off x="7581900" y="3105150"/>
            <a:ext cx="3733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requested task ID does not exist.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9F7E18-DF79-4E7B-931D-486F4BB7EFE6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99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422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2B2E719-6C92-42EB-88FB-B57A58F6F7F9}"/>
              </a:ext>
            </a:extLst>
          </p:cNvPr>
          <p:cNvSpPr>
            <a:spLocks noGrp="1"/>
          </p:cNvSpPr>
          <p:nvPr/>
        </p:nvSpPr>
        <p:spPr>
          <a:xfrm>
            <a:off x="7581900" y="41148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Validation Error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0E4332-A5C7-49B2-975B-09F8B31B8A6C}"/>
              </a:ext>
            </a:extLst>
          </p:cNvPr>
          <p:cNvSpPr>
            <a:spLocks noGrp="1"/>
          </p:cNvSpPr>
          <p:nvPr/>
        </p:nvSpPr>
        <p:spPr>
          <a:xfrm>
            <a:off x="7581900" y="4438650"/>
            <a:ext cx="3733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85"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request breaks a Pydantic validation rule.</a:t>
            </a:r>
          </a:p>
        </p:txBody>
      </p:sp>
    </p:spTree>
    <p:extLst>
      <p:ext uri="{BB962C8B-B14F-4D97-AF65-F5344CB8AC3E}">
        <p14:creationId xmlns:p14="http://schemas.microsoft.com/office/powerpoint/2010/main" val="10405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EB410F0-882E-41C5-84B7-D74A57A3C33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975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55A52"/>
                </a:solidFill>
                <a:latin typeface="Aptos"/>
                <a:ea typeface="Aptos"/>
                <a:cs typeface="Aptos"/>
              </a:rPr>
              <a:t>CODE EXAMPLES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3ABFE5-0711-44E2-BCCD-E2B122880C22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95000"/>
              </a:lnSpc>
              <a:buNone/>
              <a:defRPr sz="28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Routes connect HTTP requests to Python functions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C04CC1-5E39-41C0-8FB3-A654EAB8D334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1000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FastAPI keeps the route declaration close to the Python function. The decorator links each HTTP request to the correct code.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989758-0607-481C-A906-AB4A17C2FF3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8E2AE9-BD0D-4CF2-A2CE-31786D7CDD9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82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6A6753-17D8-4806-9CEF-12A3E86AAA74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0000"/>
              </a:lnSpc>
              <a:buNone/>
              <a:defRPr sz="82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192A11C-6527-4BFA-934A-A7ADC48961A8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4762500" cy="2724150"/>
          </a:xfrm>
          <a:prstGeom prst="roundRect">
            <a:avLst>
              <a:gd name="adj" fmla="val 4196"/>
            </a:avLst>
          </a:prstGeom>
          <a:solidFill>
            <a:srgbClr val="0E1C27"/>
          </a:solidFill>
          <a:ln w="9525">
            <a:solidFill>
              <a:srgbClr val="263B4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9C20E0-0A81-44CE-99D6-4648D97C6969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4762500" cy="9525"/>
          </a:xfrm>
          <a:prstGeom prst="rect">
            <a:avLst/>
          </a:prstGeom>
          <a:solidFill>
            <a:srgbClr val="263B4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AC8CF1-D42C-4AEB-80F9-B5B77CB728BA}"/>
              </a:ext>
            </a:extLst>
          </p:cNvPr>
          <p:cNvSpPr>
            <a:spLocks noGrp="1"/>
          </p:cNvSpPr>
          <p:nvPr/>
        </p:nvSpPr>
        <p:spPr>
          <a:xfrm>
            <a:off x="838200" y="2390775"/>
            <a:ext cx="441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35"/>
          </a:bodyPr>
          <a:lstStyle>
            <a:defPPr algn="l">
              <a:defRPr sz="1275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00000"/>
              </a:lnSpc>
              <a:buNone/>
              <a:defRPr sz="9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rPr>
              <a:t>Step 1 · list tasks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E1E178-B599-420F-8ECE-6913A7B29CA1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4343400" cy="201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6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20000"/>
              </a:lnSpc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@app.get("/tasks")</a:t>
            </a:r>
          </a:p>
          <a:p>
            <a:pPr algn="l">
              <a:lnSpc>
                <a:spcPct val="120000"/>
              </a:lnSpc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def list_tasks():</a:t>
            </a:r>
          </a:p>
          <a:p>
            <a:pPr algn="l">
              <a:lnSpc>
                <a:spcPct val="120000"/>
              </a:lnSpc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    return repository.list_all()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4CA49C1-6886-450B-BE04-CF4B0695C307}"/>
              </a:ext>
            </a:extLst>
          </p:cNvPr>
          <p:cNvSpPr>
            <a:spLocks noGrp="1"/>
          </p:cNvSpPr>
          <p:nvPr/>
        </p:nvSpPr>
        <p:spPr>
          <a:xfrm>
            <a:off x="6762750" y="2266950"/>
            <a:ext cx="4762500" cy="2724150"/>
          </a:xfrm>
          <a:prstGeom prst="roundRect">
            <a:avLst>
              <a:gd name="adj" fmla="val 4196"/>
            </a:avLst>
          </a:prstGeom>
          <a:solidFill>
            <a:srgbClr val="0E1C27"/>
          </a:solidFill>
          <a:ln w="9525">
            <a:solidFill>
              <a:srgbClr val="263B4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8E519F-A3D4-46DF-B01A-53472A9057AE}"/>
              </a:ext>
            </a:extLst>
          </p:cNvPr>
          <p:cNvSpPr>
            <a:spLocks noGrp="1"/>
          </p:cNvSpPr>
          <p:nvPr/>
        </p:nvSpPr>
        <p:spPr>
          <a:xfrm>
            <a:off x="6762750" y="2667000"/>
            <a:ext cx="4762500" cy="9525"/>
          </a:xfrm>
          <a:prstGeom prst="rect">
            <a:avLst/>
          </a:prstGeom>
          <a:solidFill>
            <a:srgbClr val="263B4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EA8747-08B5-4B8D-AE41-1E3D3E3463A0}"/>
              </a:ext>
            </a:extLst>
          </p:cNvPr>
          <p:cNvSpPr>
            <a:spLocks noGrp="1"/>
          </p:cNvSpPr>
          <p:nvPr/>
        </p:nvSpPr>
        <p:spPr>
          <a:xfrm>
            <a:off x="6934200" y="2390775"/>
            <a:ext cx="441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35"/>
          </a:bodyPr>
          <a:lstStyle>
            <a:defPPr algn="l">
              <a:defRPr sz="1275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2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00000"/>
              </a:lnSpc>
              <a:buNone/>
              <a:defRPr sz="900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 i="0">
                <a:solidFill>
                  <a:srgbClr val="A8BAC6"/>
                </a:solidFill>
                <a:latin typeface="Cascadia Mono"/>
                <a:ea typeface="Cascadia Mono"/>
                <a:cs typeface="Cascadia Mono"/>
              </a:rPr>
              <a:t>Step 2 · create a task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3D29FE-27DE-4080-A6B4-6387FC903EFB}"/>
              </a:ext>
            </a:extLst>
          </p:cNvPr>
          <p:cNvSpPr>
            <a:spLocks noGrp="1"/>
          </p:cNvSpPr>
          <p:nvPr/>
        </p:nvSpPr>
        <p:spPr>
          <a:xfrm>
            <a:off x="6972300" y="2819400"/>
            <a:ext cx="4343400" cy="201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50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14000"/>
              </a:lnSpc>
              <a:buNone/>
              <a:defRPr sz="13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@app.post(</a:t>
            </a:r>
          </a:p>
          <a:p>
            <a:pPr algn="l">
              <a:lnSpc>
                <a:spcPct val="114000"/>
              </a:lnSpc>
              <a:buNone/>
              <a:defRPr sz="13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    "/tasks",</a:t>
            </a:r>
          </a:p>
          <a:p>
            <a:pPr algn="l">
              <a:lnSpc>
                <a:spcPct val="114000"/>
              </a:lnSpc>
              <a:buNone/>
              <a:defRPr sz="13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    response_model=TaskRead,</a:t>
            </a:r>
          </a:p>
          <a:p>
            <a:pPr algn="l">
              <a:lnSpc>
                <a:spcPct val="114000"/>
              </a:lnSpc>
              <a:buNone/>
              <a:defRPr sz="13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    status_code=201,</a:t>
            </a:r>
          </a:p>
          <a:p>
            <a:pPr algn="l">
              <a:lnSpc>
                <a:spcPct val="114000"/>
              </a:lnSpc>
              <a:buNone/>
              <a:defRPr sz="13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>
            <a:pPr algn="l">
              <a:lnSpc>
                <a:spcPct val="114000"/>
              </a:lnSpc>
              <a:buNone/>
              <a:defRPr sz="13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def create_task(data: TaskCreate):</a:t>
            </a:r>
          </a:p>
          <a:p>
            <a:pPr algn="l">
              <a:lnSpc>
                <a:spcPct val="114000"/>
              </a:lnSpc>
              <a:buNone/>
              <a:defRPr sz="1350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 i="0">
                <a:solidFill>
                  <a:srgbClr val="D6E6EF"/>
                </a:solidFill>
                <a:latin typeface="Cascadia Mono"/>
                <a:ea typeface="Cascadia Mono"/>
                <a:cs typeface="Cascadia Mono"/>
              </a:rPr>
              <a:t>    return repository.create(data)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66E3E3-BE26-4070-9AD0-66210B36181F}"/>
              </a:ext>
            </a:extLst>
          </p:cNvPr>
          <p:cNvSpPr>
            <a:spLocks noGrp="1"/>
          </p:cNvSpPr>
          <p:nvPr/>
        </p:nvSpPr>
        <p:spPr>
          <a:xfrm>
            <a:off x="5619750" y="3143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37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0000"/>
              </a:lnSpc>
              <a:buNone/>
              <a:defRPr sz="34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3750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A86C05A-0055-4767-95AE-9D2B88ACE9B7}"/>
              </a:ext>
            </a:extLst>
          </p:cNvPr>
          <p:cNvSpPr>
            <a:spLocks noGrp="1"/>
          </p:cNvSpPr>
          <p:nvPr/>
        </p:nvSpPr>
        <p:spPr>
          <a:xfrm>
            <a:off x="1028700" y="5238750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055A52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PATH + METHOD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9CDAC28-451C-46AF-A1D5-BACC3DE36B52}"/>
              </a:ext>
            </a:extLst>
          </p:cNvPr>
          <p:cNvSpPr>
            <a:spLocks noGrp="1"/>
          </p:cNvSpPr>
          <p:nvPr/>
        </p:nvSpPr>
        <p:spPr>
          <a:xfrm>
            <a:off x="8305800" y="5238750"/>
            <a:ext cx="1695450" cy="361950"/>
          </a:xfrm>
          <a:prstGeom prst="roundRect">
            <a:avLst>
              <a:gd name="adj" fmla="val 31579"/>
            </a:avLst>
          </a:prstGeom>
          <a:solidFill>
            <a:srgbClr val="EF765E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>
            <a:def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+ STATUS</a:t>
            </a:r>
          </a:p>
        </p:txBody>
      </p:sp>
    </p:spTree>
    <p:extLst>
      <p:ext uri="{BB962C8B-B14F-4D97-AF65-F5344CB8AC3E}">
        <p14:creationId xmlns:p14="http://schemas.microsoft.com/office/powerpoint/2010/main" val="980976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label">
            <a:extLst>
              <a:ext uri="{FF2B5EF4-FFF2-40B4-BE49-F238E27FC236}">
                <a16:creationId xmlns:a16="http://schemas.microsoft.com/office/drawing/2014/main" id="{7EFBCAF9-FB72-4D21-9A0B-55B61255F2D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PYDANTIC VALIDATION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3DAB9CE-155E-4DEA-AB43-0CFCBEC88ED9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Pydantic data model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DFB6D35-A7AF-4FF6-B30D-C282B4F351CC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model describes the fields that a task request may contain. Type hints and Field rules define valid input.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DBDBEE-DCF7-4BD3-9078-DD800984871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6DDD0BC0-74D3-4C0C-8151-359A54785CB7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DF59AECD-45EF-43FA-9CAF-3D64140BA6AC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D79E10-901E-4E65-9B8D-C4EE19CA47DD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5695950" cy="3714750"/>
          </a:xfrm>
          <a:prstGeom prst="roundRect">
            <a:avLst>
              <a:gd name="adj" fmla="val 3077"/>
            </a:avLst>
          </a:prstGeom>
          <a:solidFill>
            <a:srgbClr val="102A3A"/>
          </a:solidFill>
          <a:ln w="9525">
            <a:solidFill>
              <a:srgbClr val="24485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01634B-3B29-49E6-A48D-2DC281716071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527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9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i="0">
                <a:solidFill>
                  <a:srgbClr val="AFC3CC"/>
                </a:solidFill>
                <a:latin typeface="Cascadia Mono"/>
                <a:ea typeface="Cascadia Mono"/>
                <a:cs typeface="Cascadia Mono"/>
              </a:rPr>
              <a:t>app/models.py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9676E4-41D0-416B-A926-2FC3B589E22C}"/>
              </a:ext>
            </a:extLst>
          </p:cNvPr>
          <p:cNvSpPr>
            <a:spLocks noGrp="1"/>
          </p:cNvSpPr>
          <p:nvPr/>
        </p:nvSpPr>
        <p:spPr>
          <a:xfrm>
            <a:off x="857250" y="2609850"/>
            <a:ext cx="5314950" cy="9525"/>
          </a:xfrm>
          <a:prstGeom prst="rect">
            <a:avLst/>
          </a:prstGeom>
          <a:solidFill>
            <a:srgbClr val="2F5261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26D456-B186-47C9-9273-5294CBC15171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5238750" cy="297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class TaskData(BaseModel):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title: str = Field(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    min_length=1, max_length=120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description: str | None = None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status: TaskStatus = TaskStatus.TODO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priority: int = Field(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    default=3, ge=1, le=5</a:t>
            </a: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9E8EE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2E7B91-65B3-4959-93E3-2118F52B6D00}"/>
              </a:ext>
            </a:extLst>
          </p:cNvPr>
          <p:cNvSpPr>
            <a:spLocks noGrp="1"/>
          </p:cNvSpPr>
          <p:nvPr/>
        </p:nvSpPr>
        <p:spPr>
          <a:xfrm>
            <a:off x="6934200" y="23050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6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rPr>
              <a:t>title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16F700-C653-49DD-B892-95718E319648}"/>
              </a:ext>
            </a:extLst>
          </p:cNvPr>
          <p:cNvSpPr>
            <a:spLocks noGrp="1"/>
          </p:cNvSpPr>
          <p:nvPr/>
        </p:nvSpPr>
        <p:spPr>
          <a:xfrm>
            <a:off x="8496300" y="22860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Required text from 1 to 120 characters.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28204C-8D49-42BF-B264-CA1FBED6D729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44196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03E971-9FA0-41F4-8B7B-A43CE8B41270}"/>
              </a:ext>
            </a:extLst>
          </p:cNvPr>
          <p:cNvSpPr>
            <a:spLocks noGrp="1"/>
          </p:cNvSpPr>
          <p:nvPr/>
        </p:nvSpPr>
        <p:spPr>
          <a:xfrm>
            <a:off x="6934200" y="30861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50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rPr>
              <a:t>description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872921-91F0-4209-B752-33A882FAC61D}"/>
              </a:ext>
            </a:extLst>
          </p:cNvPr>
          <p:cNvSpPr>
            <a:spLocks noGrp="1"/>
          </p:cNvSpPr>
          <p:nvPr/>
        </p:nvSpPr>
        <p:spPr>
          <a:xfrm>
            <a:off x="8496300" y="30670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Optional text. It may be left empty.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DD4185-5909-4BF5-A8B5-DA7949B9C4E4}"/>
              </a:ext>
            </a:extLst>
          </p:cNvPr>
          <p:cNvSpPr>
            <a:spLocks noGrp="1"/>
          </p:cNvSpPr>
          <p:nvPr/>
        </p:nvSpPr>
        <p:spPr>
          <a:xfrm>
            <a:off x="6934200" y="3638550"/>
            <a:ext cx="44196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F2D333-232B-4700-8960-F26A69447FDD}"/>
              </a:ext>
            </a:extLst>
          </p:cNvPr>
          <p:cNvSpPr>
            <a:spLocks noGrp="1"/>
          </p:cNvSpPr>
          <p:nvPr/>
        </p:nvSpPr>
        <p:spPr>
          <a:xfrm>
            <a:off x="6934200" y="38671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9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650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087F73"/>
                </a:solidFill>
                <a:latin typeface="Cascadia Mono"/>
                <a:ea typeface="Cascadia Mono"/>
                <a:cs typeface="Cascadia Mono"/>
              </a:rPr>
              <a:t>status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DC3213-8C59-4662-843F-BAEDD3161BF7}"/>
              </a:ext>
            </a:extLst>
          </p:cNvPr>
          <p:cNvSpPr>
            <a:spLocks noGrp="1"/>
          </p:cNvSpPr>
          <p:nvPr/>
        </p:nvSpPr>
        <p:spPr>
          <a:xfrm>
            <a:off x="8496300" y="38481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One value: todo, in_progress or done.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3D102E-0414-4D5D-B357-EE6F47BEAE1A}"/>
              </a:ext>
            </a:extLst>
          </p:cNvPr>
          <p:cNvSpPr>
            <a:spLocks noGrp="1"/>
          </p:cNvSpPr>
          <p:nvPr/>
        </p:nvSpPr>
        <p:spPr>
          <a:xfrm>
            <a:off x="6934200" y="4419600"/>
            <a:ext cx="44196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5582D9-B9B4-4843-940E-D1632647A558}"/>
              </a:ext>
            </a:extLst>
          </p:cNvPr>
          <p:cNvSpPr>
            <a:spLocks noGrp="1"/>
          </p:cNvSpPr>
          <p:nvPr/>
        </p:nvSpPr>
        <p:spPr>
          <a:xfrm>
            <a:off x="6934200" y="46482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9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1650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 i="0">
                <a:solidFill>
                  <a:srgbClr val="E76F51"/>
                </a:solidFill>
                <a:latin typeface="Cascadia Mono"/>
                <a:ea typeface="Cascadia Mono"/>
                <a:cs typeface="Cascadia Mono"/>
              </a:rPr>
              <a:t>priority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47DEC9-C4D9-4790-8181-3D2C38CC022B}"/>
              </a:ext>
            </a:extLst>
          </p:cNvPr>
          <p:cNvSpPr>
            <a:spLocks noGrp="1"/>
          </p:cNvSpPr>
          <p:nvPr/>
        </p:nvSpPr>
        <p:spPr>
          <a:xfrm>
            <a:off x="8496300" y="462915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A whole number from 1 to 5. Default is 3.</a:t>
            </a:r>
          </a:p>
        </p:txBody>
      </p:sp>
    </p:spTree>
    <p:extLst>
      <p:ext uri="{BB962C8B-B14F-4D97-AF65-F5344CB8AC3E}">
        <p14:creationId xmlns:p14="http://schemas.microsoft.com/office/powerpoint/2010/main" val="142397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label">
            <a:extLst>
              <a:ext uri="{FF2B5EF4-FFF2-40B4-BE49-F238E27FC236}">
                <a16:creationId xmlns:a16="http://schemas.microsoft.com/office/drawing/2014/main" id="{FC6C1584-ACE8-4BB6-B3C6-0BD57713FB6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6E483D7-8513-4BCE-8227-269D0B0E63EC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Validation example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F9CBE376-6B01-4B32-A5E5-17C5AD924FAF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FastAPI checks the request against the Pydantic model automatically. Valid data continues; invalid data stops early.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0AD823-9C1F-4BF9-B1B2-D8ECE8BC5D0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DFF6BF13-F3E7-4162-A2E1-F83FF6CC0836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2D9AE186-87DC-4AB7-BD1A-4B444AA43B4E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4158B15-0ACF-44D4-9F2A-5F15B410C451}"/>
              </a:ext>
            </a:extLst>
          </p:cNvPr>
          <p:cNvSpPr>
            <a:spLocks noGrp="1"/>
          </p:cNvSpPr>
          <p:nvPr/>
        </p:nvSpPr>
        <p:spPr>
          <a:xfrm>
            <a:off x="387323" y="2266950"/>
            <a:ext cx="2348054" cy="2762250"/>
          </a:xfrm>
          <a:prstGeom prst="roundRect">
            <a:avLst>
              <a:gd name="adj" fmla="val 4138"/>
            </a:avLst>
          </a:prstGeom>
          <a:solidFill>
            <a:srgbClr val="EFF8F3"/>
          </a:solidFill>
          <a:ln w="9525">
            <a:solidFill>
              <a:srgbClr val="A8D7C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486301-F843-4EDD-811C-2B8BD9DE23EF}"/>
              </a:ext>
            </a:extLst>
          </p:cNvPr>
          <p:cNvSpPr>
            <a:spLocks noGrp="1"/>
          </p:cNvSpPr>
          <p:nvPr/>
        </p:nvSpPr>
        <p:spPr>
          <a:xfrm>
            <a:off x="590550" y="25431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VALID REQUEST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CBDBC2-1200-4DE1-B0C9-7479CBA09997}"/>
              </a:ext>
            </a:extLst>
          </p:cNvPr>
          <p:cNvSpPr>
            <a:spLocks noGrp="1"/>
          </p:cNvSpPr>
          <p:nvPr/>
        </p:nvSpPr>
        <p:spPr>
          <a:xfrm>
            <a:off x="590550" y="30861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210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rPr>
              <a:t>priority = 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B411E7-B428-4936-B13D-579E95FF14B5}"/>
              </a:ext>
            </a:extLst>
          </p:cNvPr>
          <p:cNvSpPr>
            <a:spLocks noGrp="1"/>
          </p:cNvSpPr>
          <p:nvPr/>
        </p:nvSpPr>
        <p:spPr>
          <a:xfrm>
            <a:off x="590550" y="381952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201 Created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C25FE7-BAC8-445B-BC70-BAE3ED46B774}"/>
              </a:ext>
            </a:extLst>
          </p:cNvPr>
          <p:cNvSpPr>
            <a:spLocks noGrp="1"/>
          </p:cNvSpPr>
          <p:nvPr/>
        </p:nvSpPr>
        <p:spPr>
          <a:xfrm>
            <a:off x="590550" y="4381500"/>
            <a:ext cx="2038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task passes every field rule.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5FAFC74-1F2E-49C5-8F24-4A8038785CCF}"/>
              </a:ext>
            </a:extLst>
          </p:cNvPr>
          <p:cNvSpPr>
            <a:spLocks noGrp="1"/>
          </p:cNvSpPr>
          <p:nvPr/>
        </p:nvSpPr>
        <p:spPr>
          <a:xfrm>
            <a:off x="6267611" y="2338747"/>
            <a:ext cx="2492187" cy="2552701"/>
          </a:xfrm>
          <a:prstGeom prst="roundRect">
            <a:avLst>
              <a:gd name="adj" fmla="val 4138"/>
            </a:avLst>
          </a:prstGeom>
          <a:solidFill>
            <a:srgbClr val="FCECE7"/>
          </a:solidFill>
          <a:ln w="9525">
            <a:solidFill>
              <a:srgbClr val="F0B8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04A359-0E78-4127-933F-4FB791CA1FFB}"/>
              </a:ext>
            </a:extLst>
          </p:cNvPr>
          <p:cNvSpPr>
            <a:spLocks noGrp="1"/>
          </p:cNvSpPr>
          <p:nvPr/>
        </p:nvSpPr>
        <p:spPr>
          <a:xfrm>
            <a:off x="6496050" y="2657475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2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INVALID REQUEST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63CBCC-02E4-41B9-8E6A-BC3C9E13A721}"/>
              </a:ext>
            </a:extLst>
          </p:cNvPr>
          <p:cNvSpPr>
            <a:spLocks noGrp="1"/>
          </p:cNvSpPr>
          <p:nvPr/>
        </p:nvSpPr>
        <p:spPr>
          <a:xfrm>
            <a:off x="6477000" y="30861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23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buNone/>
              <a:defRPr sz="2100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1" i="0">
                <a:solidFill>
                  <a:srgbClr val="153247"/>
                </a:solidFill>
                <a:latin typeface="Cascadia Mono"/>
                <a:ea typeface="Cascadia Mono"/>
                <a:cs typeface="Cascadia Mono"/>
              </a:rPr>
              <a:t>priority = 9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E4E7A5-1CB1-49DD-B5C3-86C5BB2859D0}"/>
              </a:ext>
            </a:extLst>
          </p:cNvPr>
          <p:cNvSpPr>
            <a:spLocks noGrp="1"/>
          </p:cNvSpPr>
          <p:nvPr/>
        </p:nvSpPr>
        <p:spPr>
          <a:xfrm>
            <a:off x="6419850" y="36385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02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422 Validation Error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B61560-9193-4B86-8EFE-4BEB43528001}"/>
              </a:ext>
            </a:extLst>
          </p:cNvPr>
          <p:cNvSpPr>
            <a:spLocks noGrp="1"/>
          </p:cNvSpPr>
          <p:nvPr/>
        </p:nvSpPr>
        <p:spPr>
          <a:xfrm>
            <a:off x="6496050" y="4305300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Rejected before repository logic.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29BBA0-84AF-48A7-AA7B-071560582150}"/>
              </a:ext>
            </a:extLst>
          </p:cNvPr>
          <p:cNvSpPr>
            <a:spLocks noGrp="1"/>
          </p:cNvSpPr>
          <p:nvPr/>
        </p:nvSpPr>
        <p:spPr>
          <a:xfrm>
            <a:off x="1866900" y="5734050"/>
            <a:ext cx="847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725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Invalid data stops before repository code runs. The client receives a clear 422 response.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D23A7F4-EA68-41F9-8A10-3C1B91FB3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915" y="2526086"/>
            <a:ext cx="3005475" cy="224397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282B06C9-02E7-4F7E-AA5D-3DF4922C7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793" y="2495491"/>
            <a:ext cx="3141876" cy="2248016"/>
          </a:xfrm>
          <a:prstGeom prst="rect">
            <a:avLst/>
          </a:prstGeom>
        </p:spPr>
      </p:pic>
      <p:sp>
        <p:nvSpPr>
          <p:cNvPr id="29" name="fixed-validation-section-label">
            <a:extLst>
              <a:ext uri="{FF2B5EF4-FFF2-40B4-BE49-F238E27FC236}">
                <a16:creationId xmlns:a16="http://schemas.microsoft.com/office/drawing/2014/main" id="{BCC5F51C-2476-4B3C-BE47-95C8A866E25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1">
                <a:solidFill>
                  <a:srgbClr val="087F73"/>
                </a:solidFill>
              </a:defRPr>
            </a:defPPr>
            <a:lvl1pPr algn="l">
              <a:buNone/>
              <a:defRPr sz="1275" b="1">
                <a:solidFill>
                  <a:srgbClr val="087F73"/>
                </a:solidFill>
              </a:defRPr>
            </a:lvl1pPr>
            <a:lvl2pPr algn="l">
              <a:buNone/>
              <a:defRPr sz="1275" b="1">
                <a:solidFill>
                  <a:srgbClr val="087F73"/>
                </a:solidFill>
              </a:defRPr>
            </a:lvl2pPr>
            <a:lvl3pPr algn="l">
              <a:buNone/>
              <a:defRPr sz="1275" b="1">
                <a:solidFill>
                  <a:srgbClr val="087F73"/>
                </a:solidFill>
              </a:defRPr>
            </a:lvl3pPr>
            <a:lvl4pPr algn="l">
              <a:buNone/>
              <a:defRPr sz="1275" b="1">
                <a:solidFill>
                  <a:srgbClr val="087F73"/>
                </a:solidFill>
              </a:defRPr>
            </a:lvl4pPr>
            <a:lvl5pPr algn="l">
              <a:buNone/>
              <a:defRPr sz="1275" b="1">
                <a:solidFill>
                  <a:srgbClr val="087F73"/>
                </a:solidFill>
              </a:defRPr>
            </a:lvl5pPr>
            <a:lvl6pPr algn="l">
              <a:buNone/>
              <a:defRPr sz="1275" b="1">
                <a:solidFill>
                  <a:srgbClr val="087F73"/>
                </a:solidFill>
              </a:defRPr>
            </a:lvl6pPr>
            <a:lvl7pPr algn="l">
              <a:buNone/>
              <a:defRPr sz="1275" b="1">
                <a:solidFill>
                  <a:srgbClr val="087F73"/>
                </a:solidFill>
              </a:defRPr>
            </a:lvl7pPr>
            <a:lvl8pPr algn="l">
              <a:buNone/>
              <a:defRPr sz="1275" b="1">
                <a:solidFill>
                  <a:srgbClr val="087F73"/>
                </a:solidFill>
              </a:defRPr>
            </a:lvl8pPr>
            <a:lvl9pPr algn="l">
              <a:buNone/>
              <a:defRPr sz="1275" b="1">
                <a:solidFill>
                  <a:srgbClr val="087F73"/>
                </a:solidFill>
              </a:defRPr>
            </a:lvl9pPr>
          </a:lstStyle>
          <a:p>
            <a:pPr algn="l">
              <a:buNone/>
              <a:defRPr sz="1275" b="1">
                <a:solidFill>
                  <a:srgbClr val="087F73"/>
                </a:solidFill>
              </a:defRPr>
            </a:pPr>
            <a:r>
              <a:rPr sz="1275" b="1">
                <a:solidFill>
                  <a:srgbClr val="087F73"/>
                </a:solidFill>
              </a:rPr>
              <a:t>PYDANTIC VALIDATION</a:t>
            </a:r>
          </a:p>
        </p:txBody>
      </p:sp>
      <p:sp>
        <p:nvSpPr>
          <p:cNvPr id="30" name="fixed-validation-footer-label">
            <a:extLst>
              <a:ext uri="{FF2B5EF4-FFF2-40B4-BE49-F238E27FC236}">
                <a16:creationId xmlns:a16="http://schemas.microsoft.com/office/drawing/2014/main" id="{2200BE27-A33C-4536-B896-4441AB507727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1">
                <a:solidFill>
                  <a:srgbClr val="566C78"/>
                </a:solidFill>
              </a:defRPr>
            </a:defPPr>
            <a:lvl1pPr algn="l">
              <a:buNone/>
              <a:defRPr sz="975" b="1">
                <a:solidFill>
                  <a:srgbClr val="566C78"/>
                </a:solidFill>
              </a:defRPr>
            </a:lvl1pPr>
            <a:lvl2pPr algn="l">
              <a:buNone/>
              <a:defRPr sz="975" b="1">
                <a:solidFill>
                  <a:srgbClr val="566C78"/>
                </a:solidFill>
              </a:defRPr>
            </a:lvl2pPr>
            <a:lvl3pPr algn="l">
              <a:buNone/>
              <a:defRPr sz="975" b="1">
                <a:solidFill>
                  <a:srgbClr val="566C78"/>
                </a:solidFill>
              </a:defRPr>
            </a:lvl3pPr>
            <a:lvl4pPr algn="l">
              <a:buNone/>
              <a:defRPr sz="975" b="1">
                <a:solidFill>
                  <a:srgbClr val="566C78"/>
                </a:solidFill>
              </a:defRPr>
            </a:lvl4pPr>
            <a:lvl5pPr algn="l">
              <a:buNone/>
              <a:defRPr sz="975" b="1">
                <a:solidFill>
                  <a:srgbClr val="566C78"/>
                </a:solidFill>
              </a:defRPr>
            </a:lvl5pPr>
            <a:lvl6pPr algn="l">
              <a:buNone/>
              <a:defRPr sz="975" b="1">
                <a:solidFill>
                  <a:srgbClr val="566C78"/>
                </a:solidFill>
              </a:defRPr>
            </a:lvl6pPr>
            <a:lvl7pPr algn="l">
              <a:buNone/>
              <a:defRPr sz="975" b="1">
                <a:solidFill>
                  <a:srgbClr val="566C78"/>
                </a:solidFill>
              </a:defRPr>
            </a:lvl7pPr>
            <a:lvl8pPr algn="l">
              <a:buNone/>
              <a:defRPr sz="975" b="1">
                <a:solidFill>
                  <a:srgbClr val="566C78"/>
                </a:solidFill>
              </a:defRPr>
            </a:lvl8pPr>
            <a:lvl9pPr algn="l">
              <a:buNone/>
              <a:defRPr sz="975" b="1">
                <a:solidFill>
                  <a:srgbClr val="566C78"/>
                </a:solidFill>
              </a:defRPr>
            </a:lvl9pPr>
          </a:lstStyle>
          <a:p>
            <a:pPr algn="l">
              <a:buNone/>
              <a:defRPr sz="975" b="1">
                <a:solidFill>
                  <a:srgbClr val="566C78"/>
                </a:solidFill>
              </a:defRPr>
            </a:pPr>
            <a:r>
              <a:rPr sz="975" b="1">
                <a:solidFill>
                  <a:srgbClr val="566C78"/>
                </a:solidFill>
              </a:rPr>
              <a:t>COMP10020 · FASTAPI</a:t>
            </a:r>
          </a:p>
        </p:txBody>
      </p:sp>
    </p:spTree>
    <p:extLst>
      <p:ext uri="{BB962C8B-B14F-4D97-AF65-F5344CB8AC3E}">
        <p14:creationId xmlns:p14="http://schemas.microsoft.com/office/powerpoint/2010/main" val="1423975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5B41387-4AAE-46C7-BE1C-0780B105D0C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9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DE2BD"/>
                </a:solidFill>
                <a:latin typeface="Aptos"/>
                <a:ea typeface="Aptos"/>
                <a:cs typeface="Aptos"/>
              </a:rPr>
              <a:t>LIVE DEMONSTRATION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696913-537E-4246-BFAE-1412B99FFF0A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95000"/>
              </a:lnSpc>
              <a:buNone/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requests in Swagger UI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91B9F3-2DAC-400F-9B1E-658C5E487A2B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1000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The server starts before class. We send only three requests, so the live demo stays under three minutes.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4D6817-CE90-4DF4-9A1C-97D1ED397E6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49606E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8DB181-B915-4C17-9F6F-D67BC2B2DD4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82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FC0C9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62A157-FE8F-45CD-9F47-B7B210947E32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0000"/>
              </a:lnSpc>
              <a:buNone/>
              <a:defRPr sz="82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FC0C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A8D67AF-9B30-4368-84B2-6D81903A2FAA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609600" cy="609600"/>
          </a:xfrm>
          <a:prstGeom prst="ellipse">
            <a:avLst/>
          </a:prstGeom>
          <a:solidFill>
            <a:srgbClr val="087F72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42C75E-0A81-4E94-A9EC-9E4334AB72E1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73003B-07C2-4678-8B6A-C360D17D6170}"/>
              </a:ext>
            </a:extLst>
          </p:cNvPr>
          <p:cNvSpPr>
            <a:spLocks noGrp="1"/>
          </p:cNvSpPr>
          <p:nvPr/>
        </p:nvSpPr>
        <p:spPr>
          <a:xfrm>
            <a:off x="1752600" y="21907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GET /tasks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57D380-E89B-47F4-8EAF-894589534E42}"/>
              </a:ext>
            </a:extLst>
          </p:cNvPr>
          <p:cNvSpPr>
            <a:spLocks noGrp="1"/>
          </p:cNvSpPr>
          <p:nvPr/>
        </p:nvSpPr>
        <p:spPr>
          <a:xfrm>
            <a:off x="1752600" y="255270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0000"/>
              </a:lnSpc>
              <a:buNone/>
              <a:defRPr sz="12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Open GET /tasks, choose Try it out, then Execute. Confirm 200 and view the list.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6ED63EC-7479-4067-BA86-C5431103C292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609600" cy="609600"/>
          </a:xfrm>
          <a:prstGeom prst="ellipse">
            <a:avLst/>
          </a:prstGeom>
          <a:solidFill>
            <a:srgbClr val="087F72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3265F2-00C6-41F4-BC30-9FF1351BC8ED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172659-F4A0-46F0-ACD1-31D7BB64CD9D}"/>
              </a:ext>
            </a:extLst>
          </p:cNvPr>
          <p:cNvSpPr>
            <a:spLocks noGrp="1"/>
          </p:cNvSpPr>
          <p:nvPr/>
        </p:nvSpPr>
        <p:spPr>
          <a:xfrm>
            <a:off x="1752600" y="33528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 /tasks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947232-9B35-4547-81DC-00E507634E72}"/>
              </a:ext>
            </a:extLst>
          </p:cNvPr>
          <p:cNvSpPr>
            <a:spLocks noGrp="1"/>
          </p:cNvSpPr>
          <p:nvPr/>
        </p:nvSpPr>
        <p:spPr>
          <a:xfrm>
            <a:off x="1752600" y="371475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0000"/>
              </a:lnSpc>
              <a:buNone/>
              <a:defRPr sz="12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Open POST /tasks, paste the valid JSON, then Execute. Confirm 201 Created.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3D658B8-0CF2-4084-BBB7-86D77A654436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609600" cy="609600"/>
          </a:xfrm>
          <a:prstGeom prst="ellipse">
            <a:avLst/>
          </a:prstGeom>
          <a:solidFill>
            <a:srgbClr val="EF765E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627CCC-897A-4061-B5F2-4034E725AA46}"/>
              </a:ext>
            </a:extLst>
          </p:cNvPr>
          <p:cNvSpPr>
            <a:spLocks noGrp="1"/>
          </p:cNvSpPr>
          <p:nvPr/>
        </p:nvSpPr>
        <p:spPr>
          <a:xfrm>
            <a:off x="838200" y="464820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368996-EED1-4D2C-B5C3-006E27ED3B06}"/>
              </a:ext>
            </a:extLst>
          </p:cNvPr>
          <p:cNvSpPr>
            <a:spLocks noGrp="1"/>
          </p:cNvSpPr>
          <p:nvPr/>
        </p:nvSpPr>
        <p:spPr>
          <a:xfrm>
            <a:off x="1752600" y="45148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 invalid data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247C82-4450-47BE-95F7-171BF48FA1CF}"/>
              </a:ext>
            </a:extLst>
          </p:cNvPr>
          <p:cNvSpPr>
            <a:spLocks noGrp="1"/>
          </p:cNvSpPr>
          <p:nvPr/>
        </p:nvSpPr>
        <p:spPr>
          <a:xfrm>
            <a:off x="1752600" y="487680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0000"/>
              </a:lnSpc>
              <a:buNone/>
              <a:defRPr sz="12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Change only priority to 9, Execute again and point out the 422 message.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AFAA05C-1BB7-45B8-9BCE-48ABAE69B474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3390900" cy="3429000"/>
          </a:xfrm>
          <a:prstGeom prst="roundRect">
            <a:avLst>
              <a:gd name="adj" fmla="val 3371"/>
            </a:avLst>
          </a:prstGeom>
          <a:solidFill>
            <a:srgbClr val="15394A"/>
          </a:solidFill>
          <a:ln w="9525">
            <a:solidFill>
              <a:srgbClr val="36536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7592BD-CFD0-4812-94FE-652C91FD3780}"/>
              </a:ext>
            </a:extLst>
          </p:cNvPr>
          <p:cNvSpPr>
            <a:spLocks noGrp="1"/>
          </p:cNvSpPr>
          <p:nvPr/>
        </p:nvSpPr>
        <p:spPr>
          <a:xfrm>
            <a:off x="8096250" y="24574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lnSpc>
                <a:spcPct val="100000"/>
              </a:lnSpc>
              <a:buNone/>
              <a:defRPr sz="105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DE2BD"/>
                </a:solidFill>
                <a:latin typeface="Aptos"/>
                <a:ea typeface="Aptos"/>
                <a:cs typeface="Aptos"/>
              </a:rPr>
              <a:t>DEMO CHECKLIST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30ABEF-0803-44F6-B77E-4FD7BBFF6A94}"/>
              </a:ext>
            </a:extLst>
          </p:cNvPr>
          <p:cNvSpPr>
            <a:spLocks noGrp="1"/>
          </p:cNvSpPr>
          <p:nvPr/>
        </p:nvSpPr>
        <p:spPr>
          <a:xfrm>
            <a:off x="8172450" y="2990850"/>
            <a:ext cx="266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45000"/>
              </a:lnSpc>
              <a:buNone/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Uvicorn already running</a:t>
            </a:r>
          </a:p>
          <a:p>
            <a:pPr algn="l">
              <a:lnSpc>
                <a:spcPct val="145000"/>
              </a:lnSpc>
              <a:buNone/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Browser open at /docs</a:t>
            </a:r>
          </a:p>
          <a:p>
            <a:pPr algn="l">
              <a:lnSpc>
                <a:spcPct val="145000"/>
              </a:lnSpc>
              <a:buNone/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Valid JSON copied</a:t>
            </a:r>
          </a:p>
          <a:p>
            <a:pPr algn="l">
              <a:lnSpc>
                <a:spcPct val="145000"/>
              </a:lnSpc>
              <a:buNone/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Backup slide ready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6F33C47-FC4C-48CF-BCD5-A6382D6E06F4}"/>
              </a:ext>
            </a:extLst>
          </p:cNvPr>
          <p:cNvSpPr>
            <a:spLocks noGrp="1"/>
          </p:cNvSpPr>
          <p:nvPr/>
        </p:nvSpPr>
        <p:spPr>
          <a:xfrm>
            <a:off x="8515350" y="4933950"/>
            <a:ext cx="2000250" cy="400050"/>
          </a:xfrm>
          <a:prstGeom prst="roundRect">
            <a:avLst>
              <a:gd name="adj" fmla="val 28571"/>
            </a:avLst>
          </a:prstGeom>
          <a:solidFill>
            <a:srgbClr val="EF765E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>
            <a:def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 AFTER 422</a:t>
            </a:r>
          </a:p>
        </p:txBody>
      </p:sp>
    </p:spTree>
    <p:extLst>
      <p:ext uri="{BB962C8B-B14F-4D97-AF65-F5344CB8AC3E}">
        <p14:creationId xmlns:p14="http://schemas.microsoft.com/office/powerpoint/2010/main" val="1232319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F71C611-C593-4FF3-BF7E-49CAB47062C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975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55A52"/>
                </a:solidFill>
                <a:latin typeface="Aptos"/>
                <a:ea typeface="Aptos"/>
                <a:cs typeface="Aptos"/>
              </a:rPr>
              <a:t>AUTOMATED VERIFICATION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290E27-AE92-4547-AFCD-6E084DA74B06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1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95000"/>
              </a:lnSpc>
              <a:buNone/>
              <a:defRPr sz="28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Eight tests verify the main API behaviour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E06F50-742F-4793-8C66-3689C837A736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7810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Each test uses a fresh in-memory repository. Eight passing results confirm that the main routes work as expected.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57CE31-B440-43C6-87CA-D3749BFF74E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466A00-EA8B-406A-8C5A-49346F0761A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82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3CF1EE-7863-4F08-B3B8-FE73DDCBBB74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0000"/>
              </a:lnSpc>
              <a:buNone/>
              <a:defRPr sz="82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08DE34-A57A-41B5-80F7-D2328C2493B9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42100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defPPr>
            <a:lvl1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1pPr>
            <a:lvl2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2pPr>
            <a:lvl3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3pPr>
            <a:lvl4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4pPr>
            <a:lvl5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5pPr>
            <a:lvl6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6pPr>
            <a:lvl7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7pPr>
            <a:lvl8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8pPr>
            <a:lvl9pPr algn="l"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lvl9pPr>
          </a:lstStyle>
          <a:p>
            <a:pPr algn="l">
              <a:lnSpc>
                <a:spcPct val="130000"/>
              </a:lnSpc>
              <a:buNone/>
              <a:defRPr sz="1725" b="0" i="0">
                <a:solidFill>
                  <a:srgbClr val="8DE2BD"/>
                </a:solidFill>
                <a:latin typeface="Cascadia Mono"/>
                <a:ea typeface="Cascadia Mono"/>
                <a:cs typeface="Cascadia Mono"/>
              </a:defRPr>
            </a:pPr>
            <a:endParaRPr sz="1725" b="0" i="0">
              <a:solidFill>
                <a:srgbClr val="8DE2BD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12616A-4BFC-4FF2-BAD3-2D99AB12AF69}"/>
              </a:ext>
            </a:extLst>
          </p:cNvPr>
          <p:cNvSpPr>
            <a:spLocks noGrp="1"/>
          </p:cNvSpPr>
          <p:nvPr/>
        </p:nvSpPr>
        <p:spPr>
          <a:xfrm>
            <a:off x="8763000" y="874820"/>
            <a:ext cx="2266950" cy="1181100"/>
          </a:xfrm>
          <a:prstGeom prst="rect">
            <a:avLst/>
          </a:prstGeom>
          <a:solidFill>
            <a:srgbClr val="EDF4F1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624A89-ACF5-49C6-9C9B-FCE0E6BC9F43}"/>
              </a:ext>
            </a:extLst>
          </p:cNvPr>
          <p:cNvSpPr>
            <a:spLocks noGrp="1"/>
          </p:cNvSpPr>
          <p:nvPr/>
        </p:nvSpPr>
        <p:spPr>
          <a:xfrm>
            <a:off x="8953500" y="1030701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05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55A52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EF0D88-82C3-4EB3-9E77-AA852FC2EA9F}"/>
              </a:ext>
            </a:extLst>
          </p:cNvPr>
          <p:cNvSpPr>
            <a:spLocks noGrp="1"/>
          </p:cNvSpPr>
          <p:nvPr/>
        </p:nvSpPr>
        <p:spPr>
          <a:xfrm>
            <a:off x="8953500" y="1374181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>
            <a:defPPr algn="l">
              <a:defRPr sz="1575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2000"/>
              </a:lnSpc>
              <a:buNone/>
              <a:defRPr sz="1275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/docs and OpenAPI schema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49E6A3-EAFD-4C65-93CF-7D14E5A413C2}"/>
              </a:ext>
            </a:extLst>
          </p:cNvPr>
          <p:cNvSpPr>
            <a:spLocks noGrp="1"/>
          </p:cNvSpPr>
          <p:nvPr/>
        </p:nvSpPr>
        <p:spPr>
          <a:xfrm>
            <a:off x="8763000" y="2266950"/>
            <a:ext cx="2266950" cy="1181100"/>
          </a:xfrm>
          <a:prstGeom prst="rect">
            <a:avLst/>
          </a:prstGeom>
          <a:solidFill>
            <a:srgbClr val="EDF4F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6B2A5E-D769-427C-932A-7EA5BEA8FB4E}"/>
              </a:ext>
            </a:extLst>
          </p:cNvPr>
          <p:cNvSpPr>
            <a:spLocks noGrp="1"/>
          </p:cNvSpPr>
          <p:nvPr/>
        </p:nvSpPr>
        <p:spPr>
          <a:xfrm>
            <a:off x="8953500" y="24384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05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55A52"/>
                </a:solidFill>
                <a:latin typeface="Aptos"/>
                <a:ea typeface="Aptos"/>
                <a:cs typeface="Aptos"/>
              </a:rPr>
              <a:t>CRUD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EEF8EC-C7B6-4EE7-9377-905D2F75A579}"/>
              </a:ext>
            </a:extLst>
          </p:cNvPr>
          <p:cNvSpPr>
            <a:spLocks noGrp="1"/>
          </p:cNvSpPr>
          <p:nvPr/>
        </p:nvSpPr>
        <p:spPr>
          <a:xfrm>
            <a:off x="8953500" y="278130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>
            <a:defPPr algn="l">
              <a:defRPr sz="1575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2000"/>
              </a:lnSpc>
              <a:buNone/>
              <a:defRPr sz="1275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Create, read, replace, delete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0F4B7A-4026-4357-B484-2A4E9E7E6E1D}"/>
              </a:ext>
            </a:extLst>
          </p:cNvPr>
          <p:cNvSpPr>
            <a:spLocks noGrp="1"/>
          </p:cNvSpPr>
          <p:nvPr/>
        </p:nvSpPr>
        <p:spPr>
          <a:xfrm>
            <a:off x="8779046" y="5200650"/>
            <a:ext cx="2266950" cy="1181100"/>
          </a:xfrm>
          <a:prstGeom prst="rect">
            <a:avLst/>
          </a:prstGeom>
          <a:solidFill>
            <a:srgbClr val="FFF1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96C28-705D-47B5-9F17-EB793717D9C4}"/>
              </a:ext>
            </a:extLst>
          </p:cNvPr>
          <p:cNvSpPr>
            <a:spLocks noGrp="1"/>
          </p:cNvSpPr>
          <p:nvPr/>
        </p:nvSpPr>
        <p:spPr>
          <a:xfrm>
            <a:off x="8953500" y="537210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0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ERRORS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EDF870-0EFE-463C-8AD3-758836111579}"/>
              </a:ext>
            </a:extLst>
          </p:cNvPr>
          <p:cNvSpPr>
            <a:spLocks noGrp="1"/>
          </p:cNvSpPr>
          <p:nvPr/>
        </p:nvSpPr>
        <p:spPr>
          <a:xfrm>
            <a:off x="8953500" y="5718283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98"/>
          </a:bodyPr>
          <a:lstStyle>
            <a:defPPr algn="l">
              <a:defRPr sz="1575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2000"/>
              </a:lnSpc>
              <a:buNone/>
              <a:defRPr sz="1275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404 and 422 responses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AE9853-3689-412D-9C36-EC0B8640DD4B}"/>
              </a:ext>
            </a:extLst>
          </p:cNvPr>
          <p:cNvSpPr>
            <a:spLocks noGrp="1"/>
          </p:cNvSpPr>
          <p:nvPr/>
        </p:nvSpPr>
        <p:spPr>
          <a:xfrm>
            <a:off x="8763000" y="3733800"/>
            <a:ext cx="2266950" cy="1181100"/>
          </a:xfrm>
          <a:prstGeom prst="rect">
            <a:avLst/>
          </a:prstGeom>
          <a:solidFill>
            <a:srgbClr val="EDF4F1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8B6A97-5365-47DE-A9BB-EF0E91F4B2C9}"/>
              </a:ext>
            </a:extLst>
          </p:cNvPr>
          <p:cNvSpPr>
            <a:spLocks noGrp="1"/>
          </p:cNvSpPr>
          <p:nvPr/>
        </p:nvSpPr>
        <p:spPr>
          <a:xfrm>
            <a:off x="8953500" y="3905250"/>
            <a:ext cx="186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05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55A52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7A3118-434B-4356-96F0-37C1DB5C4929}"/>
              </a:ext>
            </a:extLst>
          </p:cNvPr>
          <p:cNvSpPr>
            <a:spLocks noGrp="1"/>
          </p:cNvSpPr>
          <p:nvPr/>
        </p:nvSpPr>
        <p:spPr>
          <a:xfrm>
            <a:off x="8953500" y="42481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20"/>
          </a:bodyPr>
          <a:lstStyle>
            <a:defPPr algn="l">
              <a:defRPr sz="1575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2000"/>
              </a:lnSpc>
              <a:buNone/>
              <a:defRPr sz="1275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Status and priority queries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97B6D0-C4B6-41CC-A41F-12BFA321030F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TestClient sends normal HTTP-style requests without starting Uvicorn. A fresh repository keeps each test independent.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C65061F-B9A5-48F0-BCD4-D2B88214B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02" y="2266950"/>
            <a:ext cx="8168848" cy="22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6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label">
            <a:extLst>
              <a:ext uri="{FF2B5EF4-FFF2-40B4-BE49-F238E27FC236}">
                <a16:creationId xmlns:a16="http://schemas.microsoft.com/office/drawing/2014/main" id="{5BA78449-7C53-4108-9F56-12FA85D2979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0DB80BB-9FD9-4CC7-BB06-9A04CE22354D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Advantages of FastAPI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EF96BB0F-34F4-4A10-B3F7-E8FB6127C779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FastAPI reduces repeated work and keeps the main parts of a small API connected.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DF8ED5-55E4-49D6-B5D4-23412C53D2B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D9C51C4E-F28C-4FC7-BDB7-B1624A6AF729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BE2DD451-0906-45FB-B429-D730EA157D79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FCC5EE-32B5-4500-A93D-D0789C5BCA68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57B304-C6E1-4813-89BB-E17051476E1E}"/>
              </a:ext>
            </a:extLst>
          </p:cNvPr>
          <p:cNvSpPr>
            <a:spLocks noGrp="1"/>
          </p:cNvSpPr>
          <p:nvPr/>
        </p:nvSpPr>
        <p:spPr>
          <a:xfrm>
            <a:off x="1714500" y="23050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Connected contracts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C923AE-8E6C-44D6-8409-521F275F407D}"/>
              </a:ext>
            </a:extLst>
          </p:cNvPr>
          <p:cNvSpPr>
            <a:spLocks noGrp="1"/>
          </p:cNvSpPr>
          <p:nvPr/>
        </p:nvSpPr>
        <p:spPr>
          <a:xfrm>
            <a:off x="4953000" y="232410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One model guides validation, responses and API documentation, so the parts stay consistent.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F0BE74-F9AF-40CF-9FA0-8355EB4FCC1E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BA017E-998F-47BD-A18A-EC8335B63CEF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37341A-B8C9-47F3-85E0-4D6DBF6AC51E}"/>
              </a:ext>
            </a:extLst>
          </p:cNvPr>
          <p:cNvSpPr>
            <a:spLocks noGrp="1"/>
          </p:cNvSpPr>
          <p:nvPr/>
        </p:nvSpPr>
        <p:spPr>
          <a:xfrm>
            <a:off x="1714500" y="33528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Fast feedback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55B330-EADB-4A9B-B105-C18200FEA286}"/>
              </a:ext>
            </a:extLst>
          </p:cNvPr>
          <p:cNvSpPr>
            <a:spLocks noGrp="1"/>
          </p:cNvSpPr>
          <p:nvPr/>
        </p:nvSpPr>
        <p:spPr>
          <a:xfrm>
            <a:off x="4953000" y="337185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Swagger UI lets us inspect and call each route immediately, without building a separate client.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2C079D-4D80-41C3-9FB0-D724664666FC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3A7D05-AEB0-4D35-A23A-0AA653D4234F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81561F-67BC-45C5-8D78-C4F9EDF1A8A9}"/>
              </a:ext>
            </a:extLst>
          </p:cNvPr>
          <p:cNvSpPr>
            <a:spLocks noGrp="1"/>
          </p:cNvSpPr>
          <p:nvPr/>
        </p:nvSpPr>
        <p:spPr>
          <a:xfrm>
            <a:off x="1714500" y="44005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Room to grow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69CBF2-AC2D-4845-A8E8-71A4C7E05B0C}"/>
              </a:ext>
            </a:extLst>
          </p:cNvPr>
          <p:cNvSpPr>
            <a:spLocks noGrp="1"/>
          </p:cNvSpPr>
          <p:nvPr/>
        </p:nvSpPr>
        <p:spPr>
          <a:xfrm>
            <a:off x="4953000" y="441960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The project can later add routers, services and a database without changing its basic API design.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A9C2EE-1A3D-42AE-A7DD-5FDCE0534A09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150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label">
            <a:extLst>
              <a:ext uri="{FF2B5EF4-FFF2-40B4-BE49-F238E27FC236}">
                <a16:creationId xmlns:a16="http://schemas.microsoft.com/office/drawing/2014/main" id="{F4806EA2-6BD1-4649-8FC1-72D306698C7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EB81498-086B-46C9-A745-D2645914217A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Limitations to plan for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B12B793-A971-4F70-8F3E-62F911D3B7BB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C3A863-751A-4C22-88AB-2E48BE34182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73943D64-2D53-4D69-82AD-EEB326F2114E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0D41EB57-D530-4A70-914D-21C4FB878411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9D43ED-CB22-4B0A-89E7-C7684AC3C9E3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6D0E14-DDB2-486E-BC1D-2CEFEDB11F92}"/>
              </a:ext>
            </a:extLst>
          </p:cNvPr>
          <p:cNvSpPr>
            <a:spLocks noGrp="1"/>
          </p:cNvSpPr>
          <p:nvPr/>
        </p:nvSpPr>
        <p:spPr>
          <a:xfrm>
            <a:off x="1714500" y="23050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Security needs design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914916-D577-4E87-B8C8-9C4E4CA3894A}"/>
              </a:ext>
            </a:extLst>
          </p:cNvPr>
          <p:cNvSpPr>
            <a:spLocks noGrp="1"/>
          </p:cNvSpPr>
          <p:nvPr/>
        </p:nvSpPr>
        <p:spPr>
          <a:xfrm>
            <a:off x="4991100" y="2314575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 lnSpcReduction="1000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 dirty="0">
                <a:solidFill>
                  <a:srgbClr val="566C78"/>
                </a:solidFill>
                <a:latin typeface="Aptos"/>
                <a:ea typeface="Aptos"/>
                <a:cs typeface="Aptos"/>
              </a:rPr>
              <a:t>Authentication, </a:t>
            </a:r>
            <a:r>
              <a:rPr sz="1800" b="0" i="0" dirty="0" err="1">
                <a:solidFill>
                  <a:srgbClr val="566C78"/>
                </a:solidFill>
                <a:latin typeface="Aptos"/>
                <a:ea typeface="Aptos"/>
                <a:cs typeface="Aptos"/>
              </a:rPr>
              <a:t>authorisation</a:t>
            </a:r>
            <a:r>
              <a:rPr sz="1800" b="0" i="0" dirty="0">
                <a:solidFill>
                  <a:srgbClr val="566C78"/>
                </a:solidFill>
                <a:latin typeface="Aptos"/>
                <a:ea typeface="Aptos"/>
                <a:cs typeface="Aptos"/>
              </a:rPr>
              <a:t>, permissions and safe deployment still need careful design.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209BE6-7666-45B5-A3B5-CE98A3E3F850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DD9A4A-A27B-4351-843D-51B7B974D472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04D462-8CDD-42B4-B23D-8FF7FFDC55AC}"/>
              </a:ext>
            </a:extLst>
          </p:cNvPr>
          <p:cNvSpPr>
            <a:spLocks noGrp="1"/>
          </p:cNvSpPr>
          <p:nvPr/>
        </p:nvSpPr>
        <p:spPr>
          <a:xfrm>
            <a:off x="1714500" y="33528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Some concepts take time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BDCA70-024E-4717-B7FA-EB3DC016A59F}"/>
              </a:ext>
            </a:extLst>
          </p:cNvPr>
          <p:cNvSpPr>
            <a:spLocks noGrp="1"/>
          </p:cNvSpPr>
          <p:nvPr/>
        </p:nvSpPr>
        <p:spPr>
          <a:xfrm>
            <a:off x="4953000" y="337185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 dirty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Type hints, </a:t>
            </a:r>
            <a:r>
              <a:rPr sz="1800" b="0" i="0" dirty="0" err="1">
                <a:solidFill>
                  <a:srgbClr val="566C78"/>
                </a:solidFill>
                <a:latin typeface="Aptos"/>
                <a:ea typeface="Aptos"/>
                <a:cs typeface="Aptos"/>
              </a:rPr>
              <a:t>Pydantic</a:t>
            </a:r>
            <a:r>
              <a:rPr sz="1800" b="0" i="0" dirty="0">
                <a:solidFill>
                  <a:srgbClr val="566C78"/>
                </a:solidFill>
                <a:latin typeface="Aptos"/>
                <a:ea typeface="Aptos"/>
                <a:cs typeface="Aptos"/>
              </a:rPr>
              <a:t> models and asynchronous Python may take time for beginners to learn.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E9216E-4C2C-44C1-B9B1-05BFF7A99308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3EC617-A0B8-4959-8F9E-7206ED0042D5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5FBB26-D785-4633-88B6-CFE9A57D8399}"/>
              </a:ext>
            </a:extLst>
          </p:cNvPr>
          <p:cNvSpPr>
            <a:spLocks noGrp="1"/>
          </p:cNvSpPr>
          <p:nvPr/>
        </p:nvSpPr>
        <p:spPr>
          <a:xfrm>
            <a:off x="1714500" y="44005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10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Production needs more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02525D-669D-4317-8A76-0BD7DA8806BF}"/>
              </a:ext>
            </a:extLst>
          </p:cNvPr>
          <p:cNvSpPr>
            <a:spLocks noGrp="1"/>
          </p:cNvSpPr>
          <p:nvPr/>
        </p:nvSpPr>
        <p:spPr>
          <a:xfrm>
            <a:off x="4953000" y="441960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Real systems also need persistent storage, migrations, logging, monitoring and backups.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7FE533-EEB1-48CA-9993-F96B59000068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20" name="fixed-section-label">
            <a:extLst>
              <a:ext uri="{FF2B5EF4-FFF2-40B4-BE49-F238E27FC236}">
                <a16:creationId xmlns:a16="http://schemas.microsoft.com/office/drawing/2014/main" id="{16ACB27C-C6F0-40D0-AA55-8458DFE2C7A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1">
                <a:solidFill>
                  <a:srgbClr val="087F73"/>
                </a:solidFill>
              </a:defRPr>
            </a:defPPr>
            <a:lvl1pPr algn="l">
              <a:buNone/>
              <a:defRPr sz="1275" b="1">
                <a:solidFill>
                  <a:srgbClr val="087F73"/>
                </a:solidFill>
              </a:defRPr>
            </a:lvl1pPr>
            <a:lvl2pPr algn="l">
              <a:buNone/>
              <a:defRPr sz="1275" b="1">
                <a:solidFill>
                  <a:srgbClr val="087F73"/>
                </a:solidFill>
              </a:defRPr>
            </a:lvl2pPr>
            <a:lvl3pPr algn="l">
              <a:buNone/>
              <a:defRPr sz="1275" b="1">
                <a:solidFill>
                  <a:srgbClr val="087F73"/>
                </a:solidFill>
              </a:defRPr>
            </a:lvl3pPr>
            <a:lvl4pPr algn="l">
              <a:buNone/>
              <a:defRPr sz="1275" b="1">
                <a:solidFill>
                  <a:srgbClr val="087F73"/>
                </a:solidFill>
              </a:defRPr>
            </a:lvl4pPr>
            <a:lvl5pPr algn="l">
              <a:buNone/>
              <a:defRPr sz="1275" b="1">
                <a:solidFill>
                  <a:srgbClr val="087F73"/>
                </a:solidFill>
              </a:defRPr>
            </a:lvl5pPr>
            <a:lvl6pPr algn="l">
              <a:buNone/>
              <a:defRPr sz="1275" b="1">
                <a:solidFill>
                  <a:srgbClr val="087F73"/>
                </a:solidFill>
              </a:defRPr>
            </a:lvl6pPr>
            <a:lvl7pPr algn="l">
              <a:buNone/>
              <a:defRPr sz="1275" b="1">
                <a:solidFill>
                  <a:srgbClr val="087F73"/>
                </a:solidFill>
              </a:defRPr>
            </a:lvl7pPr>
            <a:lvl8pPr algn="l">
              <a:buNone/>
              <a:defRPr sz="1275" b="1">
                <a:solidFill>
                  <a:srgbClr val="087F73"/>
                </a:solidFill>
              </a:defRPr>
            </a:lvl8pPr>
            <a:lvl9pPr algn="l">
              <a:buNone/>
              <a:defRPr sz="1275" b="1">
                <a:solidFill>
                  <a:srgbClr val="087F73"/>
                </a:solidFill>
              </a:defRPr>
            </a:lvl9pPr>
          </a:lstStyle>
          <a:p>
            <a:pPr algn="l">
              <a:buNone/>
              <a:defRPr sz="1275" b="1">
                <a:solidFill>
                  <a:srgbClr val="087F73"/>
                </a:solidFill>
              </a:defRPr>
            </a:pPr>
            <a:r>
              <a:rPr sz="1275" b="1">
                <a:solidFill>
                  <a:srgbClr val="087F73"/>
                </a:solidFill>
              </a:rPr>
              <a:t>EVALUATION</a:t>
            </a:r>
          </a:p>
        </p:txBody>
      </p:sp>
      <p:sp>
        <p:nvSpPr>
          <p:cNvPr id="21" name="fixed-subtitle">
            <a:extLst>
              <a:ext uri="{FF2B5EF4-FFF2-40B4-BE49-F238E27FC236}">
                <a16:creationId xmlns:a16="http://schemas.microsoft.com/office/drawing/2014/main" id="{7682D70F-5C7C-449F-8CF8-1A7FBFC28FAE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0">
                <a:solidFill>
                  <a:srgbClr val="566C78"/>
                </a:solidFill>
              </a:defRPr>
            </a:defPPr>
            <a:lvl1pPr algn="l">
              <a:buNone/>
              <a:defRPr sz="1800" b="0">
                <a:solidFill>
                  <a:srgbClr val="566C78"/>
                </a:solidFill>
              </a:defRPr>
            </a:lvl1pPr>
            <a:lvl2pPr algn="l">
              <a:buNone/>
              <a:defRPr sz="1800" b="0">
                <a:solidFill>
                  <a:srgbClr val="566C78"/>
                </a:solidFill>
              </a:defRPr>
            </a:lvl2pPr>
            <a:lvl3pPr algn="l">
              <a:buNone/>
              <a:defRPr sz="1800" b="0">
                <a:solidFill>
                  <a:srgbClr val="566C78"/>
                </a:solidFill>
              </a:defRPr>
            </a:lvl3pPr>
            <a:lvl4pPr algn="l">
              <a:buNone/>
              <a:defRPr sz="1800" b="0">
                <a:solidFill>
                  <a:srgbClr val="566C78"/>
                </a:solidFill>
              </a:defRPr>
            </a:lvl4pPr>
            <a:lvl5pPr algn="l">
              <a:buNone/>
              <a:defRPr sz="1800" b="0">
                <a:solidFill>
                  <a:srgbClr val="566C78"/>
                </a:solidFill>
              </a:defRPr>
            </a:lvl5pPr>
            <a:lvl6pPr algn="l">
              <a:buNone/>
              <a:defRPr sz="1800" b="0">
                <a:solidFill>
                  <a:srgbClr val="566C78"/>
                </a:solidFill>
              </a:defRPr>
            </a:lvl6pPr>
            <a:lvl7pPr algn="l">
              <a:buNone/>
              <a:defRPr sz="1800" b="0">
                <a:solidFill>
                  <a:srgbClr val="566C78"/>
                </a:solidFill>
              </a:defRPr>
            </a:lvl7pPr>
            <a:lvl8pPr algn="l">
              <a:buNone/>
              <a:defRPr sz="1800" b="0">
                <a:solidFill>
                  <a:srgbClr val="566C78"/>
                </a:solidFill>
              </a:defRPr>
            </a:lvl8pPr>
            <a:lvl9pPr algn="l">
              <a:buNone/>
              <a:defRPr sz="1800" b="0">
                <a:solidFill>
                  <a:srgbClr val="566C78"/>
                </a:solidFill>
              </a:defRPr>
            </a:lvl9pPr>
          </a:lstStyle>
          <a:p>
            <a:pPr algn="l">
              <a:buNone/>
              <a:defRPr sz="1800" b="0">
                <a:solidFill>
                  <a:srgbClr val="566C78"/>
                </a:solidFill>
              </a:defRPr>
            </a:pPr>
            <a:r>
              <a:rPr sz="1800" b="0">
                <a:solidFill>
                  <a:srgbClr val="566C78"/>
                </a:solidFill>
              </a:rPr>
              <a:t>FastAPI supports API development, but it does not design, secure or deploy the whole system for us.</a:t>
            </a:r>
          </a:p>
        </p:txBody>
      </p:sp>
      <p:sp>
        <p:nvSpPr>
          <p:cNvPr id="22" name="fixed-number-01">
            <a:extLst>
              <a:ext uri="{FF2B5EF4-FFF2-40B4-BE49-F238E27FC236}">
                <a16:creationId xmlns:a16="http://schemas.microsoft.com/office/drawing/2014/main" id="{EFAD03CF-B6AD-4716-9DCC-48AF29EDB462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400" b="1">
                <a:solidFill>
                  <a:srgbClr val="E76F51"/>
                </a:solidFill>
              </a:defRPr>
            </a:defPPr>
            <a:lvl1pPr algn="l">
              <a:buNone/>
              <a:defRPr sz="2400" b="1">
                <a:solidFill>
                  <a:srgbClr val="E76F51"/>
                </a:solidFill>
              </a:defRPr>
            </a:lvl1pPr>
            <a:lvl2pPr algn="l">
              <a:buNone/>
              <a:defRPr sz="2400" b="1">
                <a:solidFill>
                  <a:srgbClr val="E76F51"/>
                </a:solidFill>
              </a:defRPr>
            </a:lvl2pPr>
            <a:lvl3pPr algn="l">
              <a:buNone/>
              <a:defRPr sz="2400" b="1">
                <a:solidFill>
                  <a:srgbClr val="E76F51"/>
                </a:solidFill>
              </a:defRPr>
            </a:lvl3pPr>
            <a:lvl4pPr algn="l">
              <a:buNone/>
              <a:defRPr sz="2400" b="1">
                <a:solidFill>
                  <a:srgbClr val="E76F51"/>
                </a:solidFill>
              </a:defRPr>
            </a:lvl4pPr>
            <a:lvl5pPr algn="l">
              <a:buNone/>
              <a:defRPr sz="2400" b="1">
                <a:solidFill>
                  <a:srgbClr val="E76F51"/>
                </a:solidFill>
              </a:defRPr>
            </a:lvl5pPr>
            <a:lvl6pPr algn="l">
              <a:buNone/>
              <a:defRPr sz="2400" b="1">
                <a:solidFill>
                  <a:srgbClr val="E76F51"/>
                </a:solidFill>
              </a:defRPr>
            </a:lvl6pPr>
            <a:lvl7pPr algn="l">
              <a:buNone/>
              <a:defRPr sz="2400" b="1">
                <a:solidFill>
                  <a:srgbClr val="E76F51"/>
                </a:solidFill>
              </a:defRPr>
            </a:lvl7pPr>
            <a:lvl8pPr algn="l">
              <a:buNone/>
              <a:defRPr sz="2400" b="1">
                <a:solidFill>
                  <a:srgbClr val="E76F51"/>
                </a:solidFill>
              </a:defRPr>
            </a:lvl8pPr>
            <a:lvl9pPr algn="l">
              <a:buNone/>
              <a:defRPr sz="2400" b="1">
                <a:solidFill>
                  <a:srgbClr val="E76F51"/>
                </a:solidFill>
              </a:defRPr>
            </a:lvl9pPr>
          </a:lstStyle>
          <a:p>
            <a:pPr algn="l">
              <a:buNone/>
              <a:defRPr sz="2400" b="1">
                <a:solidFill>
                  <a:srgbClr val="E76F51"/>
                </a:solidFill>
              </a:defRPr>
            </a:pPr>
            <a:r>
              <a:rPr sz="2400" b="1">
                <a:solidFill>
                  <a:srgbClr val="E76F51"/>
                </a:solidFill>
              </a:rPr>
              <a:t>01</a:t>
            </a:r>
          </a:p>
        </p:txBody>
      </p:sp>
      <p:sp>
        <p:nvSpPr>
          <p:cNvPr id="23" name="fixed-number-02">
            <a:extLst>
              <a:ext uri="{FF2B5EF4-FFF2-40B4-BE49-F238E27FC236}">
                <a16:creationId xmlns:a16="http://schemas.microsoft.com/office/drawing/2014/main" id="{D6C384F7-FE91-4158-B885-3FC830AD507F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400" b="1">
                <a:solidFill>
                  <a:srgbClr val="E76F51"/>
                </a:solidFill>
              </a:defRPr>
            </a:defPPr>
            <a:lvl1pPr algn="l">
              <a:buNone/>
              <a:defRPr sz="2400" b="1">
                <a:solidFill>
                  <a:srgbClr val="E76F51"/>
                </a:solidFill>
              </a:defRPr>
            </a:lvl1pPr>
            <a:lvl2pPr algn="l">
              <a:buNone/>
              <a:defRPr sz="2400" b="1">
                <a:solidFill>
                  <a:srgbClr val="E76F51"/>
                </a:solidFill>
              </a:defRPr>
            </a:lvl2pPr>
            <a:lvl3pPr algn="l">
              <a:buNone/>
              <a:defRPr sz="2400" b="1">
                <a:solidFill>
                  <a:srgbClr val="E76F51"/>
                </a:solidFill>
              </a:defRPr>
            </a:lvl3pPr>
            <a:lvl4pPr algn="l">
              <a:buNone/>
              <a:defRPr sz="2400" b="1">
                <a:solidFill>
                  <a:srgbClr val="E76F51"/>
                </a:solidFill>
              </a:defRPr>
            </a:lvl4pPr>
            <a:lvl5pPr algn="l">
              <a:buNone/>
              <a:defRPr sz="2400" b="1">
                <a:solidFill>
                  <a:srgbClr val="E76F51"/>
                </a:solidFill>
              </a:defRPr>
            </a:lvl5pPr>
            <a:lvl6pPr algn="l">
              <a:buNone/>
              <a:defRPr sz="2400" b="1">
                <a:solidFill>
                  <a:srgbClr val="E76F51"/>
                </a:solidFill>
              </a:defRPr>
            </a:lvl6pPr>
            <a:lvl7pPr algn="l">
              <a:buNone/>
              <a:defRPr sz="2400" b="1">
                <a:solidFill>
                  <a:srgbClr val="E76F51"/>
                </a:solidFill>
              </a:defRPr>
            </a:lvl7pPr>
            <a:lvl8pPr algn="l">
              <a:buNone/>
              <a:defRPr sz="2400" b="1">
                <a:solidFill>
                  <a:srgbClr val="E76F51"/>
                </a:solidFill>
              </a:defRPr>
            </a:lvl8pPr>
            <a:lvl9pPr algn="l">
              <a:buNone/>
              <a:defRPr sz="2400" b="1">
                <a:solidFill>
                  <a:srgbClr val="E76F51"/>
                </a:solidFill>
              </a:defRPr>
            </a:lvl9pPr>
          </a:lstStyle>
          <a:p>
            <a:pPr algn="l">
              <a:buNone/>
              <a:defRPr sz="2400" b="1">
                <a:solidFill>
                  <a:srgbClr val="E76F51"/>
                </a:solidFill>
              </a:defRPr>
            </a:pPr>
            <a:r>
              <a:rPr sz="2400" b="1">
                <a:solidFill>
                  <a:srgbClr val="E76F51"/>
                </a:solidFill>
              </a:rPr>
              <a:t>02</a:t>
            </a:r>
          </a:p>
        </p:txBody>
      </p:sp>
      <p:sp>
        <p:nvSpPr>
          <p:cNvPr id="24" name="fixed-number-03">
            <a:extLst>
              <a:ext uri="{FF2B5EF4-FFF2-40B4-BE49-F238E27FC236}">
                <a16:creationId xmlns:a16="http://schemas.microsoft.com/office/drawing/2014/main" id="{8B1FAE98-2B22-4425-A100-CB0D6C7C07DB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400" b="1">
                <a:solidFill>
                  <a:srgbClr val="E76F51"/>
                </a:solidFill>
              </a:defRPr>
            </a:defPPr>
            <a:lvl1pPr algn="l">
              <a:buNone/>
              <a:defRPr sz="2400" b="1">
                <a:solidFill>
                  <a:srgbClr val="E76F51"/>
                </a:solidFill>
              </a:defRPr>
            </a:lvl1pPr>
            <a:lvl2pPr algn="l">
              <a:buNone/>
              <a:defRPr sz="2400" b="1">
                <a:solidFill>
                  <a:srgbClr val="E76F51"/>
                </a:solidFill>
              </a:defRPr>
            </a:lvl2pPr>
            <a:lvl3pPr algn="l">
              <a:buNone/>
              <a:defRPr sz="2400" b="1">
                <a:solidFill>
                  <a:srgbClr val="E76F51"/>
                </a:solidFill>
              </a:defRPr>
            </a:lvl3pPr>
            <a:lvl4pPr algn="l">
              <a:buNone/>
              <a:defRPr sz="2400" b="1">
                <a:solidFill>
                  <a:srgbClr val="E76F51"/>
                </a:solidFill>
              </a:defRPr>
            </a:lvl4pPr>
            <a:lvl5pPr algn="l">
              <a:buNone/>
              <a:defRPr sz="2400" b="1">
                <a:solidFill>
                  <a:srgbClr val="E76F51"/>
                </a:solidFill>
              </a:defRPr>
            </a:lvl5pPr>
            <a:lvl6pPr algn="l">
              <a:buNone/>
              <a:defRPr sz="2400" b="1">
                <a:solidFill>
                  <a:srgbClr val="E76F51"/>
                </a:solidFill>
              </a:defRPr>
            </a:lvl6pPr>
            <a:lvl7pPr algn="l">
              <a:buNone/>
              <a:defRPr sz="2400" b="1">
                <a:solidFill>
                  <a:srgbClr val="E76F51"/>
                </a:solidFill>
              </a:defRPr>
            </a:lvl7pPr>
            <a:lvl8pPr algn="l">
              <a:buNone/>
              <a:defRPr sz="2400" b="1">
                <a:solidFill>
                  <a:srgbClr val="E76F51"/>
                </a:solidFill>
              </a:defRPr>
            </a:lvl8pPr>
            <a:lvl9pPr algn="l">
              <a:buNone/>
              <a:defRPr sz="2400" b="1">
                <a:solidFill>
                  <a:srgbClr val="E76F51"/>
                </a:solidFill>
              </a:defRPr>
            </a:lvl9pPr>
          </a:lstStyle>
          <a:p>
            <a:pPr algn="l">
              <a:buNone/>
              <a:defRPr sz="2400" b="1">
                <a:solidFill>
                  <a:srgbClr val="E76F51"/>
                </a:solidFill>
              </a:defRPr>
            </a:pPr>
            <a:r>
              <a:rPr sz="2400" b="1">
                <a:solidFill>
                  <a:srgbClr val="E76F51"/>
                </a:solidFill>
              </a:rPr>
              <a:t>03</a:t>
            </a:r>
          </a:p>
        </p:txBody>
      </p:sp>
      <p:sp>
        <p:nvSpPr>
          <p:cNvPr id="25" name="fixed-footer-label">
            <a:extLst>
              <a:ext uri="{FF2B5EF4-FFF2-40B4-BE49-F238E27FC236}">
                <a16:creationId xmlns:a16="http://schemas.microsoft.com/office/drawing/2014/main" id="{58C28A1D-C1A8-4F9E-80EF-B0D57BDE6409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975" b="1">
                <a:solidFill>
                  <a:srgbClr val="566C78"/>
                </a:solidFill>
              </a:defRPr>
            </a:defPPr>
            <a:lvl1pPr algn="l">
              <a:buNone/>
              <a:defRPr sz="975" b="1">
                <a:solidFill>
                  <a:srgbClr val="566C78"/>
                </a:solidFill>
              </a:defRPr>
            </a:lvl1pPr>
            <a:lvl2pPr algn="l">
              <a:buNone/>
              <a:defRPr sz="975" b="1">
                <a:solidFill>
                  <a:srgbClr val="566C78"/>
                </a:solidFill>
              </a:defRPr>
            </a:lvl2pPr>
            <a:lvl3pPr algn="l">
              <a:buNone/>
              <a:defRPr sz="975" b="1">
                <a:solidFill>
                  <a:srgbClr val="566C78"/>
                </a:solidFill>
              </a:defRPr>
            </a:lvl3pPr>
            <a:lvl4pPr algn="l">
              <a:buNone/>
              <a:defRPr sz="975" b="1">
                <a:solidFill>
                  <a:srgbClr val="566C78"/>
                </a:solidFill>
              </a:defRPr>
            </a:lvl4pPr>
            <a:lvl5pPr algn="l">
              <a:buNone/>
              <a:defRPr sz="975" b="1">
                <a:solidFill>
                  <a:srgbClr val="566C78"/>
                </a:solidFill>
              </a:defRPr>
            </a:lvl5pPr>
            <a:lvl6pPr algn="l">
              <a:buNone/>
              <a:defRPr sz="975" b="1">
                <a:solidFill>
                  <a:srgbClr val="566C78"/>
                </a:solidFill>
              </a:defRPr>
            </a:lvl6pPr>
            <a:lvl7pPr algn="l">
              <a:buNone/>
              <a:defRPr sz="975" b="1">
                <a:solidFill>
                  <a:srgbClr val="566C78"/>
                </a:solidFill>
              </a:defRPr>
            </a:lvl7pPr>
            <a:lvl8pPr algn="l">
              <a:buNone/>
              <a:defRPr sz="975" b="1">
                <a:solidFill>
                  <a:srgbClr val="566C78"/>
                </a:solidFill>
              </a:defRPr>
            </a:lvl8pPr>
            <a:lvl9pPr algn="l">
              <a:buNone/>
              <a:defRPr sz="975" b="1">
                <a:solidFill>
                  <a:srgbClr val="566C78"/>
                </a:solidFill>
              </a:defRPr>
            </a:lvl9pPr>
          </a:lstStyle>
          <a:p>
            <a:pPr algn="l">
              <a:buNone/>
              <a:defRPr sz="975" b="1">
                <a:solidFill>
                  <a:srgbClr val="566C78"/>
                </a:solidFill>
              </a:defRPr>
            </a:pPr>
            <a:r>
              <a:rPr sz="975" b="1">
                <a:solidFill>
                  <a:srgbClr val="566C78"/>
                </a:solidFill>
              </a:rPr>
              <a:t>COMP10020 · FASTAPI</a:t>
            </a:r>
          </a:p>
        </p:txBody>
      </p:sp>
    </p:spTree>
    <p:extLst>
      <p:ext uri="{BB962C8B-B14F-4D97-AF65-F5344CB8AC3E}">
        <p14:creationId xmlns:p14="http://schemas.microsoft.com/office/powerpoint/2010/main" val="179150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-label">
            <a:extLst>
              <a:ext uri="{FF2B5EF4-FFF2-40B4-BE49-F238E27FC236}">
                <a16:creationId xmlns:a16="http://schemas.microsoft.com/office/drawing/2014/main" id="{FB9B6FE1-3AFE-41AC-AC4C-2611A616173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75" b="1" i="0">
                <a:solidFill>
                  <a:srgbClr val="087F7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F73"/>
                </a:solidFill>
                <a:latin typeface="Aptos"/>
                <a:ea typeface="Aptos"/>
                <a:cs typeface="Aptos"/>
              </a:rPr>
              <a:t>PRACTICAL USE CASES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8ED0C3E-6BB9-4909-A617-37E411C64D4C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7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Where FastAPI fits well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B60E5580-E6CC-4EBB-A1FF-20FCB06A6CD6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FastAPI works well when a clear Python API is the main product or connects other components.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2A7E5E-7678-4905-A2E2-4C8C861956D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5" name="footer-label">
            <a:extLst>
              <a:ext uri="{FF2B5EF4-FFF2-40B4-BE49-F238E27FC236}">
                <a16:creationId xmlns:a16="http://schemas.microsoft.com/office/drawing/2014/main" id="{6B6F32D9-11A8-4862-8638-EE64CF5D00A7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FE943E45-F43D-486E-8336-7BC79AC7CF89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825" b="1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3F9229-75E4-45B1-94FA-49A4E89F9197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4D8E05-1F2E-4B2F-9853-65FEFB36C25F}"/>
              </a:ext>
            </a:extLst>
          </p:cNvPr>
          <p:cNvSpPr>
            <a:spLocks noGrp="1"/>
          </p:cNvSpPr>
          <p:nvPr/>
        </p:nvSpPr>
        <p:spPr>
          <a:xfrm>
            <a:off x="1714500" y="21907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REST backends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F59D9-6B38-47B5-B5CC-486261C48915}"/>
              </a:ext>
            </a:extLst>
          </p:cNvPr>
          <p:cNvSpPr>
            <a:spLocks noGrp="1"/>
          </p:cNvSpPr>
          <p:nvPr/>
        </p:nvSpPr>
        <p:spPr>
          <a:xfrm>
            <a:off x="4953000" y="220980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JSON endpoints can serve web applications, mobile clients and internal tools.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D864ED-9FD3-4193-B05E-5705A589A142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AB50A0-E8D5-45A4-999B-07B8E5AA3C71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32A386-FE24-4EE8-8AFC-5A3E3C959EAF}"/>
              </a:ext>
            </a:extLst>
          </p:cNvPr>
          <p:cNvSpPr>
            <a:spLocks noGrp="1"/>
          </p:cNvSpPr>
          <p:nvPr/>
        </p:nvSpPr>
        <p:spPr>
          <a:xfrm>
            <a:off x="1714500" y="31813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Data and ML services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85F46B-1E56-44FB-85D6-CED8F27B6474}"/>
              </a:ext>
            </a:extLst>
          </p:cNvPr>
          <p:cNvSpPr>
            <a:spLocks noGrp="1"/>
          </p:cNvSpPr>
          <p:nvPr/>
        </p:nvSpPr>
        <p:spPr>
          <a:xfrm>
            <a:off x="4953000" y="320040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Typed inputs and outputs can wrap existing Python or machine-learning logic.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305BE8-D756-427A-84AC-E1E85815EC24}"/>
              </a:ext>
            </a:extLst>
          </p:cNvPr>
          <p:cNvSpPr>
            <a:spLocks noGrp="1"/>
          </p:cNvSpPr>
          <p:nvPr/>
        </p:nvSpPr>
        <p:spPr>
          <a:xfrm>
            <a:off x="800100" y="388620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AAA964-9093-4659-AD35-011E5A9CFFF0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8B59D8-1052-480D-A7D0-4257E0417BD0}"/>
              </a:ext>
            </a:extLst>
          </p:cNvPr>
          <p:cNvSpPr>
            <a:spLocks noGrp="1"/>
          </p:cNvSpPr>
          <p:nvPr/>
        </p:nvSpPr>
        <p:spPr>
          <a:xfrm>
            <a:off x="1714500" y="41719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02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75" b="1" i="0">
                <a:solidFill>
                  <a:srgbClr val="153247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53247"/>
                </a:solidFill>
                <a:latin typeface="Aptos"/>
                <a:ea typeface="Aptos"/>
                <a:cs typeface="Aptos"/>
              </a:rPr>
              <a:t>Teaching and prototypes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C24D79-38E3-4BB8-B84B-AD3EA466A66D}"/>
              </a:ext>
            </a:extLst>
          </p:cNvPr>
          <p:cNvSpPr>
            <a:spLocks noGrp="1"/>
          </p:cNvSpPr>
          <p:nvPr/>
        </p:nvSpPr>
        <p:spPr>
          <a:xfrm>
            <a:off x="4953000" y="4191000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>
            <a:defPPr algn="l">
              <a:defRPr sz="18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0" i="0">
                <a:solidFill>
                  <a:srgbClr val="566C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66C78"/>
                </a:solidFill>
                <a:latin typeface="Aptos"/>
                <a:ea typeface="Aptos"/>
                <a:cs typeface="Aptos"/>
              </a:rPr>
              <a:t>Generated documentation gives learners quick feedback and makes testing easier.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41192C-C6A6-4258-858D-917194855FBE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10344150" cy="14288"/>
          </a:xfrm>
          <a:prstGeom prst="rect">
            <a:avLst/>
          </a:prstGeom>
          <a:solidFill>
            <a:srgbClr val="C9D7D1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468C94-4C3B-47DF-B68A-E9368320D557}"/>
              </a:ext>
            </a:extLst>
          </p:cNvPr>
          <p:cNvSpPr>
            <a:spLocks noGrp="1"/>
          </p:cNvSpPr>
          <p:nvPr/>
        </p:nvSpPr>
        <p:spPr>
          <a:xfrm>
            <a:off x="1524000" y="5486400"/>
            <a:ext cx="914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50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350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Production systems still need security, persistent storage, deployment and monitoring.</a:t>
            </a:r>
          </a:p>
        </p:txBody>
      </p:sp>
    </p:spTree>
    <p:extLst>
      <p:ext uri="{BB962C8B-B14F-4D97-AF65-F5344CB8AC3E}">
        <p14:creationId xmlns:p14="http://schemas.microsoft.com/office/powerpoint/2010/main" val="863470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4E8189E-2574-4BBE-96AC-838351770D3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9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DE2B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213673-02C5-464F-91B1-E200BF45C763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95000"/>
              </a:lnSpc>
              <a:buNone/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 in three ideas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F8CC1-33CD-427C-AC83-A9BF59B34377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Continue with our GitHub Pages resource for online information and the step-by-step tutorial.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F226C7-CF14-4E99-B72D-52CDD244805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49606E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450800-5265-4F1B-9EDC-CA6E96F6A52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82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FC0C9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4D3F80-1692-48C5-8BF3-B08483F86B82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0000"/>
              </a:lnSpc>
              <a:buNone/>
              <a:defRPr sz="825" b="1" i="0">
                <a:solidFill>
                  <a:srgbClr val="AFC0C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FC0C9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7EE56B-D383-4079-8601-CD8AB6F02701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3390900" cy="1866900"/>
          </a:xfrm>
          <a:prstGeom prst="rect">
            <a:avLst/>
          </a:prstGeom>
          <a:solidFill>
            <a:srgbClr val="132D3C"/>
          </a:solidFill>
          <a:ln w="9525">
            <a:solidFill>
              <a:srgbClr val="36536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DC3B3F-A0B1-4368-B09A-980DDB955DFC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23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366232-AE1E-4B06-AD60-8D2BA4B0C634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Types become a contract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0377EA-FB89-47C7-B8D5-9AD5EB3AD012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2914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2000"/>
              </a:lnSpc>
              <a:buNone/>
              <a:defRPr sz="11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Types guide validation, schema generation and consistent responses.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93F73C-544C-4B28-85EB-BFF3ECD904F7}"/>
              </a:ext>
            </a:extLst>
          </p:cNvPr>
          <p:cNvSpPr>
            <a:spLocks noGrp="1"/>
          </p:cNvSpPr>
          <p:nvPr/>
        </p:nvSpPr>
        <p:spPr>
          <a:xfrm>
            <a:off x="4438650" y="2038350"/>
            <a:ext cx="3390900" cy="1866900"/>
          </a:xfrm>
          <a:prstGeom prst="rect">
            <a:avLst/>
          </a:prstGeom>
          <a:solidFill>
            <a:srgbClr val="15394A"/>
          </a:solidFill>
          <a:ln w="9525">
            <a:solidFill>
              <a:srgbClr val="36536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393461-67C5-4CBB-ABC1-FA64940267D7}"/>
              </a:ext>
            </a:extLst>
          </p:cNvPr>
          <p:cNvSpPr>
            <a:spLocks noGrp="1"/>
          </p:cNvSpPr>
          <p:nvPr/>
        </p:nvSpPr>
        <p:spPr>
          <a:xfrm>
            <a:off x="4667250" y="220980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23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F9A56B-7647-42F1-8014-969F4F6CA654}"/>
              </a:ext>
            </a:extLst>
          </p:cNvPr>
          <p:cNvSpPr>
            <a:spLocks noGrp="1"/>
          </p:cNvSpPr>
          <p:nvPr/>
        </p:nvSpPr>
        <p:spPr>
          <a:xfrm>
            <a:off x="4667250" y="272415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docs are executable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54D4CD-F0C0-4629-AC28-07BB9BEEBB0E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2914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2000"/>
              </a:lnSpc>
              <a:buNone/>
              <a:defRPr sz="11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Swagger UI makes the API visible, testable and easier to explain.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CC7DE6-56E2-45AD-B73C-C8FCC67B6B9B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3390900" cy="1866900"/>
          </a:xfrm>
          <a:prstGeom prst="rect">
            <a:avLst/>
          </a:prstGeom>
          <a:solidFill>
            <a:srgbClr val="132D3C"/>
          </a:solidFill>
          <a:ln w="9525">
            <a:solidFill>
              <a:srgbClr val="36536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A61FD4-AB00-4D81-AA83-968560E2743E}"/>
              </a:ext>
            </a:extLst>
          </p:cNvPr>
          <p:cNvSpPr>
            <a:spLocks noGrp="1"/>
          </p:cNvSpPr>
          <p:nvPr/>
        </p:nvSpPr>
        <p:spPr>
          <a:xfrm>
            <a:off x="8420100" y="2209800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5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23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94FB25-0EF9-4EAC-AB68-528B7609C125}"/>
              </a:ext>
            </a:extLst>
          </p:cNvPr>
          <p:cNvSpPr>
            <a:spLocks noGrp="1"/>
          </p:cNvSpPr>
          <p:nvPr/>
        </p:nvSpPr>
        <p:spPr>
          <a:xfrm>
            <a:off x="8420100" y="272415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Simple can still be complete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588BAA-4869-4722-BAD9-5A12E8B24873}"/>
              </a:ext>
            </a:extLst>
          </p:cNvPr>
          <p:cNvSpPr>
            <a:spLocks noGrp="1"/>
          </p:cNvSpPr>
          <p:nvPr/>
        </p:nvSpPr>
        <p:spPr>
          <a:xfrm>
            <a:off x="8420100" y="3105150"/>
            <a:ext cx="2914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2000"/>
              </a:lnSpc>
              <a:buNone/>
              <a:defRPr sz="112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Five routes, clear errors and tests show a complete learning example.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7C05B64-A3DE-43F2-B871-76C75A55AEAA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0820400" cy="1962150"/>
          </a:xfrm>
          <a:prstGeom prst="roundRect">
            <a:avLst>
              <a:gd name="adj" fmla="val 5825"/>
            </a:avLst>
          </a:prstGeom>
          <a:solidFill>
            <a:srgbClr val="15394A"/>
          </a:solidFill>
          <a:ln w="9525">
            <a:solidFill>
              <a:srgbClr val="36536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6E2A2C-391D-46A6-A2F9-D7BB3C5B6C10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975" b="1" i="0">
                <a:solidFill>
                  <a:srgbClr val="8DE2B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DE2BD"/>
                </a:solidFill>
                <a:latin typeface="Aptos"/>
                <a:ea typeface="Aptos"/>
                <a:cs typeface="Aptos"/>
              </a:rPr>
              <a:t>ONLINE LEARNING RESOURCE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7E81AB-20A1-468A-8BDD-49AA124F1FE2}"/>
              </a:ext>
            </a:extLst>
          </p:cNvPr>
          <p:cNvSpPr>
            <a:spLocks noGrp="1"/>
          </p:cNvSpPr>
          <p:nvPr/>
        </p:nvSpPr>
        <p:spPr>
          <a:xfrm>
            <a:off x="952500" y="472440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Scan the QR code or open: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CBFD03-8103-474E-B438-9F5627CACC61}"/>
              </a:ext>
            </a:extLst>
          </p:cNvPr>
          <p:cNvSpPr>
            <a:spLocks noGrp="1"/>
          </p:cNvSpPr>
          <p:nvPr/>
        </p:nvSpPr>
        <p:spPr>
          <a:xfrm>
            <a:off x="952500" y="50292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https://tianjianzou123.github.io/fastapi-cw1/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BF65A29-A2E9-4CB1-9DE4-15E0FDA0D3D3}"/>
              </a:ext>
            </a:extLst>
          </p:cNvPr>
          <p:cNvSpPr>
            <a:spLocks noGrp="1"/>
          </p:cNvSpPr>
          <p:nvPr/>
        </p:nvSpPr>
        <p:spPr>
          <a:xfrm>
            <a:off x="952500" y="54673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14000"/>
              </a:lnSpc>
              <a:buNone/>
              <a:defRPr sz="10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Online Information: overview · architecture · examples · evaluation</a:t>
            </a:r>
          </a:p>
          <a:p>
            <a:pPr algn="l">
              <a:lnSpc>
                <a:spcPct val="114000"/>
              </a:lnSpc>
              <a:buNone/>
              <a:defRPr sz="1050" b="0" i="0">
                <a:solidFill>
                  <a:srgbClr val="C6D2D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6D2DA"/>
                </a:solidFill>
                <a:latin typeface="Aptos"/>
                <a:ea typeface="Aptos"/>
                <a:cs typeface="Aptos"/>
              </a:rPr>
              <a:t>Online Tutorial: setup · CRUD · validation · exercises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584A030-5140-4A57-87AC-5E7AAA8B8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20250" y="4362450"/>
            <a:ext cx="16573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9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882C8CB-ACE8-4202-8410-D393682D822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975" b="1" i="0">
                <a:solidFill>
                  <a:srgbClr val="055A5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55A52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A1ACDA-4FC1-4639-80FC-6D30097EF63F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60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95000"/>
              </a:lnSpc>
              <a:buNone/>
              <a:defRPr sz="2850" b="1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Official documentation used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508DF7-FF6B-4764-97EF-7B2728C2883E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These official sources support our definitions, examples, testing and status-code explanations. Full citations also appear online.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CEC1CE-9AC0-4B5E-B537-89B09F8DDFB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14288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953EF2-16A6-436A-9498-B1687DC7943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82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COMP10020 · FASTAPI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792078-8602-46D8-960F-E5AC62EFBF5F}"/>
              </a:ext>
            </a:extLst>
          </p:cNvPr>
          <p:cNvSpPr>
            <a:spLocks noGrp="1"/>
          </p:cNvSpPr>
          <p:nvPr/>
        </p:nvSpPr>
        <p:spPr>
          <a:xfrm>
            <a:off x="11049000" y="65436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7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lnSpc>
                <a:spcPct val="100000"/>
              </a:lnSpc>
              <a:buNone/>
              <a:defRPr sz="825" b="1" i="0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3687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7EEBD0-F879-42F4-8326-AEACCBC91B61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452C04-AFBE-4347-9533-7B7C7038EE58}"/>
              </a:ext>
            </a:extLst>
          </p:cNvPr>
          <p:cNvSpPr>
            <a:spLocks noGrp="1"/>
          </p:cNvSpPr>
          <p:nvPr/>
        </p:nvSpPr>
        <p:spPr>
          <a:xfrm>
            <a:off x="1352550" y="21526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FastAPI (2026) Features — fastapi.tiangolo.com/features/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BA5353-70A3-4804-B05D-63BCA96F2323}"/>
              </a:ext>
            </a:extLst>
          </p:cNvPr>
          <p:cNvSpPr>
            <a:spLocks noGrp="1"/>
          </p:cNvSpPr>
          <p:nvPr/>
        </p:nvSpPr>
        <p:spPr>
          <a:xfrm>
            <a:off x="1352550" y="2514600"/>
            <a:ext cx="9772650" cy="9525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B17AA3-CD7C-437D-B715-FA9BEF474D58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9CE064-4631-456C-9756-16822635C6DD}"/>
              </a:ext>
            </a:extLst>
          </p:cNvPr>
          <p:cNvSpPr>
            <a:spLocks noGrp="1"/>
          </p:cNvSpPr>
          <p:nvPr/>
        </p:nvSpPr>
        <p:spPr>
          <a:xfrm>
            <a:off x="1352550" y="27051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FastAPI (2026) First Steps — fastapi.tiangolo.com/tutorial/first-steps/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384549-83EF-4286-B201-BC458A5DC013}"/>
              </a:ext>
            </a:extLst>
          </p:cNvPr>
          <p:cNvSpPr>
            <a:spLocks noGrp="1"/>
          </p:cNvSpPr>
          <p:nvPr/>
        </p:nvSpPr>
        <p:spPr>
          <a:xfrm>
            <a:off x="1352550" y="3067050"/>
            <a:ext cx="9772650" cy="9525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F5DD5F-694E-4FD0-811C-E13E52EEA903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866F65-3C49-49FE-A972-1C71C74706B3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FastAPI (2026) Testing — fastapi.tiangolo.com/tutorial/testing/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D521B1-ED74-40EC-9405-34899527E85B}"/>
              </a:ext>
            </a:extLst>
          </p:cNvPr>
          <p:cNvSpPr>
            <a:spLocks noGrp="1"/>
          </p:cNvSpPr>
          <p:nvPr/>
        </p:nvSpPr>
        <p:spPr>
          <a:xfrm>
            <a:off x="1352550" y="3619500"/>
            <a:ext cx="9772650" cy="9525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51E52A-462A-4B29-8AFE-FEDABC784537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03B2D1-145F-4991-974A-401E3F7ECAA5}"/>
              </a:ext>
            </a:extLst>
          </p:cNvPr>
          <p:cNvSpPr>
            <a:spLocks noGrp="1"/>
          </p:cNvSpPr>
          <p:nvPr/>
        </p:nvSpPr>
        <p:spPr>
          <a:xfrm>
            <a:off x="1352550" y="38100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Pydantic (2026) Documentation — docs.pydantic.dev/latest/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3291F6-56C6-472E-89A9-F5915FD7B757}"/>
              </a:ext>
            </a:extLst>
          </p:cNvPr>
          <p:cNvSpPr>
            <a:spLocks noGrp="1"/>
          </p:cNvSpPr>
          <p:nvPr/>
        </p:nvSpPr>
        <p:spPr>
          <a:xfrm>
            <a:off x="1352550" y="4171950"/>
            <a:ext cx="9772650" cy="9525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C925F3-A041-4A2C-A223-32BFD1F43222}"/>
              </a:ext>
            </a:extLst>
          </p:cNvPr>
          <p:cNvSpPr>
            <a:spLocks noGrp="1"/>
          </p:cNvSpPr>
          <p:nvPr/>
        </p:nvSpPr>
        <p:spPr>
          <a:xfrm>
            <a:off x="723900" y="43624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9942FE-75DA-45C3-A2FA-1A877BB1E9B7}"/>
              </a:ext>
            </a:extLst>
          </p:cNvPr>
          <p:cNvSpPr>
            <a:spLocks noGrp="1"/>
          </p:cNvSpPr>
          <p:nvPr/>
        </p:nvSpPr>
        <p:spPr>
          <a:xfrm>
            <a:off x="1352550" y="43624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Uvicorn (2026) Documentation — uvicorn.org/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9B1AD0-1AF0-4BF8-9724-9CF1E104248F}"/>
              </a:ext>
            </a:extLst>
          </p:cNvPr>
          <p:cNvSpPr>
            <a:spLocks noGrp="1"/>
          </p:cNvSpPr>
          <p:nvPr/>
        </p:nvSpPr>
        <p:spPr>
          <a:xfrm>
            <a:off x="1352550" y="4724400"/>
            <a:ext cx="9772650" cy="9525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71EEAA-F6D9-4037-9656-1838BB74ECDD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5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EF765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F765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686DAC-F4BB-4901-841A-6BFB7E7986A4}"/>
              </a:ext>
            </a:extLst>
          </p:cNvPr>
          <p:cNvSpPr>
            <a:spLocks noGrp="1"/>
          </p:cNvSpPr>
          <p:nvPr/>
        </p:nvSpPr>
        <p:spPr>
          <a:xfrm>
            <a:off x="1352550" y="49149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023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02333"/>
                </a:solidFill>
                <a:latin typeface="Aptos"/>
                <a:ea typeface="Aptos"/>
                <a:cs typeface="Aptos"/>
              </a:rPr>
              <a:t>OpenAPI Initiative (2026) Specification v3.2.1 — spec.openapis.org/oas/v3.2.1.html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624106-5685-40D3-A9AF-52619536B7B3}"/>
              </a:ext>
            </a:extLst>
          </p:cNvPr>
          <p:cNvSpPr>
            <a:spLocks noGrp="1"/>
          </p:cNvSpPr>
          <p:nvPr/>
        </p:nvSpPr>
        <p:spPr>
          <a:xfrm>
            <a:off x="1352550" y="5276850"/>
            <a:ext cx="9772650" cy="9525"/>
          </a:xfrm>
          <a:prstGeom prst="rect">
            <a:avLst/>
          </a:prstGeom>
          <a:solidFill>
            <a:srgbClr val="CCD9D5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407D80-5AF3-489F-8FC5-EDD3A7CA12EC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lnSpc>
                <a:spcPct val="100000"/>
              </a:lnSpc>
              <a:buNone/>
              <a:defRPr sz="1050" b="0" i="1">
                <a:solidFill>
                  <a:srgbClr val="536876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536876"/>
                </a:solidFill>
                <a:latin typeface="Aptos"/>
                <a:ea typeface="Aptos"/>
                <a:cs typeface="Aptos"/>
              </a:rPr>
              <a:t>Accessed 14 October 2026 · Full reference list: tianjianzou123.github.io/fastapi-cw1/#references</a:t>
            </a:r>
          </a:p>
        </p:txBody>
      </p:sp>
    </p:spTree>
    <p:extLst>
      <p:ext uri="{BB962C8B-B14F-4D97-AF65-F5344CB8AC3E}">
        <p14:creationId xmlns:p14="http://schemas.microsoft.com/office/powerpoint/2010/main" val="150274327"/>
      </p:ext>
    </p:extLst>
  </p:cSld>
  <p:clrMapOvr>
    <a:masterClrMapping/>
  </p:clrMapOvr>
</p:sld>
</file>

<file path=ppt/theme/theme1.xml><?xml version="1.0" encoding="utf-8"?>
<a:theme xmlns:a="http://schemas.openxmlformats.org/drawingml/2006/main" name="FastAPI CW1">
  <a:themeElements>
    <a:clrScheme name="FastAPI CW1">
      <a:dk1>
        <a:srgbClr val="000000"/>
      </a:dk1>
      <a:lt1>
        <a:srgbClr val="FFFFFF"/>
      </a:lt1>
      <a:dk2>
        <a:srgbClr val="0E1C27"/>
      </a:dk2>
      <a:lt2>
        <a:srgbClr val="E8E8E8"/>
      </a:lt2>
      <a:accent1>
        <a:srgbClr val="087F72"/>
      </a:accent1>
      <a:accent2>
        <a:srgbClr val="EF765E"/>
      </a:accent2>
      <a:accent3>
        <a:srgbClr val="8DE2BD"/>
      </a:accent3>
      <a:accent4>
        <a:srgbClr val="055A52"/>
      </a:accent4>
      <a:accent5>
        <a:srgbClr val="EAF3FA"/>
      </a:accent5>
      <a:accent6>
        <a:srgbClr val="D7B95D"/>
      </a:accent6>
      <a:hlink>
        <a:srgbClr val="087F72"/>
      </a:hlink>
      <a:folHlink>
        <a:srgbClr val="6B4B9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astAPI CW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stAPI CW1">
  <a:themeElements>
    <a:clrScheme name="FastAPI CW1">
      <a:dk1>
        <a:srgbClr val="000000"/>
      </a:dk1>
      <a:lt1>
        <a:srgbClr val="FFFFFF"/>
      </a:lt1>
      <a:dk2>
        <a:srgbClr val="0E1C27"/>
      </a:dk2>
      <a:lt2>
        <a:srgbClr val="E8E8E8"/>
      </a:lt2>
      <a:accent1>
        <a:srgbClr val="087F72"/>
      </a:accent1>
      <a:accent2>
        <a:srgbClr val="EF765E"/>
      </a:accent2>
      <a:accent3>
        <a:srgbClr val="8DE2BD"/>
      </a:accent3>
      <a:accent4>
        <a:srgbClr val="055A52"/>
      </a:accent4>
      <a:accent5>
        <a:srgbClr val="EAF3FA"/>
      </a:accent5>
      <a:accent6>
        <a:srgbClr val="D7B95D"/>
      </a:accent6>
      <a:hlink>
        <a:srgbClr val="087F72"/>
      </a:hlink>
      <a:folHlink>
        <a:srgbClr val="6B4B9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FastAPI CW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3065</Words>
  <Application>Microsoft Office PowerPoint</Application>
  <DocSecurity>0</DocSecurity>
  <PresentationFormat>宽屏</PresentationFormat>
  <Paragraphs>492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Aptos</vt:lpstr>
      <vt:lpstr>Cascadia Mono</vt:lpstr>
      <vt:lpstr>FastAPI CW1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天健 邹</cp:lastModifiedBy>
  <cp:revision>3</cp:revision>
  <dcterms:created xsi:type="dcterms:W3CDTF">2026-10-17T10:56:38Z</dcterms:created>
  <dcterms:modified xsi:type="dcterms:W3CDTF">2026-10-19T13:30:11Z</dcterms:modified>
</cp:coreProperties>
</file>