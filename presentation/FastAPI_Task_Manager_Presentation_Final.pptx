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683659362064cb5" /><Relationship Type="http://schemas.openxmlformats.org/officeDocument/2006/relationships/extended-properties" Target="/docProps/app.xml" Id="R48fb6fda24554995" /><Relationship Type="http://schemas.openxmlformats.org/officeDocument/2006/relationships/officeDocument" Target="/ppt/presentation.xml" Id="R6bb0290a32ec478f" /></Relationships>
</file>

<file path=ppt/presentation.xml><?xml version="1.0" encoding="utf-8"?>
<p:presentation xmlns:p="http://schemas.openxmlformats.org/presentationml/2006/main">
  <p:sldMasterIdLst>
    <p:sldMasterId xmlns:r="http://schemas.openxmlformats.org/officeDocument/2006/relationships" id="2147483648" r:id="R55bfe7de49174170"/>
  </p:sldMasterIdLst>
  <p:notesMasterIdLst>
    <p:notesMasterId xmlns:r="http://schemas.openxmlformats.org/officeDocument/2006/relationships" r:id="R57c2b7dc26164594"/>
  </p:notesMasterIdLst>
  <p:sldIdLst>
    <p:sldId xmlns:r="http://schemas.openxmlformats.org/officeDocument/2006/relationships" id="256" r:id="Radef6900d81c4ad8"/>
    <p:sldId xmlns:r="http://schemas.openxmlformats.org/officeDocument/2006/relationships" id="257" r:id="R716ebaa1e0874c3c"/>
    <p:sldId xmlns:r="http://schemas.openxmlformats.org/officeDocument/2006/relationships" id="258" r:id="R1c46826ecc3a4e6e"/>
    <p:sldId xmlns:r="http://schemas.openxmlformats.org/officeDocument/2006/relationships" id="259" r:id="R0755da37003343ce"/>
    <p:sldId xmlns:r="http://schemas.openxmlformats.org/officeDocument/2006/relationships" id="260" r:id="R9ef3d29e6e6a4e31"/>
    <p:sldId xmlns:r="http://schemas.openxmlformats.org/officeDocument/2006/relationships" id="261" r:id="R8db7108bdd0e4a3a"/>
    <p:sldId xmlns:r="http://schemas.openxmlformats.org/officeDocument/2006/relationships" id="262" r:id="R8a5a6c858f4e4e80"/>
    <p:sldId xmlns:r="http://schemas.openxmlformats.org/officeDocument/2006/relationships" id="263" r:id="R57ce48985f9a4a88"/>
    <p:sldId xmlns:r="http://schemas.openxmlformats.org/officeDocument/2006/relationships" id="264" r:id="R122385626fd748f6"/>
    <p:sldId xmlns:r="http://schemas.openxmlformats.org/officeDocument/2006/relationships" id="265" r:id="R154a5bea61374b35"/>
    <p:sldId xmlns:r="http://schemas.openxmlformats.org/officeDocument/2006/relationships" id="266" r:id="Rf849f865d94044e0"/>
    <p:sldId xmlns:r="http://schemas.openxmlformats.org/officeDocument/2006/relationships" id="267" r:id="Re4d0d31e92b04de5"/>
    <p:sldId xmlns:r="http://schemas.openxmlformats.org/officeDocument/2006/relationships" id="268" r:id="R33315ec532b74550"/>
    <p:sldId xmlns:r="http://schemas.openxmlformats.org/officeDocument/2006/relationships" id="269" r:id="R0cd0f09e372a4553"/>
    <p:sldId xmlns:r="http://schemas.openxmlformats.org/officeDocument/2006/relationships" id="270" r:id="R686ce7aba4bd448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c659802fe3648ba" /><Relationship Type="http://schemas.openxmlformats.org/officeDocument/2006/relationships/slideMaster" Target="/ppt/slideMasters/slideMaster1.xml" Id="R55bfe7de49174170" /><Relationship Type="http://schemas.openxmlformats.org/officeDocument/2006/relationships/notesMaster" Target="/ppt/notesMasters/notesMaster1.xml" Id="R57c2b7dc26164594" /><Relationship Type="http://schemas.openxmlformats.org/officeDocument/2006/relationships/presProps" Target="/ppt/presProps.xml" Id="R4229b46bb66647b0" /><Relationship Type="http://schemas.openxmlformats.org/officeDocument/2006/relationships/tableStyles" Target="/ppt/tableStyles.xml" Id="R087099c248094c4c" /><Relationship Type="http://schemas.openxmlformats.org/officeDocument/2006/relationships/slide" Target="/ppt/slides/slide1.xml" Id="Radef6900d81c4ad8" /><Relationship Type="http://schemas.openxmlformats.org/officeDocument/2006/relationships/slide" Target="/ppt/slides/slide2.xml" Id="R716ebaa1e0874c3c" /><Relationship Type="http://schemas.openxmlformats.org/officeDocument/2006/relationships/slide" Target="/ppt/slides/slide3.xml" Id="R1c46826ecc3a4e6e" /><Relationship Type="http://schemas.openxmlformats.org/officeDocument/2006/relationships/slide" Target="/ppt/slides/slide4.xml" Id="R0755da37003343ce" /><Relationship Type="http://schemas.openxmlformats.org/officeDocument/2006/relationships/slide" Target="/ppt/slides/slide5.xml" Id="R9ef3d29e6e6a4e31" /><Relationship Type="http://schemas.openxmlformats.org/officeDocument/2006/relationships/slide" Target="/ppt/slides/slide6.xml" Id="R8db7108bdd0e4a3a" /><Relationship Type="http://schemas.openxmlformats.org/officeDocument/2006/relationships/slide" Target="/ppt/slides/slide7.xml" Id="R8a5a6c858f4e4e80" /><Relationship Type="http://schemas.openxmlformats.org/officeDocument/2006/relationships/slide" Target="/ppt/slides/slide8.xml" Id="R57ce48985f9a4a88" /><Relationship Type="http://schemas.openxmlformats.org/officeDocument/2006/relationships/slide" Target="/ppt/slides/slide9.xml" Id="R122385626fd748f6" /><Relationship Type="http://schemas.openxmlformats.org/officeDocument/2006/relationships/slide" Target="/ppt/slides/slide10.xml" Id="R154a5bea61374b35" /><Relationship Type="http://schemas.openxmlformats.org/officeDocument/2006/relationships/slide" Target="/ppt/slides/slide11.xml" Id="Rf849f865d94044e0" /><Relationship Type="http://schemas.openxmlformats.org/officeDocument/2006/relationships/slide" Target="/ppt/slides/slide12.xml" Id="Re4d0d31e92b04de5" /><Relationship Type="http://schemas.openxmlformats.org/officeDocument/2006/relationships/slide" Target="/ppt/slides/slide13.xml" Id="R33315ec532b74550" /><Relationship Type="http://schemas.openxmlformats.org/officeDocument/2006/relationships/slide" Target="/ppt/slides/slide14.xml" Id="R0cd0f09e372a4553" /><Relationship Type="http://schemas.openxmlformats.org/officeDocument/2006/relationships/slide" Target="/ppt/slides/slide15.xml" Id="R686ce7aba4bd448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41202353db14a1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FastAPI CW1">
  <a:themeElements>
    <a:clrScheme name="FastAPI CW1">
      <a:dk1>
        <a:srgbClr val="000000"/>
      </a:dk1>
      <a:lt1>
        <a:srgbClr val="FFFFFF"/>
      </a:lt1>
      <a:dk2>
        <a:srgbClr val="0E1C27"/>
      </a:dk2>
      <a:lt2>
        <a:srgbClr val="E8E8E8"/>
      </a:lt2>
      <a:accent1>
        <a:srgbClr val="087F72"/>
      </a:accent1>
      <a:accent2>
        <a:srgbClr val="EF765E"/>
      </a:accent2>
      <a:accent3>
        <a:srgbClr val="8DE2BD"/>
      </a:accent3>
      <a:accent4>
        <a:srgbClr val="055A52"/>
      </a:accent4>
      <a:accent5>
        <a:srgbClr val="EAF3FA"/>
      </a:accent5>
      <a:accent6>
        <a:srgbClr val="D7B95D"/>
      </a:accent6>
      <a:hlink>
        <a:srgbClr val="087F72"/>
      </a:hlink>
      <a:folHlink>
        <a:srgbClr val="6B4B95"/>
      </a:folHlink>
    </a:clrScheme>
    <a:fontScheme name="">
      <a:majorFont>
        <a:latin typeface="Aptos"/>
        <a:ea typeface=""/>
        <a:cs typeface=""/>
      </a:majorFont>
      <a:minorFont>
        <a:latin typeface="Aptos"/>
        <a:ea typeface=""/>
        <a:cs typeface=""/>
      </a:minorFont>
    </a:fontScheme>
    <a:fmtScheme name="FastAPI CW1">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d1fdb9b5ea1409a" /><Relationship Type="http://schemas.openxmlformats.org/officeDocument/2006/relationships/notesMaster" Target="/ppt/notesMasters/notesMaster1.xml" Id="R42e5d7fbfe284a9a" /></Relationships>
</file>

<file path=ppt/notesSlides/_rels/notesSlide2.xml.rels>&#65279;<?xml version="1.0" encoding="utf-8"?><Relationships xmlns="http://schemas.openxmlformats.org/package/2006/relationships"><Relationship Type="http://schemas.openxmlformats.org/officeDocument/2006/relationships/slide" Target="/ppt/slides/slide2.xml" Id="Rc1e2ce66acf94f0b" /><Relationship Type="http://schemas.openxmlformats.org/officeDocument/2006/relationships/notesMaster" Target="/ppt/notesMasters/notesMaster1.xml" Id="Rc8b88d0341b34d8f" /></Relationships>
</file>

<file path=ppt/notesSlides/_rels/notesSlide3.xml.rels>&#65279;<?xml version="1.0" encoding="utf-8"?><Relationships xmlns="http://schemas.openxmlformats.org/package/2006/relationships"><Relationship Type="http://schemas.openxmlformats.org/officeDocument/2006/relationships/slide" Target="/ppt/slides/slide3.xml" Id="R47755dd3c7df4661" /><Relationship Type="http://schemas.openxmlformats.org/officeDocument/2006/relationships/notesMaster" Target="/ppt/notesMasters/notesMaster1.xml" Id="R9a3127477f2e448c" /></Relationships>
</file>

<file path=ppt/notesSlides/_rels/notesSlide4.xml.rels>&#65279;<?xml version="1.0" encoding="utf-8"?><Relationships xmlns="http://schemas.openxmlformats.org/package/2006/relationships"><Relationship Type="http://schemas.openxmlformats.org/officeDocument/2006/relationships/slide" Target="/ppt/slides/slide4.xml" Id="R9256c5f48e8f44af" /><Relationship Type="http://schemas.openxmlformats.org/officeDocument/2006/relationships/notesMaster" Target="/ppt/notesMasters/notesMaster1.xml" Id="R6322eae669404c58" /></Relationships>
</file>

<file path=ppt/notesSlides/_rels/notesSlide5.xml.rels>&#65279;<?xml version="1.0" encoding="utf-8"?><Relationships xmlns="http://schemas.openxmlformats.org/package/2006/relationships"><Relationship Type="http://schemas.openxmlformats.org/officeDocument/2006/relationships/slide" Target="/ppt/slides/slide5.xml" Id="Rfb5fb209c9394463" /><Relationship Type="http://schemas.openxmlformats.org/officeDocument/2006/relationships/notesMaster" Target="/ppt/notesMasters/notesMaster1.xml" Id="R53a6224de2a6472f" /></Relationships>
</file>

<file path=ppt/notesSlides/_rels/notesSlide6.xml.rels>&#65279;<?xml version="1.0" encoding="utf-8"?><Relationships xmlns="http://schemas.openxmlformats.org/package/2006/relationships"><Relationship Type="http://schemas.openxmlformats.org/officeDocument/2006/relationships/slide" Target="/ppt/slides/slide6.xml" Id="R4e6a64209b004503" /><Relationship Type="http://schemas.openxmlformats.org/officeDocument/2006/relationships/notesMaster" Target="/ppt/notesMasters/notesMaster1.xml" Id="Re7beddad5c2d4c62" /></Relationships>
</file>

<file path=ppt/notesSlides/_rels/notesSlide7.xml.rels>&#65279;<?xml version="1.0" encoding="utf-8"?><Relationships xmlns="http://schemas.openxmlformats.org/package/2006/relationships"><Relationship Type="http://schemas.openxmlformats.org/officeDocument/2006/relationships/slide" Target="/ppt/slides/slide7.xml" Id="R380f7396cd444d42" /><Relationship Type="http://schemas.openxmlformats.org/officeDocument/2006/relationships/notesMaster" Target="/ppt/notesMasters/notesMaster1.xml" Id="Rd58e4385a87a4745" /></Relationships>
</file>

<file path=ppt/notesSlides/_rels/notesSlide8.xml.rels>&#65279;<?xml version="1.0" encoding="utf-8"?><Relationships xmlns="http://schemas.openxmlformats.org/package/2006/relationships"><Relationship Type="http://schemas.openxmlformats.org/officeDocument/2006/relationships/slide" Target="/ppt/slides/slide8.xml" Id="R3755708d60a64073" /><Relationship Type="http://schemas.openxmlformats.org/officeDocument/2006/relationships/notesMaster" Target="/ppt/notesMasters/notesMaster1.xml" Id="Rf87b4d6b9b4e4de2" /></Relationships>
</file>

<file path=ppt/notesSlides/_rels/notesSlide9.xml.rels>&#65279;<?xml version="1.0" encoding="utf-8"?><Relationships xmlns="http://schemas.openxmlformats.org/package/2006/relationships"><Relationship Type="http://schemas.openxmlformats.org/officeDocument/2006/relationships/slide" Target="/ppt/slides/slide9.xml" Id="Rdc4763a81c4d4dbf" /><Relationship Type="http://schemas.openxmlformats.org/officeDocument/2006/relationships/notesMaster" Target="/ppt/notesMasters/notesMaster1.xml" Id="R31da1fee409b4a7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6adccd16ca64514" /><Relationship Type="http://schemas.openxmlformats.org/officeDocument/2006/relationships/notesMaster" Target="/ppt/notesMasters/notesMaster1.xml" Id="R36028c0ecfe4466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a3e3602a6ea443d" /><Relationship Type="http://schemas.openxmlformats.org/officeDocument/2006/relationships/notesMaster" Target="/ppt/notesMasters/notesMaster1.xml" Id="R47b64394efd5423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4f7f7af7c0f4f2b" /><Relationship Type="http://schemas.openxmlformats.org/officeDocument/2006/relationships/notesMaster" Target="/ppt/notesMasters/notesMaster1.xml" Id="Rfc3f8be393294e1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24843615d8b44c3" /><Relationship Type="http://schemas.openxmlformats.org/officeDocument/2006/relationships/notesMaster" Target="/ppt/notesMasters/notesMaster1.xml" Id="Rf8a89d729e92412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39ebfe166cd425e" /><Relationship Type="http://schemas.openxmlformats.org/officeDocument/2006/relationships/notesMaster" Target="/ppt/notesMasters/notesMaster1.xml" Id="Rf9077dc2e4a34f7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c9b28247b0f4ad2" /><Relationship Type="http://schemas.openxmlformats.org/officeDocument/2006/relationships/notesMaster" Target="/ppt/notesMasters/notesMaster1.xml" Id="R99ad53777f0a45c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1 · target 0:30</a:t>
            </a:r>
          </a:p>
          <a:p xmlns:a="http://schemas.openxmlformats.org/drawingml/2006/main">
            <a:r>
              <a:t>Say: Today we will explain FastAPI through one small, working Task Manager API. The aim is to show how typed Python code becomes a validated and documented REST service.</a:t>
            </a:r>
          </a:p>
          <a:p xmlns:a="http://schemas.openxmlformats.org/drawingml/2006/main">
            <a:r>
              <a:t>Signpost: We will cover the framework, the system flow, the code, a two-minute live demo, testing, and an honest evaluation.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1 · target 1:10 · cumulative 1:40</a:t>
            </a:r>
          </a:p>
          <a:p xmlns:a="http://schemas.openxmlformats.org/drawingml/2006/main">
            <a:r>
              <a:t>Explain: FastAPI uses standard Python type hints as the shared source for editor support, runtime validation and the generated API contract.</a:t>
            </a:r>
          </a:p>
          <a:p xmlns:a="http://schemas.openxmlformats.org/drawingml/2006/main">
            <a:r>
              <a:t>Do not claim that type hints alone make an application secure; authentication and authorisation still require design work.</a:t>
            </a:r>
          </a:p>
          <a:p xmlns:a="http://schemas.openxmlformats.org/drawingml/2006/main">
            <a:r>
              <a:t>Source: https://fastapi.tiangolo.com/features/</a:t>
            </a:r>
          </a:p>
          <a:p xmlns:a="http://schemas.openxmlformats.org/drawingml/2006/main">
            <a:r>
              <a:t>Source: https://fastapi.tiangolo.com/tutorial/first-steps/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1 · target 1:20 · cumulative 3:00</a:t>
            </a:r>
          </a:p>
          <a:p xmlns:a="http://schemas.openxmlformats.org/drawingml/2006/main">
            <a:r>
              <a:t>Walk left to right. Swagger UI is only one possible client. Uvicorn is the ASGI server. FastAPI selects the route. Pydantic validates declared types. The repository handles stored tasks. The response is returned as JSON with an HTTP status.</a:t>
            </a:r>
          </a:p>
          <a:p xmlns:a="http://schemas.openxmlformats.org/drawingml/2006/main">
            <a:r>
              <a:t>Transition to Presenter 2: Now that the system flow is clear, we can look at the small application built for the demonstration.</a:t>
            </a:r>
          </a:p>
          <a:p xmlns:a="http://schemas.openxmlformats.org/drawingml/2006/main">
            <a:r>
              <a:t>Source: https://www.uvicorn.org/</a:t>
            </a:r>
          </a:p>
          <a:p xmlns:a="http://schemas.openxmlformats.org/drawingml/2006/main">
            <a:r>
              <a:t>Source: https://docs.pydantic.dev/latest/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2 · target 0:55 · cumulative 3:55</a:t>
            </a:r>
          </a:p>
          <a:p xmlns:a="http://schemas.openxmlformats.org/drawingml/2006/main">
            <a:r>
              <a:t>Explain why the project is small on purpose. It gives a realistic resource and a complete CRUD workflow without distracting the audience with accounts, a front end or cloud deployment.</a:t>
            </a:r>
          </a:p>
          <a:p xmlns:a="http://schemas.openxmlformats.org/drawingml/2006/main">
            <a:r>
              <a:t>Say explicitly: in-memory storage is suitable for teaching, not production persistence.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2 · target 1:15 · cumulative 5:10</a:t>
            </a:r>
          </a:p>
          <a:p xmlns:a="http://schemas.openxmlformats.org/drawingml/2006/main">
            <a:r>
              <a:t>Keep this slide quick. Read the verbs as a lifecycle: list or create at /tasks; read, replace or delete one item at /tasks/{id}.</a:t>
            </a:r>
          </a:p>
          <a:p xmlns:a="http://schemas.openxmlformats.org/drawingml/2006/main">
            <a:r>
              <a:t>Point out the success codes, then mention 404 and 422. Do not demonstrate every endpoint live.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2 · target 1:20 · cumulative 6:30</a:t>
            </a:r>
          </a:p>
          <a:p xmlns:a="http://schemas.openxmlformats.org/drawingml/2006/main">
            <a:r>
              <a:t>Left: the decorator maps GET /tasks to a function. Right: the POST route adds a request model, response model and explicit 201 status.</a:t>
            </a:r>
          </a:p>
          <a:p xmlns:a="http://schemas.openxmlformats.org/drawingml/2006/main">
            <a:r>
              <a:t>Emphasise progression: students can start with a simple route and add stronger contracts without changing the overall pattern.</a:t>
            </a:r>
          </a:p>
          <a:p xmlns:a="http://schemas.openxmlformats.org/drawingml/2006/main">
            <a:r>
              <a:t>Transition to Presenter 3: The request model is where FastAPI and Pydantic provide the most visible safety for beginners.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3 · target 1:10 · cumulative 7:40</a:t>
            </a:r>
          </a:p>
          <a:p xmlns:a="http://schemas.openxmlformats.org/drawingml/2006/main">
            <a:r>
              <a:t>Explain: priority must stay between 1 and 5. If a client sends 9, FastAPI returns 422 before repository.create is called. The error contains the field location and failed constraint.</a:t>
            </a:r>
          </a:p>
          <a:p xmlns:a="http://schemas.openxmlformats.org/drawingml/2006/main">
            <a:r>
              <a:t>This is the validation example used in the live demonstration.</a:t>
            </a:r>
          </a:p>
          <a:p xmlns:a="http://schemas.openxmlformats.org/drawingml/2006/main">
            <a:r>
              <a:t>Source: https://docs.pydantic.dev/latest/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3 · live demo target 2:00; absolute maximum 3:00 · cumulative 9:40</a:t>
            </a:r>
          </a:p>
          <a:p xmlns:a="http://schemas.openxmlformats.org/drawingml/2006/main">
            <a:r>
              <a:t>Before class: run ..\.venv\Scripts\python.exe -m uvicorn app.main:app from fastapi-project. Open http://127.0.0.1:8000/docs.</a:t>
            </a:r>
          </a:p>
          <a:p xmlns:a="http://schemas.openxmlformats.org/drawingml/2006/main">
            <a:r>
              <a:t>Action 1: Expand GET /tasks → Try it out → Execute. State: 200 and [].</a:t>
            </a:r>
          </a:p>
          <a:p xmlns:a="http://schemas.openxmlformats.org/drawingml/2006/main">
            <a:r>
              <a:t>Action 2: Expand POST /tasks → Try it out. Use {"title":"Rehearse the demo","status":"todo","priority":5}. Execute. State: 201 and note id 1.</a:t>
            </a:r>
          </a:p>
          <a:p xmlns:a="http://schemas.openxmlformats.org/drawingml/2006/main">
            <a:r>
              <a:t>Action 3: Change priority to 9 and execute. State: 422 and point to the priority constraint. Stop here.</a:t>
            </a:r>
          </a:p>
          <a:p xmlns:a="http://schemas.openxmlformats.org/drawingml/2006/main">
            <a:r>
              <a:t>If the server or browser fails: stay on this slide, explain the three expected statuses, then continue. Do not troubleshoot live.</a:t>
            </a:r>
          </a:p>
          <a:p xmlns:a="http://schemas.openxmlformats.org/drawingml/2006/main">
            <a:r>
              <a:t>Source: https://fastapi.tiangolo.com/tutorial/first-steps/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3 · target 0:50 · cumulative 10:30</a:t>
            </a:r>
          </a:p>
          <a:p xmlns:a="http://schemas.openxmlformats.org/drawingml/2006/main">
            <a:r>
              <a:t>Show the result, not the full test code. Explain that each test gets a new app and repository, which prevents test order from changing the outcome.</a:t>
            </a:r>
          </a:p>
          <a:p xmlns:a="http://schemas.openxmlformats.org/drawingml/2006/main">
            <a:r>
              <a:t>Source: https://fastapi.tiangolo.com/tutorial/testing/</a:t>
            </a:r>
          </a:p>
          <a:p xmlns:a="http://schemas.openxmlformats.org/drawingml/2006/main">
            <a:r>
              <a:t>Transition to Presenter 4: The example works, but a fair technology evaluation must include both benefits and limitations.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4 · target 1:20 · cumulative 11:50</a:t>
            </a:r>
          </a:p>
          <a:p xmlns:a="http://schemas.openxmlformats.org/drawingml/2006/main">
            <a:r>
              <a:t>Balance the evaluation. FastAPI connects types, validation and documentation, but it does not automatically solve authentication, data storage or operations.</a:t>
            </a:r>
          </a:p>
          <a:p xmlns:a="http://schemas.openxmlformats.org/drawingml/2006/main">
            <a:r>
              <a:t>Link back to the project: in-memory storage is intentionally simple and is the main limitation of this teaching version.</a:t>
            </a:r>
          </a:p>
          <a:p xmlns:a="http://schemas.openxmlformats.org/drawingml/2006/main">
            <a:r>
              <a:t>Source: https://fastapi.tiangolo.com/features/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4 · target 0:55 · cumulative 12:45</a:t>
            </a:r>
          </a:p>
          <a:p xmlns:a="http://schemas.openxmlformats.org/drawingml/2006/main">
            <a:r>
              <a:t>Use this slide to show judgement rather than claiming FastAPI is always the best choice. It is a strong fit when a typed API is the main product, but a complete system still needs security, persistence and operations.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4 · target 0:45 · cumulative 13:30</a:t>
            </a:r>
          </a:p>
          <a:p xmlns:a="http://schemas.openxmlformats.org/drawingml/2006/main">
            <a:r>
              <a:t>Close with the three ideas. Then direct the class to the GitHub Pages learning resource, which separates Online Information from the step-by-step Tutorial Lab.</a:t>
            </a:r>
          </a:p>
          <a:p xmlns:a="http://schemas.openxmlformats.org/drawingml/2006/main">
            <a:r>
              <a:t>Open or scan: https://tianjianzou123.github.io/fastapi-cw1/</a:t>
            </a:r>
          </a:p>
          <a:p xmlns:a="http://schemas.openxmlformats.org/drawingml/2006/main">
            <a:r>
              <a:t>Finish: Thank you. We are ready for questions.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 slide · normally display briefly before questions.</a:t>
            </a:r>
          </a:p>
          <a:p xmlns:a="http://schemas.openxmlformats.org/drawingml/2006/main">
            <a:r>
              <a:t>All factual framework claims use official documentation. The online resource includes the fuller Harvard-style reference 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only; not included in the planned 15-minute running time.</a:t>
            </a:r>
          </a:p>
          <a:p xmlns:a="http://schemas.openxmlformats.org/drawingml/2006/main">
            <a:r>
              <a:t>If asked whether update and delete work, explain the sequence and optionally show the test result on Slide 9 instead of returning to Swagger UI.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only; not included in the planned 15-minute running time.</a:t>
            </a:r>
          </a:p>
          <a:p xmlns:a="http://schemas.openxmlformats.org/drawingml/2006/main">
            <a:r>
              <a:t>OpenAPI source: https://spec.openapis.org/oas/v3.2.1.html</a:t>
            </a:r>
          </a:p>
          <a:p xmlns:a="http://schemas.openxmlformats.org/drawingml/2006/main">
            <a:r>
              <a:t>If asked to compare frameworks, avoid unsupported performance claims. Say the choice depends on the application, team and surrounding requirements.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a90b642270f4ce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e2a5ecce63f432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36d661ac7f944f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40dff6df74d4e0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9e1c4697ce4489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5a2fa4ec421425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DD5E4EC-CB60-4327-9E62-D8BAA9BBE3D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255B629-0A1E-47A1-B75C-8EDD350B1146}"/>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BB93AE0-56E4-44FF-B775-B341F7DD1202}"/>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D65311B-3CE2-4463-A89F-B2508EB862A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6DC949F-191F-47A8-B7E8-D3A13E26A867}"/>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F611340-008A-4C35-BB35-BB6E1CBD3D3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C405DD7-0AF3-49FE-B638-3BEC5B33EEE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30D120F-25DD-4918-B0CA-3209420E357C}"/>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3463D99-9E3F-421A-8F31-31DDD12072D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4E59AEC-3782-4671-8C22-CB5AE6925A1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a6a3998ec5e4ab2" /><Relationship Type="http://schemas.openxmlformats.org/officeDocument/2006/relationships/slideLayout" Target="/ppt/slideLayouts/slideLayout1.xml" Id="R6b74f108508b4f73" /><Relationship Type="http://schemas.openxmlformats.org/officeDocument/2006/relationships/slideLayout" Target="/ppt/slideLayouts/slideLayout2.xml" Id="R54f7dfe259574762" /><Relationship Type="http://schemas.openxmlformats.org/officeDocument/2006/relationships/slideLayout" Target="/ppt/slideLayouts/slideLayout3.xml" Id="R47c01ddfda7143ca" /><Relationship Type="http://schemas.openxmlformats.org/officeDocument/2006/relationships/slideLayout" Target="/ppt/slideLayouts/slideLayout4.xml" Id="Rf49b8ad65d9b401d" /><Relationship Type="http://schemas.openxmlformats.org/officeDocument/2006/relationships/slideLayout" Target="/ppt/slideLayouts/slideLayout5.xml" Id="R5b30a00413084b7d" /><Relationship Type="http://schemas.openxmlformats.org/officeDocument/2006/relationships/slideLayout" Target="/ppt/slideLayouts/slideLayout6.xml" Id="Rd67d2a304c794ef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b74f108508b4f73"/>
    <p:sldLayoutId xmlns:r="http://schemas.openxmlformats.org/officeDocument/2006/relationships" id="2147483650" r:id="R54f7dfe259574762"/>
    <p:sldLayoutId xmlns:r="http://schemas.openxmlformats.org/officeDocument/2006/relationships" id="2147483651" r:id="R47c01ddfda7143ca"/>
    <p:sldLayoutId xmlns:r="http://schemas.openxmlformats.org/officeDocument/2006/relationships" id="2147483652" r:id="Rf49b8ad65d9b401d"/>
    <p:sldLayoutId xmlns:r="http://schemas.openxmlformats.org/officeDocument/2006/relationships" id="2147483653" r:id="R5b30a00413084b7d"/>
    <p:sldLayoutId xmlns:r="http://schemas.openxmlformats.org/officeDocument/2006/relationships" id="2147483654" r:id="Rd67d2a304c794ef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FastAPI CW1">
  <a:themeElements>
    <a:clrScheme name="FastAPI CW1">
      <a:dk1>
        <a:srgbClr val="000000"/>
      </a:dk1>
      <a:lt1>
        <a:srgbClr val="FFFFFF"/>
      </a:lt1>
      <a:dk2>
        <a:srgbClr val="0E1C27"/>
      </a:dk2>
      <a:lt2>
        <a:srgbClr val="E8E8E8"/>
      </a:lt2>
      <a:accent1>
        <a:srgbClr val="087F72"/>
      </a:accent1>
      <a:accent2>
        <a:srgbClr val="EF765E"/>
      </a:accent2>
      <a:accent3>
        <a:srgbClr val="8DE2BD"/>
      </a:accent3>
      <a:accent4>
        <a:srgbClr val="055A52"/>
      </a:accent4>
      <a:accent5>
        <a:srgbClr val="EAF3FA"/>
      </a:accent5>
      <a:accent6>
        <a:srgbClr val="D7B95D"/>
      </a:accent6>
      <a:hlink>
        <a:srgbClr val="087F72"/>
      </a:hlink>
      <a:folHlink>
        <a:srgbClr val="6B4B95"/>
      </a:folHlink>
    </a:clrScheme>
    <a:fontScheme name="">
      <a:majorFont>
        <a:latin typeface="Aptos"/>
        <a:ea typeface=""/>
        <a:cs typeface=""/>
      </a:majorFont>
      <a:minorFont>
        <a:latin typeface="Aptos"/>
        <a:ea typeface=""/>
        <a:cs typeface=""/>
      </a:minorFont>
    </a:fontScheme>
    <a:fmtScheme name="FastAPI CW1">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74033e8d931479e" /><Relationship Type="http://schemas.openxmlformats.org/officeDocument/2006/relationships/notesSlide" Target="/ppt/notesSlides/notesSlide1.xml" Id="Rc4cd723d0be24d92"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6a223019f4b5419f" /><Relationship Type="http://schemas.openxmlformats.org/officeDocument/2006/relationships/notesSlide" Target="/ppt/notesSlides/notesSlide2.xml" Id="Red2b0e57fd904424"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94f1237bda54d8a" /><Relationship Type="http://schemas.openxmlformats.org/officeDocument/2006/relationships/notesSlide" Target="/ppt/notesSlides/notesSlide3.xml" Id="R3670cfa4d279442b"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db1b6bb24b4432a" /><Relationship Type="http://schemas.openxmlformats.org/officeDocument/2006/relationships/notesSlide" Target="/ppt/notesSlides/notesSlide4.xml" Id="Rbdb3dfbfb08d409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21e7a1f0dda64f45" /><Relationship Type="http://schemas.openxmlformats.org/officeDocument/2006/relationships/notesSlide" Target="/ppt/notesSlides/notesSlide5.xml" Id="R2903becad0e941a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1f05023802c431c" /><Relationship Type="http://schemas.openxmlformats.org/officeDocument/2006/relationships/notesSlide" Target="/ppt/notesSlides/notesSlide6.xml" Id="R65112835e49f458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7d77d068404f4509" /><Relationship Type="http://schemas.openxmlformats.org/officeDocument/2006/relationships/notesSlide" Target="/ppt/notesSlides/notesSlide7.xml" Id="Rde5069feb5a4446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288ac0ba4ca74bd7" /><Relationship Type="http://schemas.openxmlformats.org/officeDocument/2006/relationships/notesSlide" Target="/ppt/notesSlides/notesSlide8.xml" Id="R01a5c5bd13e74971"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31cb04cec41049c6" /><Relationship Type="http://schemas.openxmlformats.org/officeDocument/2006/relationships/notesSlide" Target="/ppt/notesSlides/notesSlide9.xml" Id="R3c53ba1ef7ce4f0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3deaa87bc291469a" /><Relationship Type="http://schemas.openxmlformats.org/officeDocument/2006/relationships/notesSlide" Target="/ppt/notesSlides/notesSlide10.xml" Id="R05f8b7d94353439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f63cc39e121a492b" /><Relationship Type="http://schemas.openxmlformats.org/officeDocument/2006/relationships/notesSlide" Target="/ppt/notesSlides/notesSlide11.xml" Id="R4439b5ebfee54a9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92f4e5b829f04797" /><Relationship Type="http://schemas.openxmlformats.org/officeDocument/2006/relationships/image" Target="/ppt/media/image.png" Id="R30d5ec456a9243ca" /><Relationship Type="http://schemas.openxmlformats.org/officeDocument/2006/relationships/notesSlide" Target="/ppt/notesSlides/notesSlide12.xml" Id="R44d7a32219154e8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c28be0fd70cd462f" /><Relationship Type="http://schemas.openxmlformats.org/officeDocument/2006/relationships/notesSlide" Target="/ppt/notesSlides/notesSlide13.xml" Id="R137a9c0bd36b480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76719a4781b447fd" /><Relationship Type="http://schemas.openxmlformats.org/officeDocument/2006/relationships/notesSlide" Target="/ppt/notesSlides/notesSlide14.xml" Id="R152cb6de20384f9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e3c04ca80d2e4cc0" /><Relationship Type="http://schemas.openxmlformats.org/officeDocument/2006/relationships/notesSlide" Target="/ppt/notesSlides/notesSlide15.xml" Id="R113c268d709442c2" /></Relationships>
</file>

<file path=ppt/slides/slide1.xml><?xml version="1.0" encoding="utf-8"?>
<p:sld xmlns:p="http://schemas.openxmlformats.org/presentationml/2006/main">
  <p:cSld>
    <p:bg>
      <p:bgPr>
        <a:solidFill xmlns:a="http://schemas.openxmlformats.org/drawingml/2006/main">
          <a:srgbClr val="102333"/>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714F4618-523B-4FA0-9AE1-9A5787D683E7}"/>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87F72"/>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32ED95F3-EFFC-4A9B-8080-3F372D4C4E21}"/>
              </a:ext>
            </a:extLst>
          </p:cNvPr>
          <p:cNvSpPr>
            <a:spLocks xmlns:a="http://schemas.openxmlformats.org/drawingml/2006/main" noGrp="1"/>
          </p:cNvSpPr>
          <p:nvPr/>
        </p:nvSpPr>
        <p:spPr>
          <a:xfrm xmlns:a="http://schemas.openxmlformats.org/drawingml/2006/main">
            <a:off x="742950" y="571500"/>
            <a:ext cx="590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050" b="1" i="0">
                <a:solidFill>
                  <a:srgbClr val="8DE2BD"/>
                </a:solidFill>
                <a:latin typeface="Aptos"/>
                <a:ea typeface="Aptos"/>
                <a:cs typeface="Aptos"/>
              </a:defRPr>
            </a:defPPr>
          </a:lstStyle>
          <a:p xmlns:a="http://schemas.openxmlformats.org/drawingml/2006/main">
            <a:pPr algn="l">
              <a:lnSpc>
                <a:spcPct val="100000"/>
              </a:lnSpc>
              <a:buNone/>
              <a:defRPr sz="1050" b="1" i="0">
                <a:solidFill>
                  <a:srgbClr val="8DE2BD"/>
                </a:solidFill>
                <a:latin typeface="Aptos"/>
                <a:ea typeface="Aptos"/>
                <a:cs typeface="Aptos"/>
              </a:defRPr>
            </a:pPr>
            <a:r>
              <a:rPr sz="1050" b="1" i="0">
                <a:solidFill>
                  <a:srgbClr val="8DE2BD"/>
                </a:solidFill>
                <a:latin typeface="Aptos"/>
                <a:ea typeface="Aptos"/>
                <a:cs typeface="Aptos"/>
              </a:rPr>
              <a:t>COMP10020 INTERNET TECHNOLOGIES</a:t>
            </a:r>
          </a:p>
        </p:txBody>
      </p:sp>
      <p:sp>
        <p:nvSpPr>
          <p:cNvPr id="3" name="">
            <a:extLst xmlns:a="http://schemas.openxmlformats.org/drawingml/2006/main">
              <a:ext uri="{FF2B5EF4-FFF2-40B4-BE49-F238E27FC236}">
                <a16:creationId xmlns:a16="http://schemas.microsoft.com/office/drawing/2014/main" id="{F3BA51D9-5D81-4FE4-9F7F-6CF039C066F2}"/>
              </a:ext>
            </a:extLst>
          </p:cNvPr>
          <p:cNvSpPr>
            <a:spLocks xmlns:a="http://schemas.openxmlformats.org/drawingml/2006/main" noGrp="1"/>
          </p:cNvSpPr>
          <p:nvPr/>
        </p:nvSpPr>
        <p:spPr>
          <a:xfrm xmlns:a="http://schemas.openxmlformats.org/drawingml/2006/main">
            <a:off x="723900" y="1200150"/>
            <a:ext cx="61912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5700" b="1" i="0">
                <a:solidFill>
                  <a:srgbClr val="FFFFFF"/>
                </a:solidFill>
                <a:latin typeface="Aptos"/>
                <a:ea typeface="Aptos"/>
                <a:cs typeface="Aptos"/>
              </a:defRPr>
            </a:defPPr>
          </a:lstStyle>
          <a:p xmlns:a="http://schemas.openxmlformats.org/drawingml/2006/main">
            <a:pPr algn="l">
              <a:lnSpc>
                <a:spcPct val="90000"/>
              </a:lnSpc>
              <a:buNone/>
              <a:defRPr sz="5700" b="1" i="0">
                <a:solidFill>
                  <a:srgbClr val="FFFFFF"/>
                </a:solidFill>
                <a:latin typeface="Aptos"/>
                <a:ea typeface="Aptos"/>
                <a:cs typeface="Aptos"/>
              </a:defRPr>
            </a:pPr>
            <a:r>
              <a:rPr sz="5700" b="1" i="0">
                <a:solidFill>
                  <a:srgbClr val="FFFFFF"/>
                </a:solidFill>
                <a:latin typeface="Aptos"/>
                <a:ea typeface="Aptos"/>
                <a:cs typeface="Aptos"/>
              </a:rPr>
              <a:t>FastAPI</a:t>
            </a:r>
          </a:p>
        </p:txBody>
      </p:sp>
      <p:sp>
        <p:nvSpPr>
          <p:cNvPr id="4" name="">
            <a:extLst xmlns:a="http://schemas.openxmlformats.org/drawingml/2006/main">
              <a:ext uri="{FF2B5EF4-FFF2-40B4-BE49-F238E27FC236}">
                <a16:creationId xmlns:a16="http://schemas.microsoft.com/office/drawing/2014/main" id="{572D6418-0E0E-4DBD-862A-8478763675A2}"/>
              </a:ext>
            </a:extLst>
          </p:cNvPr>
          <p:cNvSpPr>
            <a:spLocks xmlns:a="http://schemas.openxmlformats.org/drawingml/2006/main" noGrp="1"/>
          </p:cNvSpPr>
          <p:nvPr/>
        </p:nvSpPr>
        <p:spPr>
          <a:xfrm xmlns:a="http://schemas.openxmlformats.org/drawingml/2006/main">
            <a:off x="781050" y="2381250"/>
            <a:ext cx="68580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475" b="1" i="0">
                <a:solidFill>
                  <a:srgbClr val="D5E3E8"/>
                </a:solidFill>
                <a:latin typeface="Aptos"/>
                <a:ea typeface="Aptos"/>
                <a:cs typeface="Aptos"/>
              </a:defRPr>
            </a:defPPr>
          </a:lstStyle>
          <a:p xmlns:a="http://schemas.openxmlformats.org/drawingml/2006/main">
            <a:pPr algn="l">
              <a:lnSpc>
                <a:spcPct val="102000"/>
              </a:lnSpc>
              <a:buNone/>
              <a:defRPr sz="2475" b="1" i="0">
                <a:solidFill>
                  <a:srgbClr val="D5E3E8"/>
                </a:solidFill>
                <a:latin typeface="Aptos"/>
                <a:ea typeface="Aptos"/>
                <a:cs typeface="Aptos"/>
              </a:defRPr>
            </a:pPr>
            <a:r>
              <a:rPr sz="2475" b="1" i="0">
                <a:solidFill>
                  <a:srgbClr val="D5E3E8"/>
                </a:solidFill>
                <a:latin typeface="Aptos"/>
                <a:ea typeface="Aptos"/>
                <a:cs typeface="Aptos"/>
              </a:rPr>
              <a:t>Building a Simple Task Management REST API</a:t>
            </a:r>
          </a:p>
        </p:txBody>
      </p:sp>
      <p:sp>
        <p:nvSpPr>
          <p:cNvPr id="5" name="">
            <a:extLst xmlns:a="http://schemas.openxmlformats.org/drawingml/2006/main">
              <a:ext uri="{FF2B5EF4-FFF2-40B4-BE49-F238E27FC236}">
                <a16:creationId xmlns:a16="http://schemas.microsoft.com/office/drawing/2014/main" id="{E80F031D-FD63-4C5F-A99B-510DE719772F}"/>
              </a:ext>
            </a:extLst>
          </p:cNvPr>
          <p:cNvSpPr>
            <a:spLocks xmlns:a="http://schemas.openxmlformats.org/drawingml/2006/main" noGrp="1"/>
          </p:cNvSpPr>
          <p:nvPr/>
        </p:nvSpPr>
        <p:spPr>
          <a:xfrm xmlns:a="http://schemas.openxmlformats.org/drawingml/2006/main">
            <a:off x="781050" y="3638550"/>
            <a:ext cx="6762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350" b="0" i="0">
                <a:solidFill>
                  <a:srgbClr val="AFC0C9"/>
                </a:solidFill>
                <a:latin typeface="Aptos"/>
                <a:ea typeface="Aptos"/>
                <a:cs typeface="Aptos"/>
              </a:defRPr>
            </a:defPPr>
          </a:lstStyle>
          <a:p xmlns:a="http://schemas.openxmlformats.org/drawingml/2006/main">
            <a:pPr algn="l">
              <a:lnSpc>
                <a:spcPct val="118000"/>
              </a:lnSpc>
              <a:buNone/>
              <a:defRPr sz="1350" b="0" i="0">
                <a:solidFill>
                  <a:srgbClr val="AFC0C9"/>
                </a:solidFill>
                <a:latin typeface="Aptos"/>
                <a:ea typeface="Aptos"/>
                <a:cs typeface="Aptos"/>
              </a:defRPr>
            </a:pPr>
            <a:r>
              <a:rPr sz="1350" b="0" i="0">
                <a:solidFill>
                  <a:srgbClr val="AFC0C9"/>
                </a:solidFill>
                <a:latin typeface="Aptos"/>
                <a:ea typeface="Aptos"/>
                <a:cs typeface="Aptos"/>
              </a:rPr>
              <a:t>A beginner-friendly example of typed routes, validation, generated documentation and testing.</a:t>
            </a:r>
          </a:p>
        </p:txBody>
      </p:sp>
      <p:sp>
        <p:nvSpPr>
          <p:cNvPr id="6" name="">
            <a:extLst xmlns:a="http://schemas.openxmlformats.org/drawingml/2006/main">
              <a:ext uri="{FF2B5EF4-FFF2-40B4-BE49-F238E27FC236}">
                <a16:creationId xmlns:a16="http://schemas.microsoft.com/office/drawing/2014/main" id="{F61F54D8-3826-480C-958D-60AE69924087}"/>
              </a:ext>
            </a:extLst>
          </p:cNvPr>
          <p:cNvSpPr>
            <a:spLocks xmlns:a="http://schemas.openxmlformats.org/drawingml/2006/main" noGrp="1"/>
          </p:cNvSpPr>
          <p:nvPr/>
        </p:nvSpPr>
        <p:spPr>
          <a:xfrm xmlns:a="http://schemas.openxmlformats.org/drawingml/2006/main">
            <a:off x="781050" y="4762500"/>
            <a:ext cx="1219200" cy="381000"/>
          </a:xfrm>
          <a:prstGeom xmlns:a="http://schemas.openxmlformats.org/drawingml/2006/main" prst="roundRect">
            <a:avLst>
              <a:gd name="adj" fmla="val 30000"/>
            </a:avLst>
          </a:prstGeom>
          <a:solidFill xmlns:a="http://schemas.openxmlformats.org/drawingml/2006/main">
            <a:srgbClr val="055A52"/>
          </a:solidFill>
          <a:ln xmlns:a="http://schemas.openxmlformats.org/drawingml/2006/main" w="0">
            <a:noFill/>
            <a:prstDash val="solid"/>
          </a:ln>
        </p:spPr>
        <p:txBody>
          <a:bodyPr xmlns:a="http://schemas.openxmlformats.org/drawingml/2006/main" lIns="38100" tIns="38100" rIns="38100" bIns="38100" anchor="ctr">
            <a:normAutofit fontScale="100000"/>
          </a:bodyPr>
          <a:lstStyle xmlns:a="http://schemas.openxmlformats.org/drawingml/2006/main">
            <a:defPPr algn="ctr">
              <a:defRPr sz="1050" b="1">
                <a:solidFill>
                  <a:srgbClr val="FFFFFF"/>
                </a:solidFill>
                <a:latin typeface="Aptos"/>
                <a:ea typeface="Aptos"/>
                <a:cs typeface="Aptos"/>
              </a:defRPr>
            </a:defPPr>
          </a:lstStyle>
          <a:p xmlns:a="http://schemas.openxmlformats.org/drawingml/2006/main">
            <a:pPr algn="ctr">
              <a:defRPr sz="1050" b="1">
                <a:solidFill>
                  <a:srgbClr val="FFFFFF"/>
                </a:solidFill>
                <a:latin typeface="Aptos"/>
                <a:ea typeface="Aptos"/>
                <a:cs typeface="Aptos"/>
              </a:defRPr>
            </a:pPr>
            <a:r>
              <a:rPr sz="1050" b="1">
                <a:solidFill>
                  <a:srgbClr val="FFFFFF"/>
                </a:solidFill>
                <a:latin typeface="Aptos"/>
                <a:ea typeface="Aptos"/>
                <a:cs typeface="Aptos"/>
              </a:rPr>
              <a:t>15 MINUTES</a:t>
            </a:r>
          </a:p>
        </p:txBody>
      </p:sp>
      <p:sp>
        <p:nvSpPr>
          <p:cNvPr id="7" name="">
            <a:extLst xmlns:a="http://schemas.openxmlformats.org/drawingml/2006/main">
              <a:ext uri="{FF2B5EF4-FFF2-40B4-BE49-F238E27FC236}">
                <a16:creationId xmlns:a16="http://schemas.microsoft.com/office/drawing/2014/main" id="{8D76883F-AEDA-4CD5-AF16-282001DCE9DE}"/>
              </a:ext>
            </a:extLst>
          </p:cNvPr>
          <p:cNvSpPr>
            <a:spLocks xmlns:a="http://schemas.openxmlformats.org/drawingml/2006/main" noGrp="1"/>
          </p:cNvSpPr>
          <p:nvPr/>
        </p:nvSpPr>
        <p:spPr>
          <a:xfrm xmlns:a="http://schemas.openxmlformats.org/drawingml/2006/main">
            <a:off x="2114550" y="4762500"/>
            <a:ext cx="1143000" cy="381000"/>
          </a:xfrm>
          <a:prstGeom xmlns:a="http://schemas.openxmlformats.org/drawingml/2006/main" prst="roundRect">
            <a:avLst>
              <a:gd name="adj" fmla="val 30000"/>
            </a:avLst>
          </a:prstGeom>
          <a:solidFill xmlns:a="http://schemas.openxmlformats.org/drawingml/2006/main">
            <a:srgbClr val="EF765E"/>
          </a:solidFill>
          <a:ln xmlns:a="http://schemas.openxmlformats.org/drawingml/2006/main" w="0">
            <a:noFill/>
            <a:prstDash val="solid"/>
          </a:ln>
        </p:spPr>
        <p:txBody>
          <a:bodyPr xmlns:a="http://schemas.openxmlformats.org/drawingml/2006/main" lIns="38100" tIns="38100" rIns="38100" bIns="38100" anchor="ctr">
            <a:normAutofit fontScale="100000"/>
          </a:bodyPr>
          <a:lstStyle xmlns:a="http://schemas.openxmlformats.org/drawingml/2006/main">
            <a:defPPr algn="ctr">
              <a:defRPr sz="1050" b="1">
                <a:solidFill>
                  <a:srgbClr val="FFFFFF"/>
                </a:solidFill>
                <a:latin typeface="Aptos"/>
                <a:ea typeface="Aptos"/>
                <a:cs typeface="Aptos"/>
              </a:defRPr>
            </a:defPPr>
          </a:lstStyle>
          <a:p xmlns:a="http://schemas.openxmlformats.org/drawingml/2006/main">
            <a:pPr algn="ctr">
              <a:defRPr sz="1050" b="1">
                <a:solidFill>
                  <a:srgbClr val="FFFFFF"/>
                </a:solidFill>
                <a:latin typeface="Aptos"/>
                <a:ea typeface="Aptos"/>
                <a:cs typeface="Aptos"/>
              </a:defRPr>
            </a:pPr>
            <a:r>
              <a:rPr sz="1050" b="1">
                <a:solidFill>
                  <a:srgbClr val="FFFFFF"/>
                </a:solidFill>
                <a:latin typeface="Aptos"/>
                <a:ea typeface="Aptos"/>
                <a:cs typeface="Aptos"/>
              </a:rPr>
              <a:t>BEGINNER</a:t>
            </a:r>
          </a:p>
        </p:txBody>
      </p:sp>
      <p:sp>
        <p:nvSpPr>
          <p:cNvPr id="8" name="">
            <a:extLst xmlns:a="http://schemas.openxmlformats.org/drawingml/2006/main">
              <a:ext uri="{FF2B5EF4-FFF2-40B4-BE49-F238E27FC236}">
                <a16:creationId xmlns:a16="http://schemas.microsoft.com/office/drawing/2014/main" id="{8310B8AE-80C1-4427-96ED-9DE7A6C04930}"/>
              </a:ext>
            </a:extLst>
          </p:cNvPr>
          <p:cNvSpPr>
            <a:spLocks xmlns:a="http://schemas.openxmlformats.org/drawingml/2006/main" noGrp="1"/>
          </p:cNvSpPr>
          <p:nvPr/>
        </p:nvSpPr>
        <p:spPr>
          <a:xfrm xmlns:a="http://schemas.openxmlformats.org/drawingml/2006/main">
            <a:off x="3371850" y="4762500"/>
            <a:ext cx="1123950" cy="381000"/>
          </a:xfrm>
          <a:prstGeom xmlns:a="http://schemas.openxmlformats.org/drawingml/2006/main" prst="roundRect">
            <a:avLst>
              <a:gd name="adj" fmla="val 30000"/>
            </a:avLst>
          </a:prstGeom>
          <a:solidFill xmlns:a="http://schemas.openxmlformats.org/drawingml/2006/main">
            <a:srgbClr val="29495B"/>
          </a:solidFill>
          <a:ln xmlns:a="http://schemas.openxmlformats.org/drawingml/2006/main" w="0">
            <a:noFill/>
            <a:prstDash val="solid"/>
          </a:ln>
        </p:spPr>
        <p:txBody>
          <a:bodyPr xmlns:a="http://schemas.openxmlformats.org/drawingml/2006/main" lIns="38100" tIns="38100" rIns="38100" bIns="38100" anchor="ctr">
            <a:normAutofit fontScale="100000"/>
          </a:bodyPr>
          <a:lstStyle xmlns:a="http://schemas.openxmlformats.org/drawingml/2006/main">
            <a:defPPr algn="ctr">
              <a:defRPr sz="1050" b="1">
                <a:solidFill>
                  <a:srgbClr val="FFFFFF"/>
                </a:solidFill>
                <a:latin typeface="Aptos"/>
                <a:ea typeface="Aptos"/>
                <a:cs typeface="Aptos"/>
              </a:defRPr>
            </a:defPPr>
          </a:lstStyle>
          <a:p xmlns:a="http://schemas.openxmlformats.org/drawingml/2006/main">
            <a:pPr algn="ctr">
              <a:defRPr sz="1050" b="1">
                <a:solidFill>
                  <a:srgbClr val="FFFFFF"/>
                </a:solidFill>
                <a:latin typeface="Aptos"/>
                <a:ea typeface="Aptos"/>
                <a:cs typeface="Aptos"/>
              </a:defRPr>
            </a:pPr>
            <a:r>
              <a:rPr sz="1050" b="1">
                <a:solidFill>
                  <a:srgbClr val="FFFFFF"/>
                </a:solidFill>
                <a:latin typeface="Aptos"/>
                <a:ea typeface="Aptos"/>
                <a:cs typeface="Aptos"/>
              </a:rPr>
              <a:t>REST API</a:t>
            </a:r>
          </a:p>
        </p:txBody>
      </p:sp>
      <p:sp>
        <p:nvSpPr>
          <p:cNvPr id="9" name="">
            <a:extLst xmlns:a="http://schemas.openxmlformats.org/drawingml/2006/main">
              <a:ext uri="{FF2B5EF4-FFF2-40B4-BE49-F238E27FC236}">
                <a16:creationId xmlns:a16="http://schemas.microsoft.com/office/drawing/2014/main" id="{4A663321-2603-4C41-9E5B-30FD489B88FD}"/>
              </a:ext>
            </a:extLst>
          </p:cNvPr>
          <p:cNvSpPr>
            <a:spLocks xmlns:a="http://schemas.openxmlformats.org/drawingml/2006/main" noGrp="1"/>
          </p:cNvSpPr>
          <p:nvPr/>
        </p:nvSpPr>
        <p:spPr>
          <a:xfrm xmlns:a="http://schemas.openxmlformats.org/drawingml/2006/main">
            <a:off x="8429625" y="1295400"/>
            <a:ext cx="2724150" cy="3200400"/>
          </a:xfrm>
          <a:prstGeom xmlns:a="http://schemas.openxmlformats.org/drawingml/2006/main" prst="roundRect">
            <a:avLst>
              <a:gd name="adj" fmla="val 4196"/>
            </a:avLst>
          </a:prstGeom>
          <a:solidFill xmlns:a="http://schemas.openxmlformats.org/drawingml/2006/main">
            <a:srgbClr val="0E1C27"/>
          </a:solidFill>
          <a:ln xmlns:a="http://schemas.openxmlformats.org/drawingml/2006/main" w="9525">
            <a:solidFill>
              <a:srgbClr val="365367"/>
            </a:solidFill>
            <a:prstDash val="solid"/>
          </a:ln>
        </p:spPr>
      </p:sp>
      <p:sp>
        <p:nvSpPr>
          <p:cNvPr id="10" name="">
            <a:extLst xmlns:a="http://schemas.openxmlformats.org/drawingml/2006/main">
              <a:ext uri="{FF2B5EF4-FFF2-40B4-BE49-F238E27FC236}">
                <a16:creationId xmlns:a16="http://schemas.microsoft.com/office/drawing/2014/main" id="{2C54B5F5-0B88-4CFB-9CEA-A2A29FD75BD3}"/>
              </a:ext>
            </a:extLst>
          </p:cNvPr>
          <p:cNvSpPr>
            <a:spLocks xmlns:a="http://schemas.openxmlformats.org/drawingml/2006/main" noGrp="1"/>
          </p:cNvSpPr>
          <p:nvPr/>
        </p:nvSpPr>
        <p:spPr>
          <a:xfrm xmlns:a="http://schemas.openxmlformats.org/drawingml/2006/main">
            <a:off x="8667750" y="15621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75" b="1" i="0">
                <a:solidFill>
                  <a:srgbClr val="A8BAC6"/>
                </a:solidFill>
                <a:latin typeface="Cascadia Mono"/>
                <a:ea typeface="Cascadia Mono"/>
                <a:cs typeface="Cascadia Mono"/>
              </a:defRPr>
            </a:defPPr>
          </a:lstStyle>
          <a:p xmlns:a="http://schemas.openxmlformats.org/drawingml/2006/main">
            <a:pPr algn="l">
              <a:lnSpc>
                <a:spcPct val="100000"/>
              </a:lnSpc>
              <a:buNone/>
              <a:defRPr sz="975" b="1" i="0">
                <a:solidFill>
                  <a:srgbClr val="A8BAC6"/>
                </a:solidFill>
                <a:latin typeface="Cascadia Mono"/>
                <a:ea typeface="Cascadia Mono"/>
                <a:cs typeface="Cascadia Mono"/>
              </a:defRPr>
            </a:pPr>
            <a:r>
              <a:rPr sz="975" b="1" i="0">
                <a:solidFill>
                  <a:srgbClr val="A8BAC6"/>
                </a:solidFill>
                <a:latin typeface="Cascadia Mono"/>
                <a:ea typeface="Cascadia Mono"/>
                <a:cs typeface="Cascadia Mono"/>
              </a:rPr>
              <a:t>app/main.py</a:t>
            </a:r>
          </a:p>
        </p:txBody>
      </p:sp>
      <p:sp>
        <p:nvSpPr>
          <p:cNvPr id="11" name="">
            <a:extLst xmlns:a="http://schemas.openxmlformats.org/drawingml/2006/main">
              <a:ext uri="{FF2B5EF4-FFF2-40B4-BE49-F238E27FC236}">
                <a16:creationId xmlns:a16="http://schemas.microsoft.com/office/drawing/2014/main" id="{9B92056A-0AB5-4A82-9004-5DA797ACFB14}"/>
              </a:ext>
            </a:extLst>
          </p:cNvPr>
          <p:cNvSpPr>
            <a:spLocks xmlns:a="http://schemas.openxmlformats.org/drawingml/2006/main" noGrp="1"/>
          </p:cNvSpPr>
          <p:nvPr/>
        </p:nvSpPr>
        <p:spPr>
          <a:xfrm xmlns:a="http://schemas.openxmlformats.org/drawingml/2006/main">
            <a:off x="10315575" y="1543050"/>
            <a:ext cx="114300" cy="114300"/>
          </a:xfrm>
          <a:prstGeom xmlns:a="http://schemas.openxmlformats.org/drawingml/2006/main" prst="ellipse">
            <a:avLst/>
          </a:prstGeom>
          <a:solidFill xmlns:a="http://schemas.openxmlformats.org/drawingml/2006/main">
            <a:srgbClr val="8DE2B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560448E-1D19-4B8A-9DA6-52948AF9A8F8}"/>
              </a:ext>
            </a:extLst>
          </p:cNvPr>
          <p:cNvSpPr>
            <a:spLocks xmlns:a="http://schemas.openxmlformats.org/drawingml/2006/main" noGrp="1"/>
          </p:cNvSpPr>
          <p:nvPr/>
        </p:nvSpPr>
        <p:spPr>
          <a:xfrm xmlns:a="http://schemas.openxmlformats.org/drawingml/2006/main">
            <a:off x="8667750" y="2038350"/>
            <a:ext cx="20955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00" b="0" i="0">
                <a:solidFill>
                  <a:srgbClr val="D6E6EF"/>
                </a:solidFill>
                <a:latin typeface="Cascadia Mono"/>
                <a:ea typeface="Cascadia Mono"/>
                <a:cs typeface="Cascadia Mono"/>
              </a:defRPr>
            </a:defPPr>
          </a:lstStyle>
          <a:p xmlns:a="http://schemas.openxmlformats.org/drawingml/2006/main">
            <a:pPr algn="l">
              <a:lnSpc>
                <a:spcPct val="125000"/>
              </a:lnSpc>
              <a:buNone/>
              <a:defRPr sz="1200" b="0" i="0">
                <a:solidFill>
                  <a:srgbClr val="D6E6EF"/>
                </a:solidFill>
                <a:latin typeface="Cascadia Mono"/>
                <a:ea typeface="Cascadia Mono"/>
                <a:cs typeface="Cascadia Mono"/>
              </a:defRPr>
            </a:pPr>
            <a:r>
              <a:rPr sz="1200" b="0" i="0">
                <a:solidFill>
                  <a:srgbClr val="D6E6EF"/>
                </a:solidFill>
                <a:latin typeface="Cascadia Mono"/>
                <a:ea typeface="Cascadia Mono"/>
                <a:cs typeface="Cascadia Mono"/>
              </a:rPr>
              <a:t>from fastapi import FastAPI</a:t>
            </a:r>
          </a:p>
          <a:p xmlns:a="http://schemas.openxmlformats.org/drawingml/2006/main">
            <a:r>
              <a:t/>
            </a:r>
          </a:p>
          <a:p xmlns:a="http://schemas.openxmlformats.org/drawingml/2006/main">
            <a:pPr algn="l">
              <a:lnSpc>
                <a:spcPct val="125000"/>
              </a:lnSpc>
              <a:buNone/>
              <a:defRPr sz="1200" b="0" i="0">
                <a:solidFill>
                  <a:srgbClr val="D6E6EF"/>
                </a:solidFill>
                <a:latin typeface="Cascadia Mono"/>
                <a:ea typeface="Cascadia Mono"/>
                <a:cs typeface="Cascadia Mono"/>
              </a:defRPr>
            </a:pPr>
            <a:r>
              <a:rPr sz="1200" b="0" i="0">
                <a:solidFill>
                  <a:srgbClr val="D6E6EF"/>
                </a:solidFill>
                <a:latin typeface="Cascadia Mono"/>
                <a:ea typeface="Cascadia Mono"/>
                <a:cs typeface="Cascadia Mono"/>
              </a:rPr>
              <a:t>app = FastAPI()</a:t>
            </a:r>
          </a:p>
          <a:p xmlns:a="http://schemas.openxmlformats.org/drawingml/2006/main">
            <a:r>
              <a:t/>
            </a:r>
          </a:p>
          <a:p xmlns:a="http://schemas.openxmlformats.org/drawingml/2006/main">
            <a:pPr algn="l">
              <a:lnSpc>
                <a:spcPct val="125000"/>
              </a:lnSpc>
              <a:buNone/>
              <a:defRPr sz="1200" b="0" i="0">
                <a:solidFill>
                  <a:srgbClr val="D6E6EF"/>
                </a:solidFill>
                <a:latin typeface="Cascadia Mono"/>
                <a:ea typeface="Cascadia Mono"/>
                <a:cs typeface="Cascadia Mono"/>
              </a:defRPr>
            </a:pPr>
            <a:r>
              <a:rPr sz="1200" b="0" i="0">
                <a:solidFill>
                  <a:srgbClr val="D6E6EF"/>
                </a:solidFill>
                <a:latin typeface="Cascadia Mono"/>
                <a:ea typeface="Cascadia Mono"/>
                <a:cs typeface="Cascadia Mono"/>
              </a:rPr>
              <a:t>@app.get("/tasks")</a:t>
            </a:r>
          </a:p>
          <a:p xmlns:a="http://schemas.openxmlformats.org/drawingml/2006/main">
            <a:pPr algn="l">
              <a:lnSpc>
                <a:spcPct val="125000"/>
              </a:lnSpc>
              <a:buNone/>
              <a:defRPr sz="1200" b="0" i="0">
                <a:solidFill>
                  <a:srgbClr val="D6E6EF"/>
                </a:solidFill>
                <a:latin typeface="Cascadia Mono"/>
                <a:ea typeface="Cascadia Mono"/>
                <a:cs typeface="Cascadia Mono"/>
              </a:defRPr>
            </a:pPr>
            <a:r>
              <a:rPr sz="1200" b="0" i="0">
                <a:solidFill>
                  <a:srgbClr val="D6E6EF"/>
                </a:solidFill>
                <a:latin typeface="Cascadia Mono"/>
                <a:ea typeface="Cascadia Mono"/>
                <a:cs typeface="Cascadia Mono"/>
              </a:rPr>
              <a:t>def list_tasks():</a:t>
            </a:r>
          </a:p>
          <a:p xmlns:a="http://schemas.openxmlformats.org/drawingml/2006/main">
            <a:pPr algn="l">
              <a:lnSpc>
                <a:spcPct val="125000"/>
              </a:lnSpc>
              <a:buNone/>
              <a:defRPr sz="1200" b="0" i="0">
                <a:solidFill>
                  <a:srgbClr val="D6E6EF"/>
                </a:solidFill>
                <a:latin typeface="Cascadia Mono"/>
                <a:ea typeface="Cascadia Mono"/>
                <a:cs typeface="Cascadia Mono"/>
              </a:defRPr>
            </a:pPr>
            <a:r>
              <a:rPr sz="1200" b="0" i="0">
                <a:solidFill>
                  <a:srgbClr val="D6E6EF"/>
                </a:solidFill>
                <a:latin typeface="Cascadia Mono"/>
                <a:ea typeface="Cascadia Mono"/>
                <a:cs typeface="Cascadia Mono"/>
              </a:rPr>
              <a:t>    return tasks</a:t>
            </a:r>
          </a:p>
        </p:txBody>
      </p:sp>
      <p:sp>
        <p:nvSpPr>
          <p:cNvPr id="13" name="">
            <a:extLst xmlns:a="http://schemas.openxmlformats.org/drawingml/2006/main">
              <a:ext uri="{FF2B5EF4-FFF2-40B4-BE49-F238E27FC236}">
                <a16:creationId xmlns:a16="http://schemas.microsoft.com/office/drawing/2014/main" id="{60F29ABE-6737-432E-B113-1EB6AADD0F01}"/>
              </a:ext>
            </a:extLst>
          </p:cNvPr>
          <p:cNvSpPr>
            <a:spLocks xmlns:a="http://schemas.openxmlformats.org/drawingml/2006/main" noGrp="1"/>
          </p:cNvSpPr>
          <p:nvPr/>
        </p:nvSpPr>
        <p:spPr>
          <a:xfrm xmlns:a="http://schemas.openxmlformats.org/drawingml/2006/main">
            <a:off x="781050" y="601980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75" b="1" i="0">
                <a:solidFill>
                  <a:srgbClr val="AFC0C9"/>
                </a:solidFill>
                <a:latin typeface="Aptos"/>
                <a:ea typeface="Aptos"/>
                <a:cs typeface="Aptos"/>
              </a:defRPr>
            </a:defPPr>
          </a:lstStyle>
          <a:p xmlns:a="http://schemas.openxmlformats.org/drawingml/2006/main">
            <a:pPr algn="l">
              <a:lnSpc>
                <a:spcPct val="100000"/>
              </a:lnSpc>
              <a:buNone/>
              <a:defRPr sz="975" b="1" i="0">
                <a:solidFill>
                  <a:srgbClr val="AFC0C9"/>
                </a:solidFill>
                <a:latin typeface="Aptos"/>
                <a:ea typeface="Aptos"/>
                <a:cs typeface="Aptos"/>
              </a:defRPr>
            </a:pPr>
            <a:r>
              <a:rPr sz="975" b="1" i="0">
                <a:solidFill>
                  <a:srgbClr val="AFC0C9"/>
                </a:solidFill>
                <a:latin typeface="Aptos"/>
                <a:ea typeface="Aptos"/>
                <a:cs typeface="Aptos"/>
              </a:rPr>
              <a:t>GROUP PRESENTATION</a:t>
            </a:r>
          </a:p>
        </p:txBody>
      </p:sp>
    </p:spTree>
    <p:extLst>
      <p:ext uri="{BB962C8B-B14F-4D97-AF65-F5344CB8AC3E}">
        <p14:creationId xmlns:p14="http://schemas.microsoft.com/office/powerpoint/2010/main" val="168159159"/>
      </p:ext>
    </p:extLst>
  </p:cSld>
</p:sld>
</file>

<file path=ppt/slides/slide2.xml><?xml version="1.0" encoding="utf-8"?>
<p:sld xmlns:p="http://schemas.openxmlformats.org/presentationml/2006/main">
  <p:cSld>
    <p:bg>
      <p:bgPr>
        <a:solidFill xmlns:a="http://schemas.openxmlformats.org/drawingml/2006/main">
          <a:srgbClr val="FFFDF8"/>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E52177AE-3D26-4B70-984C-3C379F543DA0}"/>
              </a:ext>
            </a:extLst>
          </p:cNvPr>
          <p:cNvSpPr>
            <a:spLocks xmlns:a="http://schemas.openxmlformats.org/drawingml/2006/main" noGrp="1"/>
          </p:cNvSpPr>
          <p:nvPr/>
        </p:nvSpPr>
        <p:spPr>
          <a:xfrm xmlns:a="http://schemas.openxmlformats.org/drawingml/2006/main">
            <a:off x="609600" y="45720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75" b="1" i="0">
                <a:solidFill>
                  <a:srgbClr val="055A52"/>
                </a:solidFill>
                <a:latin typeface="Aptos"/>
                <a:ea typeface="Aptos"/>
                <a:cs typeface="Aptos"/>
              </a:defRPr>
            </a:defPPr>
          </a:lstStyle>
          <a:p xmlns:a="http://schemas.openxmlformats.org/drawingml/2006/main">
            <a:pPr algn="l">
              <a:lnSpc>
                <a:spcPct val="100000"/>
              </a:lnSpc>
              <a:buNone/>
              <a:defRPr sz="975" b="1" i="0">
                <a:solidFill>
                  <a:srgbClr val="055A52"/>
                </a:solidFill>
                <a:latin typeface="Aptos"/>
                <a:ea typeface="Aptos"/>
                <a:cs typeface="Aptos"/>
              </a:defRPr>
            </a:pPr>
            <a:r>
              <a:rPr sz="975" b="1" i="0">
                <a:solidFill>
                  <a:srgbClr val="055A52"/>
                </a:solidFill>
                <a:latin typeface="Aptos"/>
                <a:ea typeface="Aptos"/>
                <a:cs typeface="Aptos"/>
              </a:rPr>
              <a:t>FASTAPI OVERVIEW</a:t>
            </a:r>
          </a:p>
        </p:txBody>
      </p:sp>
      <p:sp>
        <p:nvSpPr>
          <p:cNvPr id="2" name="">
            <a:extLst xmlns:a="http://schemas.openxmlformats.org/drawingml/2006/main">
              <a:ext uri="{FF2B5EF4-FFF2-40B4-BE49-F238E27FC236}">
                <a16:creationId xmlns:a16="http://schemas.microsoft.com/office/drawing/2014/main" id="{7B10C62A-E4C7-485D-9C84-577C2963E10E}"/>
              </a:ext>
            </a:extLst>
          </p:cNvPr>
          <p:cNvSpPr>
            <a:spLocks xmlns:a="http://schemas.openxmlformats.org/drawingml/2006/main" noGrp="1"/>
          </p:cNvSpPr>
          <p:nvPr/>
        </p:nvSpPr>
        <p:spPr>
          <a:xfrm xmlns:a="http://schemas.openxmlformats.org/drawingml/2006/main">
            <a:off x="609600" y="781050"/>
            <a:ext cx="10668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850" b="1" i="0">
                <a:solidFill>
                  <a:srgbClr val="102333"/>
                </a:solidFill>
                <a:latin typeface="Aptos"/>
                <a:ea typeface="Aptos"/>
                <a:cs typeface="Aptos"/>
              </a:defRPr>
            </a:defPPr>
          </a:lstStyle>
          <a:p xmlns:a="http://schemas.openxmlformats.org/drawingml/2006/main">
            <a:pPr algn="l">
              <a:lnSpc>
                <a:spcPct val="95000"/>
              </a:lnSpc>
              <a:buNone/>
              <a:defRPr sz="2850" b="1" i="0">
                <a:solidFill>
                  <a:srgbClr val="102333"/>
                </a:solidFill>
                <a:latin typeface="Aptos"/>
                <a:ea typeface="Aptos"/>
                <a:cs typeface="Aptos"/>
              </a:defRPr>
            </a:pPr>
            <a:r>
              <a:rPr sz="2850" b="1" i="0">
                <a:solidFill>
                  <a:srgbClr val="102333"/>
                </a:solidFill>
                <a:latin typeface="Aptos"/>
                <a:ea typeface="Aptos"/>
                <a:cs typeface="Aptos"/>
              </a:rPr>
              <a:t>One set of Python types does three jobs</a:t>
            </a:r>
          </a:p>
        </p:txBody>
      </p:sp>
      <p:sp>
        <p:nvSpPr>
          <p:cNvPr id="3" name="">
            <a:extLst xmlns:a="http://schemas.openxmlformats.org/drawingml/2006/main">
              <a:ext uri="{FF2B5EF4-FFF2-40B4-BE49-F238E27FC236}">
                <a16:creationId xmlns:a16="http://schemas.microsoft.com/office/drawing/2014/main" id="{867B692F-CA3B-41BF-B62A-E3DD5C86838F}"/>
              </a:ext>
            </a:extLst>
          </p:cNvPr>
          <p:cNvSpPr>
            <a:spLocks xmlns:a="http://schemas.openxmlformats.org/drawingml/2006/main" noGrp="1"/>
          </p:cNvSpPr>
          <p:nvPr/>
        </p:nvSpPr>
        <p:spPr>
          <a:xfrm xmlns:a="http://schemas.openxmlformats.org/drawingml/2006/main">
            <a:off x="628650" y="1466850"/>
            <a:ext cx="1000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350" b="0" i="0">
                <a:solidFill>
                  <a:srgbClr val="536876"/>
                </a:solidFill>
                <a:latin typeface="Aptos"/>
                <a:ea typeface="Aptos"/>
                <a:cs typeface="Aptos"/>
              </a:defRPr>
            </a:defPPr>
          </a:lstStyle>
          <a:p xmlns:a="http://schemas.openxmlformats.org/drawingml/2006/main">
            <a:pPr algn="l">
              <a:lnSpc>
                <a:spcPct val="100000"/>
              </a:lnSpc>
              <a:buNone/>
              <a:defRPr sz="1350" b="0" i="0">
                <a:solidFill>
                  <a:srgbClr val="536876"/>
                </a:solidFill>
                <a:latin typeface="Aptos"/>
                <a:ea typeface="Aptos"/>
                <a:cs typeface="Aptos"/>
              </a:defRPr>
            </a:pPr>
            <a:r>
              <a:rPr sz="1350" b="0" i="0">
                <a:solidFill>
                  <a:srgbClr val="536876"/>
                </a:solidFill>
                <a:latin typeface="Aptos"/>
                <a:ea typeface="Aptos"/>
                <a:cs typeface="Aptos"/>
              </a:rPr>
              <a:t>Routes, validation and API documentation stay connected.</a:t>
            </a:r>
          </a:p>
        </p:txBody>
      </p:sp>
      <p:sp>
        <p:nvSpPr>
          <p:cNvPr id="4" name="">
            <a:extLst xmlns:a="http://schemas.openxmlformats.org/drawingml/2006/main">
              <a:ext uri="{FF2B5EF4-FFF2-40B4-BE49-F238E27FC236}">
                <a16:creationId xmlns:a16="http://schemas.microsoft.com/office/drawing/2014/main" id="{B4BFC0EA-FCF3-4DB0-AC2A-7750F488E03F}"/>
              </a:ext>
            </a:extLst>
          </p:cNvPr>
          <p:cNvSpPr>
            <a:spLocks xmlns:a="http://schemas.openxmlformats.org/drawingml/2006/main" noGrp="1"/>
          </p:cNvSpPr>
          <p:nvPr/>
        </p:nvSpPr>
        <p:spPr>
          <a:xfrm xmlns:a="http://schemas.openxmlformats.org/drawingml/2006/main">
            <a:off x="609600" y="6477000"/>
            <a:ext cx="10972800" cy="14288"/>
          </a:xfrm>
          <a:prstGeom xmlns:a="http://schemas.openxmlformats.org/drawingml/2006/main" prst="rect">
            <a:avLst/>
          </a:prstGeom>
          <a:solidFill xmlns:a="http://schemas.openxmlformats.org/drawingml/2006/main">
            <a:srgbClr val="CCD9D5"/>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14D0AA27-7488-4BCE-BA43-5E57777E5A6A}"/>
              </a:ext>
            </a:extLst>
          </p:cNvPr>
          <p:cNvSpPr>
            <a:spLocks xmlns:a="http://schemas.openxmlformats.org/drawingml/2006/main" noGrp="1"/>
          </p:cNvSpPr>
          <p:nvPr/>
        </p:nvSpPr>
        <p:spPr>
          <a:xfrm xmlns:a="http://schemas.openxmlformats.org/drawingml/2006/main">
            <a:off x="609600" y="655320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825" b="1" i="0">
                <a:solidFill>
                  <a:srgbClr val="536876"/>
                </a:solidFill>
                <a:latin typeface="Aptos"/>
                <a:ea typeface="Aptos"/>
                <a:cs typeface="Aptos"/>
              </a:defRPr>
            </a:defPPr>
          </a:lstStyle>
          <a:p xmlns:a="http://schemas.openxmlformats.org/drawingml/2006/main">
            <a:pPr algn="l">
              <a:lnSpc>
                <a:spcPct val="100000"/>
              </a:lnSpc>
              <a:buNone/>
              <a:defRPr sz="825" b="1" i="0">
                <a:solidFill>
                  <a:srgbClr val="536876"/>
                </a:solidFill>
                <a:latin typeface="Aptos"/>
                <a:ea typeface="Aptos"/>
                <a:cs typeface="Aptos"/>
              </a:defRPr>
            </a:pPr>
            <a:r>
              <a:rPr sz="825" b="1" i="0">
                <a:solidFill>
                  <a:srgbClr val="536876"/>
                </a:solidFill>
                <a:latin typeface="Aptos"/>
                <a:ea typeface="Aptos"/>
                <a:cs typeface="Aptos"/>
              </a:rPr>
              <a:t>COMP10020 · FASTAPI</a:t>
            </a:r>
          </a:p>
        </p:txBody>
      </p:sp>
      <p:sp>
        <p:nvSpPr>
          <p:cNvPr id="6" name="">
            <a:extLst xmlns:a="http://schemas.openxmlformats.org/drawingml/2006/main">
              <a:ext uri="{FF2B5EF4-FFF2-40B4-BE49-F238E27FC236}">
                <a16:creationId xmlns:a16="http://schemas.microsoft.com/office/drawing/2014/main" id="{4153C18D-0CFB-4D1C-AA43-26128C18955B}"/>
              </a:ext>
            </a:extLst>
          </p:cNvPr>
          <p:cNvSpPr>
            <a:spLocks xmlns:a="http://schemas.openxmlformats.org/drawingml/2006/main" noGrp="1"/>
          </p:cNvSpPr>
          <p:nvPr/>
        </p:nvSpPr>
        <p:spPr>
          <a:xfrm xmlns:a="http://schemas.openxmlformats.org/drawingml/2006/main">
            <a:off x="11049000" y="6543675"/>
            <a:ext cx="533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r">
              <a:defRPr sz="825" b="1" i="0">
                <a:solidFill>
                  <a:srgbClr val="536876"/>
                </a:solidFill>
                <a:latin typeface="Aptos"/>
                <a:ea typeface="Aptos"/>
                <a:cs typeface="Aptos"/>
              </a:defRPr>
            </a:defPPr>
          </a:lstStyle>
          <a:p xmlns:a="http://schemas.openxmlformats.org/drawingml/2006/main">
            <a:pPr algn="r">
              <a:lnSpc>
                <a:spcPct val="100000"/>
              </a:lnSpc>
              <a:buNone/>
              <a:defRPr sz="825" b="1" i="0">
                <a:solidFill>
                  <a:srgbClr val="536876"/>
                </a:solidFill>
                <a:latin typeface="Aptos"/>
                <a:ea typeface="Aptos"/>
                <a:cs typeface="Aptos"/>
              </a:defRPr>
            </a:pPr>
            <a:r>
              <a:rPr sz="825" b="1" i="0">
                <a:solidFill>
                  <a:srgbClr val="536876"/>
                </a:solidFill>
                <a:latin typeface="Aptos"/>
                <a:ea typeface="Aptos"/>
                <a:cs typeface="Aptos"/>
              </a:rPr>
              <a:t>02</a:t>
            </a:r>
          </a:p>
        </p:txBody>
      </p:sp>
      <p:sp>
        <p:nvSpPr>
          <p:cNvPr id="7" name="">
            <a:extLst xmlns:a="http://schemas.openxmlformats.org/drawingml/2006/main">
              <a:ext uri="{FF2B5EF4-FFF2-40B4-BE49-F238E27FC236}">
                <a16:creationId xmlns:a16="http://schemas.microsoft.com/office/drawing/2014/main" id="{5214E88C-E5B5-418D-AC48-87D708F97427}"/>
              </a:ext>
            </a:extLst>
          </p:cNvPr>
          <p:cNvSpPr>
            <a:spLocks xmlns:a="http://schemas.openxmlformats.org/drawingml/2006/main" noGrp="1"/>
          </p:cNvSpPr>
          <p:nvPr/>
        </p:nvSpPr>
        <p:spPr>
          <a:xfrm xmlns:a="http://schemas.openxmlformats.org/drawingml/2006/main">
            <a:off x="685800" y="2266950"/>
            <a:ext cx="3333750" cy="2209800"/>
          </a:xfrm>
          <a:prstGeom xmlns:a="http://schemas.openxmlformats.org/drawingml/2006/main" prst="rect">
            <a:avLst/>
          </a:prstGeom>
          <a:solidFill xmlns:a="http://schemas.openxmlformats.org/drawingml/2006/main">
            <a:srgbClr val="FFFFFF"/>
          </a:solidFill>
          <a:ln xmlns:a="http://schemas.openxmlformats.org/drawingml/2006/main" w="9525">
            <a:solidFill>
              <a:srgbClr val="CCD9D5"/>
            </a:solidFill>
            <a:prstDash val="solid"/>
          </a:ln>
        </p:spPr>
      </p:sp>
      <p:sp>
        <p:nvSpPr>
          <p:cNvPr id="8" name="">
            <a:extLst xmlns:a="http://schemas.openxmlformats.org/drawingml/2006/main">
              <a:ext uri="{FF2B5EF4-FFF2-40B4-BE49-F238E27FC236}">
                <a16:creationId xmlns:a16="http://schemas.microsoft.com/office/drawing/2014/main" id="{EF8A8451-7CE1-4FBC-A91F-FA07834B1FB7}"/>
              </a:ext>
            </a:extLst>
          </p:cNvPr>
          <p:cNvSpPr>
            <a:spLocks xmlns:a="http://schemas.openxmlformats.org/drawingml/2006/main" noGrp="1"/>
          </p:cNvSpPr>
          <p:nvPr/>
        </p:nvSpPr>
        <p:spPr>
          <a:xfrm xmlns:a="http://schemas.openxmlformats.org/drawingml/2006/main">
            <a:off x="914400" y="2476500"/>
            <a:ext cx="6477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250" b="1" i="0">
                <a:solidFill>
                  <a:srgbClr val="EF765E"/>
                </a:solidFill>
                <a:latin typeface="Aptos"/>
                <a:ea typeface="Aptos"/>
                <a:cs typeface="Aptos"/>
              </a:defRPr>
            </a:defPPr>
          </a:lstStyle>
          <a:p xmlns:a="http://schemas.openxmlformats.org/drawingml/2006/main">
            <a:pPr algn="l">
              <a:lnSpc>
                <a:spcPct val="100000"/>
              </a:lnSpc>
              <a:buNone/>
              <a:defRPr sz="2250" b="1" i="0">
                <a:solidFill>
                  <a:srgbClr val="EF765E"/>
                </a:solidFill>
                <a:latin typeface="Aptos"/>
                <a:ea typeface="Aptos"/>
                <a:cs typeface="Aptos"/>
              </a:defRPr>
            </a:pPr>
            <a:r>
              <a:rPr sz="2250" b="1" i="0">
                <a:solidFill>
                  <a:srgbClr val="EF765E"/>
                </a:solidFill>
                <a:latin typeface="Aptos"/>
                <a:ea typeface="Aptos"/>
                <a:cs typeface="Aptos"/>
              </a:rPr>
              <a:t>01</a:t>
            </a:r>
          </a:p>
        </p:txBody>
      </p:sp>
      <p:sp>
        <p:nvSpPr>
          <p:cNvPr id="9" name="">
            <a:extLst xmlns:a="http://schemas.openxmlformats.org/drawingml/2006/main">
              <a:ext uri="{FF2B5EF4-FFF2-40B4-BE49-F238E27FC236}">
                <a16:creationId xmlns:a16="http://schemas.microsoft.com/office/drawing/2014/main" id="{6F90B90C-A4E3-49EB-BBC1-F39C173A2C71}"/>
              </a:ext>
            </a:extLst>
          </p:cNvPr>
          <p:cNvSpPr>
            <a:spLocks xmlns:a="http://schemas.openxmlformats.org/drawingml/2006/main" noGrp="1"/>
          </p:cNvSpPr>
          <p:nvPr/>
        </p:nvSpPr>
        <p:spPr>
          <a:xfrm xmlns:a="http://schemas.openxmlformats.org/drawingml/2006/main">
            <a:off x="914400" y="302895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725" b="1" i="0">
                <a:solidFill>
                  <a:srgbClr val="102333"/>
                </a:solidFill>
                <a:latin typeface="Aptos"/>
                <a:ea typeface="Aptos"/>
                <a:cs typeface="Aptos"/>
              </a:defRPr>
            </a:defPPr>
          </a:lstStyle>
          <a:p xmlns:a="http://schemas.openxmlformats.org/drawingml/2006/main">
            <a:pPr algn="l">
              <a:lnSpc>
                <a:spcPct val="100000"/>
              </a:lnSpc>
              <a:buNone/>
              <a:defRPr sz="1725" b="1" i="0">
                <a:solidFill>
                  <a:srgbClr val="102333"/>
                </a:solidFill>
                <a:latin typeface="Aptos"/>
                <a:ea typeface="Aptos"/>
                <a:cs typeface="Aptos"/>
              </a:defRPr>
            </a:pPr>
            <a:r>
              <a:rPr sz="1725" b="1" i="0">
                <a:solidFill>
                  <a:srgbClr val="102333"/>
                </a:solidFill>
                <a:latin typeface="Aptos"/>
                <a:ea typeface="Aptos"/>
                <a:cs typeface="Aptos"/>
              </a:rPr>
              <a:t>Declare routes</a:t>
            </a:r>
          </a:p>
        </p:txBody>
      </p:sp>
      <p:sp>
        <p:nvSpPr>
          <p:cNvPr id="10" name="">
            <a:extLst xmlns:a="http://schemas.openxmlformats.org/drawingml/2006/main">
              <a:ext uri="{FF2B5EF4-FFF2-40B4-BE49-F238E27FC236}">
                <a16:creationId xmlns:a16="http://schemas.microsoft.com/office/drawing/2014/main" id="{17129EC7-2D5F-4E7C-82E7-1D0CAE629514}"/>
              </a:ext>
            </a:extLst>
          </p:cNvPr>
          <p:cNvSpPr>
            <a:spLocks xmlns:a="http://schemas.openxmlformats.org/drawingml/2006/main" noGrp="1"/>
          </p:cNvSpPr>
          <p:nvPr/>
        </p:nvSpPr>
        <p:spPr>
          <a:xfrm xmlns:a="http://schemas.openxmlformats.org/drawingml/2006/main">
            <a:off x="914400" y="3524250"/>
            <a:ext cx="2857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00" b="0" i="0">
                <a:solidFill>
                  <a:srgbClr val="536876"/>
                </a:solidFill>
                <a:latin typeface="Aptos"/>
                <a:ea typeface="Aptos"/>
                <a:cs typeface="Aptos"/>
              </a:defRPr>
            </a:defPPr>
          </a:lstStyle>
          <a:p xmlns:a="http://schemas.openxmlformats.org/drawingml/2006/main">
            <a:pPr algn="l">
              <a:lnSpc>
                <a:spcPct val="118000"/>
              </a:lnSpc>
              <a:buNone/>
              <a:defRPr sz="1200" b="0" i="0">
                <a:solidFill>
                  <a:srgbClr val="536876"/>
                </a:solidFill>
                <a:latin typeface="Aptos"/>
                <a:ea typeface="Aptos"/>
                <a:cs typeface="Aptos"/>
              </a:defRPr>
            </a:pPr>
            <a:r>
              <a:rPr sz="1200" b="0" i="0">
                <a:solidFill>
                  <a:srgbClr val="536876"/>
                </a:solidFill>
                <a:latin typeface="Aptos"/>
                <a:ea typeface="Aptos"/>
                <a:cs typeface="Aptos"/>
              </a:rPr>
              <a:t>Decorators connect an HTTP method and path to a Python function.</a:t>
            </a:r>
          </a:p>
        </p:txBody>
      </p:sp>
      <p:sp>
        <p:nvSpPr>
          <p:cNvPr id="11" name="">
            <a:extLst xmlns:a="http://schemas.openxmlformats.org/drawingml/2006/main">
              <a:ext uri="{FF2B5EF4-FFF2-40B4-BE49-F238E27FC236}">
                <a16:creationId xmlns:a16="http://schemas.microsoft.com/office/drawing/2014/main" id="{CE1E4588-D815-4622-9629-180A1117D599}"/>
              </a:ext>
            </a:extLst>
          </p:cNvPr>
          <p:cNvSpPr>
            <a:spLocks xmlns:a="http://schemas.openxmlformats.org/drawingml/2006/main" noGrp="1"/>
          </p:cNvSpPr>
          <p:nvPr/>
        </p:nvSpPr>
        <p:spPr>
          <a:xfrm xmlns:a="http://schemas.openxmlformats.org/drawingml/2006/main">
            <a:off x="4362450" y="2266950"/>
            <a:ext cx="3333750" cy="2209800"/>
          </a:xfrm>
          <a:prstGeom xmlns:a="http://schemas.openxmlformats.org/drawingml/2006/main" prst="rect">
            <a:avLst/>
          </a:prstGeom>
          <a:solidFill xmlns:a="http://schemas.openxmlformats.org/drawingml/2006/main">
            <a:srgbClr val="EDF4F1"/>
          </a:solidFill>
          <a:ln xmlns:a="http://schemas.openxmlformats.org/drawingml/2006/main" w="9525">
            <a:solidFill>
              <a:srgbClr val="CCD9D5"/>
            </a:solidFill>
            <a:prstDash val="solid"/>
          </a:ln>
        </p:spPr>
      </p:sp>
      <p:sp>
        <p:nvSpPr>
          <p:cNvPr id="12" name="">
            <a:extLst xmlns:a="http://schemas.openxmlformats.org/drawingml/2006/main">
              <a:ext uri="{FF2B5EF4-FFF2-40B4-BE49-F238E27FC236}">
                <a16:creationId xmlns:a16="http://schemas.microsoft.com/office/drawing/2014/main" id="{AA8B904E-25CF-420E-BB3A-9AC79BE275A2}"/>
              </a:ext>
            </a:extLst>
          </p:cNvPr>
          <p:cNvSpPr>
            <a:spLocks xmlns:a="http://schemas.openxmlformats.org/drawingml/2006/main" noGrp="1"/>
          </p:cNvSpPr>
          <p:nvPr/>
        </p:nvSpPr>
        <p:spPr>
          <a:xfrm xmlns:a="http://schemas.openxmlformats.org/drawingml/2006/main">
            <a:off x="4591050" y="2476500"/>
            <a:ext cx="6477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250" b="1" i="0">
                <a:solidFill>
                  <a:srgbClr val="EF765E"/>
                </a:solidFill>
                <a:latin typeface="Aptos"/>
                <a:ea typeface="Aptos"/>
                <a:cs typeface="Aptos"/>
              </a:defRPr>
            </a:defPPr>
          </a:lstStyle>
          <a:p xmlns:a="http://schemas.openxmlformats.org/drawingml/2006/main">
            <a:pPr algn="l">
              <a:lnSpc>
                <a:spcPct val="100000"/>
              </a:lnSpc>
              <a:buNone/>
              <a:defRPr sz="2250" b="1" i="0">
                <a:solidFill>
                  <a:srgbClr val="EF765E"/>
                </a:solidFill>
                <a:latin typeface="Aptos"/>
                <a:ea typeface="Aptos"/>
                <a:cs typeface="Aptos"/>
              </a:defRPr>
            </a:pPr>
            <a:r>
              <a:rPr sz="2250" b="1" i="0">
                <a:solidFill>
                  <a:srgbClr val="EF765E"/>
                </a:solidFill>
                <a:latin typeface="Aptos"/>
                <a:ea typeface="Aptos"/>
                <a:cs typeface="Aptos"/>
              </a:rPr>
              <a:t>02</a:t>
            </a:r>
          </a:p>
        </p:txBody>
      </p:sp>
      <p:sp>
        <p:nvSpPr>
          <p:cNvPr id="13" name="">
            <a:extLst xmlns:a="http://schemas.openxmlformats.org/drawingml/2006/main">
              <a:ext uri="{FF2B5EF4-FFF2-40B4-BE49-F238E27FC236}">
                <a16:creationId xmlns:a16="http://schemas.microsoft.com/office/drawing/2014/main" id="{F1FBBEC6-892F-4390-8DA2-893057AC58B7}"/>
              </a:ext>
            </a:extLst>
          </p:cNvPr>
          <p:cNvSpPr>
            <a:spLocks xmlns:a="http://schemas.openxmlformats.org/drawingml/2006/main" noGrp="1"/>
          </p:cNvSpPr>
          <p:nvPr/>
        </p:nvSpPr>
        <p:spPr>
          <a:xfrm xmlns:a="http://schemas.openxmlformats.org/drawingml/2006/main">
            <a:off x="4591050" y="302895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725" b="1" i="0">
                <a:solidFill>
                  <a:srgbClr val="102333"/>
                </a:solidFill>
                <a:latin typeface="Aptos"/>
                <a:ea typeface="Aptos"/>
                <a:cs typeface="Aptos"/>
              </a:defRPr>
            </a:defPPr>
          </a:lstStyle>
          <a:p xmlns:a="http://schemas.openxmlformats.org/drawingml/2006/main">
            <a:pPr algn="l">
              <a:lnSpc>
                <a:spcPct val="100000"/>
              </a:lnSpc>
              <a:buNone/>
              <a:defRPr sz="1725" b="1" i="0">
                <a:solidFill>
                  <a:srgbClr val="102333"/>
                </a:solidFill>
                <a:latin typeface="Aptos"/>
                <a:ea typeface="Aptos"/>
                <a:cs typeface="Aptos"/>
              </a:defRPr>
            </a:pPr>
            <a:r>
              <a:rPr sz="1725" b="1" i="0">
                <a:solidFill>
                  <a:srgbClr val="102333"/>
                </a:solidFill>
                <a:latin typeface="Aptos"/>
                <a:ea typeface="Aptos"/>
                <a:cs typeface="Aptos"/>
              </a:rPr>
              <a:t>Validate data</a:t>
            </a:r>
          </a:p>
        </p:txBody>
      </p:sp>
      <p:sp>
        <p:nvSpPr>
          <p:cNvPr id="14" name="">
            <a:extLst xmlns:a="http://schemas.openxmlformats.org/drawingml/2006/main">
              <a:ext uri="{FF2B5EF4-FFF2-40B4-BE49-F238E27FC236}">
                <a16:creationId xmlns:a16="http://schemas.microsoft.com/office/drawing/2014/main" id="{6E148F5E-49F9-425A-A222-FE428DE9C783}"/>
              </a:ext>
            </a:extLst>
          </p:cNvPr>
          <p:cNvSpPr>
            <a:spLocks xmlns:a="http://schemas.openxmlformats.org/drawingml/2006/main" noGrp="1"/>
          </p:cNvSpPr>
          <p:nvPr/>
        </p:nvSpPr>
        <p:spPr>
          <a:xfrm xmlns:a="http://schemas.openxmlformats.org/drawingml/2006/main">
            <a:off x="4591050" y="3524250"/>
            <a:ext cx="2857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00" b="0" i="0">
                <a:solidFill>
                  <a:srgbClr val="536876"/>
                </a:solidFill>
                <a:latin typeface="Aptos"/>
                <a:ea typeface="Aptos"/>
                <a:cs typeface="Aptos"/>
              </a:defRPr>
            </a:defPPr>
          </a:lstStyle>
          <a:p xmlns:a="http://schemas.openxmlformats.org/drawingml/2006/main">
            <a:pPr algn="l">
              <a:lnSpc>
                <a:spcPct val="118000"/>
              </a:lnSpc>
              <a:buNone/>
              <a:defRPr sz="1200" b="0" i="0">
                <a:solidFill>
                  <a:srgbClr val="536876"/>
                </a:solidFill>
                <a:latin typeface="Aptos"/>
                <a:ea typeface="Aptos"/>
                <a:cs typeface="Aptos"/>
              </a:defRPr>
            </a:pPr>
            <a:r>
              <a:rPr sz="1200" b="0" i="0">
                <a:solidFill>
                  <a:srgbClr val="536876"/>
                </a:solidFill>
                <a:latin typeface="Aptos"/>
                <a:ea typeface="Aptos"/>
                <a:cs typeface="Aptos"/>
              </a:rPr>
              <a:t>Pydantic checks request bodies, path values and query parameters.</a:t>
            </a:r>
          </a:p>
        </p:txBody>
      </p:sp>
      <p:sp>
        <p:nvSpPr>
          <p:cNvPr id="15" name="">
            <a:extLst xmlns:a="http://schemas.openxmlformats.org/drawingml/2006/main">
              <a:ext uri="{FF2B5EF4-FFF2-40B4-BE49-F238E27FC236}">
                <a16:creationId xmlns:a16="http://schemas.microsoft.com/office/drawing/2014/main" id="{2A5A6691-3F95-449B-9939-109231B71222}"/>
              </a:ext>
            </a:extLst>
          </p:cNvPr>
          <p:cNvSpPr>
            <a:spLocks xmlns:a="http://schemas.openxmlformats.org/drawingml/2006/main" noGrp="1"/>
          </p:cNvSpPr>
          <p:nvPr/>
        </p:nvSpPr>
        <p:spPr>
          <a:xfrm xmlns:a="http://schemas.openxmlformats.org/drawingml/2006/main">
            <a:off x="8039100" y="2266950"/>
            <a:ext cx="3333750" cy="2209800"/>
          </a:xfrm>
          <a:prstGeom xmlns:a="http://schemas.openxmlformats.org/drawingml/2006/main" prst="rect">
            <a:avLst/>
          </a:prstGeom>
          <a:solidFill xmlns:a="http://schemas.openxmlformats.org/drawingml/2006/main">
            <a:srgbClr val="FFFFFF"/>
          </a:solidFill>
          <a:ln xmlns:a="http://schemas.openxmlformats.org/drawingml/2006/main" w="9525">
            <a:solidFill>
              <a:srgbClr val="CCD9D5"/>
            </a:solidFill>
            <a:prstDash val="solid"/>
          </a:ln>
        </p:spPr>
      </p:sp>
      <p:sp>
        <p:nvSpPr>
          <p:cNvPr id="16" name="">
            <a:extLst xmlns:a="http://schemas.openxmlformats.org/drawingml/2006/main">
              <a:ext uri="{FF2B5EF4-FFF2-40B4-BE49-F238E27FC236}">
                <a16:creationId xmlns:a16="http://schemas.microsoft.com/office/drawing/2014/main" id="{548F4541-16BF-462E-9CDF-14A6028978E2}"/>
              </a:ext>
            </a:extLst>
          </p:cNvPr>
          <p:cNvSpPr>
            <a:spLocks xmlns:a="http://schemas.openxmlformats.org/drawingml/2006/main" noGrp="1"/>
          </p:cNvSpPr>
          <p:nvPr/>
        </p:nvSpPr>
        <p:spPr>
          <a:xfrm xmlns:a="http://schemas.openxmlformats.org/drawingml/2006/main">
            <a:off x="8267700" y="2476500"/>
            <a:ext cx="6477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250" b="1" i="0">
                <a:solidFill>
                  <a:srgbClr val="EF765E"/>
                </a:solidFill>
                <a:latin typeface="Aptos"/>
                <a:ea typeface="Aptos"/>
                <a:cs typeface="Aptos"/>
              </a:defRPr>
            </a:defPPr>
          </a:lstStyle>
          <a:p xmlns:a="http://schemas.openxmlformats.org/drawingml/2006/main">
            <a:pPr algn="l">
              <a:lnSpc>
                <a:spcPct val="100000"/>
              </a:lnSpc>
              <a:buNone/>
              <a:defRPr sz="2250" b="1" i="0">
                <a:solidFill>
                  <a:srgbClr val="EF765E"/>
                </a:solidFill>
                <a:latin typeface="Aptos"/>
                <a:ea typeface="Aptos"/>
                <a:cs typeface="Aptos"/>
              </a:defRPr>
            </a:pPr>
            <a:r>
              <a:rPr sz="2250" b="1" i="0">
                <a:solidFill>
                  <a:srgbClr val="EF765E"/>
                </a:solidFill>
                <a:latin typeface="Aptos"/>
                <a:ea typeface="Aptos"/>
                <a:cs typeface="Aptos"/>
              </a:rPr>
              <a:t>03</a:t>
            </a:r>
          </a:p>
        </p:txBody>
      </p:sp>
      <p:sp>
        <p:nvSpPr>
          <p:cNvPr id="17" name="">
            <a:extLst xmlns:a="http://schemas.openxmlformats.org/drawingml/2006/main">
              <a:ext uri="{FF2B5EF4-FFF2-40B4-BE49-F238E27FC236}">
                <a16:creationId xmlns:a16="http://schemas.microsoft.com/office/drawing/2014/main" id="{A4E20C3A-6D4B-4805-BC19-6F42EE51709A}"/>
              </a:ext>
            </a:extLst>
          </p:cNvPr>
          <p:cNvSpPr>
            <a:spLocks xmlns:a="http://schemas.openxmlformats.org/drawingml/2006/main" noGrp="1"/>
          </p:cNvSpPr>
          <p:nvPr/>
        </p:nvSpPr>
        <p:spPr>
          <a:xfrm xmlns:a="http://schemas.openxmlformats.org/drawingml/2006/main">
            <a:off x="8267700" y="302895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725" b="1" i="0">
                <a:solidFill>
                  <a:srgbClr val="102333"/>
                </a:solidFill>
                <a:latin typeface="Aptos"/>
                <a:ea typeface="Aptos"/>
                <a:cs typeface="Aptos"/>
              </a:defRPr>
            </a:defPPr>
          </a:lstStyle>
          <a:p xmlns:a="http://schemas.openxmlformats.org/drawingml/2006/main">
            <a:pPr algn="l">
              <a:lnSpc>
                <a:spcPct val="100000"/>
              </a:lnSpc>
              <a:buNone/>
              <a:defRPr sz="1725" b="1" i="0">
                <a:solidFill>
                  <a:srgbClr val="102333"/>
                </a:solidFill>
                <a:latin typeface="Aptos"/>
                <a:ea typeface="Aptos"/>
                <a:cs typeface="Aptos"/>
              </a:defRPr>
            </a:pPr>
            <a:r>
              <a:rPr sz="1725" b="1" i="0">
                <a:solidFill>
                  <a:srgbClr val="102333"/>
                </a:solidFill>
                <a:latin typeface="Aptos"/>
                <a:ea typeface="Aptos"/>
                <a:cs typeface="Aptos"/>
              </a:rPr>
              <a:t>Describe the API</a:t>
            </a:r>
          </a:p>
        </p:txBody>
      </p:sp>
      <p:sp>
        <p:nvSpPr>
          <p:cNvPr id="18" name="">
            <a:extLst xmlns:a="http://schemas.openxmlformats.org/drawingml/2006/main">
              <a:ext uri="{FF2B5EF4-FFF2-40B4-BE49-F238E27FC236}">
                <a16:creationId xmlns:a16="http://schemas.microsoft.com/office/drawing/2014/main" id="{DAFCCF0E-B84D-4AEB-8FBE-C4E2D2723378}"/>
              </a:ext>
            </a:extLst>
          </p:cNvPr>
          <p:cNvSpPr>
            <a:spLocks xmlns:a="http://schemas.openxmlformats.org/drawingml/2006/main" noGrp="1"/>
          </p:cNvSpPr>
          <p:nvPr/>
        </p:nvSpPr>
        <p:spPr>
          <a:xfrm xmlns:a="http://schemas.openxmlformats.org/drawingml/2006/main">
            <a:off x="8267700" y="3524250"/>
            <a:ext cx="2857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00" b="0" i="0">
                <a:solidFill>
                  <a:srgbClr val="536876"/>
                </a:solidFill>
                <a:latin typeface="Aptos"/>
                <a:ea typeface="Aptos"/>
                <a:cs typeface="Aptos"/>
              </a:defRPr>
            </a:defPPr>
          </a:lstStyle>
          <a:p xmlns:a="http://schemas.openxmlformats.org/drawingml/2006/main">
            <a:pPr algn="l">
              <a:lnSpc>
                <a:spcPct val="118000"/>
              </a:lnSpc>
              <a:buNone/>
              <a:defRPr sz="1200" b="0" i="0">
                <a:solidFill>
                  <a:srgbClr val="536876"/>
                </a:solidFill>
                <a:latin typeface="Aptos"/>
                <a:ea typeface="Aptos"/>
                <a:cs typeface="Aptos"/>
              </a:defRPr>
            </a:pPr>
            <a:r>
              <a:rPr sz="1200" b="0" i="0">
                <a:solidFill>
                  <a:srgbClr val="536876"/>
                </a:solidFill>
                <a:latin typeface="Aptos"/>
                <a:ea typeface="Aptos"/>
                <a:cs typeface="Aptos"/>
              </a:rPr>
              <a:t>FastAPI generates OpenAPI, Swagger UI and ReDoc automatically.</a:t>
            </a:r>
          </a:p>
        </p:txBody>
      </p:sp>
      <p:sp>
        <p:nvSpPr>
          <p:cNvPr id="19" name="">
            <a:extLst xmlns:a="http://schemas.openxmlformats.org/drawingml/2006/main">
              <a:ext uri="{FF2B5EF4-FFF2-40B4-BE49-F238E27FC236}">
                <a16:creationId xmlns:a16="http://schemas.microsoft.com/office/drawing/2014/main" id="{76F7BBBF-A681-4AAC-AFCB-993507A211DE}"/>
              </a:ext>
            </a:extLst>
          </p:cNvPr>
          <p:cNvSpPr>
            <a:spLocks xmlns:a="http://schemas.openxmlformats.org/drawingml/2006/main" noGrp="1"/>
          </p:cNvSpPr>
          <p:nvPr/>
        </p:nvSpPr>
        <p:spPr>
          <a:xfrm xmlns:a="http://schemas.openxmlformats.org/drawingml/2006/main">
            <a:off x="2533650" y="4857750"/>
            <a:ext cx="7124700" cy="1104900"/>
          </a:xfrm>
          <a:prstGeom xmlns:a="http://schemas.openxmlformats.org/drawingml/2006/main" prst="roundRect">
            <a:avLst>
              <a:gd name="adj" fmla="val 10345"/>
            </a:avLst>
          </a:prstGeom>
          <a:solidFill xmlns:a="http://schemas.openxmlformats.org/drawingml/2006/main">
            <a:srgbClr val="0E1C27"/>
          </a:solidFill>
          <a:ln xmlns:a="http://schemas.openxmlformats.org/drawingml/2006/main" w="9525">
            <a:solidFill>
              <a:srgbClr val="263B4B"/>
            </a:solidFill>
            <a:prstDash val="solid"/>
          </a:ln>
        </p:spPr>
      </p:sp>
      <p:sp>
        <p:nvSpPr>
          <p:cNvPr id="20" name="">
            <a:extLst xmlns:a="http://schemas.openxmlformats.org/drawingml/2006/main">
              <a:ext uri="{FF2B5EF4-FFF2-40B4-BE49-F238E27FC236}">
                <a16:creationId xmlns:a16="http://schemas.microsoft.com/office/drawing/2014/main" id="{081D858C-CDD8-4EC4-90D7-A070263A9CE2}"/>
              </a:ext>
            </a:extLst>
          </p:cNvPr>
          <p:cNvSpPr>
            <a:spLocks xmlns:a="http://schemas.openxmlformats.org/drawingml/2006/main" noGrp="1"/>
          </p:cNvSpPr>
          <p:nvPr/>
        </p:nvSpPr>
        <p:spPr>
          <a:xfrm xmlns:a="http://schemas.openxmlformats.org/drawingml/2006/main">
            <a:off x="2533650" y="5257800"/>
            <a:ext cx="7124700" cy="9525"/>
          </a:xfrm>
          <a:prstGeom xmlns:a="http://schemas.openxmlformats.org/drawingml/2006/main" prst="rect">
            <a:avLst/>
          </a:prstGeom>
          <a:solidFill xmlns:a="http://schemas.openxmlformats.org/drawingml/2006/main">
            <a:srgbClr val="263B4B"/>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6F67D0A-AE96-40EE-BCEA-DD8E4E3B9027}"/>
              </a:ext>
            </a:extLst>
          </p:cNvPr>
          <p:cNvSpPr>
            <a:spLocks xmlns:a="http://schemas.openxmlformats.org/drawingml/2006/main" noGrp="1"/>
          </p:cNvSpPr>
          <p:nvPr/>
        </p:nvSpPr>
        <p:spPr>
          <a:xfrm xmlns:a="http://schemas.openxmlformats.org/drawingml/2006/main">
            <a:off x="2705100" y="4981575"/>
            <a:ext cx="6781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00" b="1" i="0">
                <a:solidFill>
                  <a:srgbClr val="A8BAC6"/>
                </a:solidFill>
                <a:latin typeface="Cascadia Mono"/>
                <a:ea typeface="Cascadia Mono"/>
                <a:cs typeface="Cascadia Mono"/>
              </a:defRPr>
            </a:defPPr>
          </a:lstStyle>
          <a:p xmlns:a="http://schemas.openxmlformats.org/drawingml/2006/main">
            <a:pPr algn="l">
              <a:lnSpc>
                <a:spcPct val="100000"/>
              </a:lnSpc>
              <a:buNone/>
              <a:defRPr sz="900" b="1" i="0">
                <a:solidFill>
                  <a:srgbClr val="A8BAC6"/>
                </a:solidFill>
                <a:latin typeface="Cascadia Mono"/>
                <a:ea typeface="Cascadia Mono"/>
                <a:cs typeface="Cascadia Mono"/>
              </a:defRPr>
            </a:pPr>
            <a:r>
              <a:rPr sz="900" b="1" i="0">
                <a:solidFill>
                  <a:srgbClr val="A8BAC6"/>
                </a:solidFill>
                <a:latin typeface="Cascadia Mono"/>
                <a:ea typeface="Cascadia Mono"/>
                <a:cs typeface="Cascadia Mono"/>
              </a:rPr>
              <a:t>A minimal typed route</a:t>
            </a:r>
          </a:p>
        </p:txBody>
      </p:sp>
      <p:sp>
        <p:nvSpPr>
          <p:cNvPr id="22" name="">
            <a:extLst xmlns:a="http://schemas.openxmlformats.org/drawingml/2006/main">
              <a:ext uri="{FF2B5EF4-FFF2-40B4-BE49-F238E27FC236}">
                <a16:creationId xmlns:a16="http://schemas.microsoft.com/office/drawing/2014/main" id="{7C4A71A5-3AAB-430C-81F9-DB5CC71470DB}"/>
              </a:ext>
            </a:extLst>
          </p:cNvPr>
          <p:cNvSpPr>
            <a:spLocks xmlns:a="http://schemas.openxmlformats.org/drawingml/2006/main" noGrp="1"/>
          </p:cNvSpPr>
          <p:nvPr/>
        </p:nvSpPr>
        <p:spPr>
          <a:xfrm xmlns:a="http://schemas.openxmlformats.org/drawingml/2006/main">
            <a:off x="2743200" y="5410200"/>
            <a:ext cx="6705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1018"/>
          </a:bodyPr>
          <a:lstStyle xmlns:a="http://schemas.openxmlformats.org/drawingml/2006/main">
            <a:defPPr algn="l">
              <a:defRPr sz="1350" b="0" i="0">
                <a:solidFill>
                  <a:srgbClr val="D6E6EF"/>
                </a:solidFill>
                <a:latin typeface="Cascadia Mono"/>
                <a:ea typeface="Cascadia Mono"/>
                <a:cs typeface="Cascadia Mono"/>
              </a:defRPr>
            </a:defPPr>
          </a:lstStyle>
          <a:p xmlns:a="http://schemas.openxmlformats.org/drawingml/2006/main">
            <a:pPr algn="l">
              <a:lnSpc>
                <a:spcPct val="120000"/>
              </a:lnSpc>
              <a:buNone/>
              <a:defRPr sz="1350" b="0" i="0">
                <a:solidFill>
                  <a:srgbClr val="D6E6EF"/>
                </a:solidFill>
                <a:latin typeface="Cascadia Mono"/>
                <a:ea typeface="Cascadia Mono"/>
                <a:cs typeface="Cascadia Mono"/>
              </a:defRPr>
            </a:pPr>
            <a:r>
              <a:rPr sz="1350" b="0" i="0">
                <a:solidFill>
                  <a:srgbClr val="D6E6EF"/>
                </a:solidFill>
                <a:latin typeface="Cascadia Mono"/>
                <a:ea typeface="Cascadia Mono"/>
                <a:cs typeface="Cascadia Mono"/>
              </a:rPr>
              <a:t>@app.get("/tasks/{task_id}")</a:t>
            </a:r>
          </a:p>
          <a:p xmlns:a="http://schemas.openxmlformats.org/drawingml/2006/main">
            <a:pPr algn="l">
              <a:lnSpc>
                <a:spcPct val="120000"/>
              </a:lnSpc>
              <a:buNone/>
              <a:defRPr sz="1350" b="0" i="0">
                <a:solidFill>
                  <a:srgbClr val="D6E6EF"/>
                </a:solidFill>
                <a:latin typeface="Cascadia Mono"/>
                <a:ea typeface="Cascadia Mono"/>
                <a:cs typeface="Cascadia Mono"/>
              </a:defRPr>
            </a:pPr>
            <a:r>
              <a:rPr sz="1350" b="0" i="0">
                <a:solidFill>
                  <a:srgbClr val="D6E6EF"/>
                </a:solidFill>
                <a:latin typeface="Cascadia Mono"/>
                <a:ea typeface="Cascadia Mono"/>
                <a:cs typeface="Cascadia Mono"/>
              </a:rPr>
              <a:t>def read_task(task_id: int) -&gt; TaskRead: ...</a:t>
            </a:r>
          </a:p>
        </p:txBody>
      </p:sp>
    </p:spTree>
    <p:extLst>
      <p:ext uri="{BB962C8B-B14F-4D97-AF65-F5344CB8AC3E}">
        <p14:creationId xmlns:p14="http://schemas.microsoft.com/office/powerpoint/2010/main" val="1152299547"/>
      </p:ext>
    </p:extLst>
  </p:cSld>
</p:sld>
</file>

<file path=ppt/slides/slide3.xml><?xml version="1.0" encoding="utf-8"?>
<p:sld xmlns:p="http://schemas.openxmlformats.org/presentationml/2006/main">
  <p:cSld>
    <p:bg>
      <p:bgPr>
        <a:solidFill xmlns:a="http://schemas.openxmlformats.org/drawingml/2006/main">
          <a:srgbClr val="FFFDF8"/>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0D05963C-5EF5-4C44-A844-EE6FBBE750B9}"/>
              </a:ext>
            </a:extLst>
          </p:cNvPr>
          <p:cNvSpPr>
            <a:spLocks xmlns:a="http://schemas.openxmlformats.org/drawingml/2006/main" noGrp="1"/>
          </p:cNvSpPr>
          <p:nvPr/>
        </p:nvSpPr>
        <p:spPr>
          <a:xfrm xmlns:a="http://schemas.openxmlformats.org/drawingml/2006/main">
            <a:off x="609600" y="45720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75" b="1" i="0">
                <a:solidFill>
                  <a:srgbClr val="055A52"/>
                </a:solidFill>
                <a:latin typeface="Aptos"/>
                <a:ea typeface="Aptos"/>
                <a:cs typeface="Aptos"/>
              </a:defRPr>
            </a:defPPr>
          </a:lstStyle>
          <a:p xmlns:a="http://schemas.openxmlformats.org/drawingml/2006/main">
            <a:pPr algn="l">
              <a:lnSpc>
                <a:spcPct val="100000"/>
              </a:lnSpc>
              <a:buNone/>
              <a:defRPr sz="975" b="1" i="0">
                <a:solidFill>
                  <a:srgbClr val="055A52"/>
                </a:solidFill>
                <a:latin typeface="Aptos"/>
                <a:ea typeface="Aptos"/>
                <a:cs typeface="Aptos"/>
              </a:defRPr>
            </a:pPr>
            <a:r>
              <a:rPr sz="975" b="1" i="0">
                <a:solidFill>
                  <a:srgbClr val="055A52"/>
                </a:solidFill>
                <a:latin typeface="Aptos"/>
                <a:ea typeface="Aptos"/>
                <a:cs typeface="Aptos"/>
              </a:rPr>
              <a:t>HOW FASTAPI WORKS</a:t>
            </a:r>
          </a:p>
        </p:txBody>
      </p:sp>
      <p:sp>
        <p:nvSpPr>
          <p:cNvPr id="2" name="">
            <a:extLst xmlns:a="http://schemas.openxmlformats.org/drawingml/2006/main">
              <a:ext uri="{FF2B5EF4-FFF2-40B4-BE49-F238E27FC236}">
                <a16:creationId xmlns:a16="http://schemas.microsoft.com/office/drawing/2014/main" id="{3B65243A-CC62-446F-AAB0-4FAF0B95709A}"/>
              </a:ext>
            </a:extLst>
          </p:cNvPr>
          <p:cNvSpPr>
            <a:spLocks xmlns:a="http://schemas.openxmlformats.org/drawingml/2006/main" noGrp="1"/>
          </p:cNvSpPr>
          <p:nvPr/>
        </p:nvSpPr>
        <p:spPr>
          <a:xfrm xmlns:a="http://schemas.openxmlformats.org/drawingml/2006/main">
            <a:off x="609600" y="781050"/>
            <a:ext cx="10668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850" b="1" i="0">
                <a:solidFill>
                  <a:srgbClr val="102333"/>
                </a:solidFill>
                <a:latin typeface="Aptos"/>
                <a:ea typeface="Aptos"/>
                <a:cs typeface="Aptos"/>
              </a:defRPr>
            </a:defPPr>
          </a:lstStyle>
          <a:p xmlns:a="http://schemas.openxmlformats.org/drawingml/2006/main">
            <a:pPr algn="l">
              <a:lnSpc>
                <a:spcPct val="95000"/>
              </a:lnSpc>
              <a:buNone/>
              <a:defRPr sz="2850" b="1" i="0">
                <a:solidFill>
                  <a:srgbClr val="102333"/>
                </a:solidFill>
                <a:latin typeface="Aptos"/>
                <a:ea typeface="Aptos"/>
                <a:cs typeface="Aptos"/>
              </a:defRPr>
            </a:pPr>
            <a:r>
              <a:rPr sz="2850" b="1" i="0">
                <a:solidFill>
                  <a:srgbClr val="102333"/>
                </a:solidFill>
                <a:latin typeface="Aptos"/>
                <a:ea typeface="Aptos"/>
                <a:cs typeface="Aptos"/>
              </a:rPr>
              <a:t>Five components, one clear request path</a:t>
            </a:r>
          </a:p>
        </p:txBody>
      </p:sp>
      <p:sp>
        <p:nvSpPr>
          <p:cNvPr id="3" name="">
            <a:extLst xmlns:a="http://schemas.openxmlformats.org/drawingml/2006/main">
              <a:ext uri="{FF2B5EF4-FFF2-40B4-BE49-F238E27FC236}">
                <a16:creationId xmlns:a16="http://schemas.microsoft.com/office/drawing/2014/main" id="{C601CFDF-A149-4C35-AE00-45A868B14F57}"/>
              </a:ext>
            </a:extLst>
          </p:cNvPr>
          <p:cNvSpPr>
            <a:spLocks xmlns:a="http://schemas.openxmlformats.org/drawingml/2006/main" noGrp="1"/>
          </p:cNvSpPr>
          <p:nvPr/>
        </p:nvSpPr>
        <p:spPr>
          <a:xfrm xmlns:a="http://schemas.openxmlformats.org/drawingml/2006/main">
            <a:off x="628650" y="1466850"/>
            <a:ext cx="1000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350" b="0" i="0">
                <a:solidFill>
                  <a:srgbClr val="536876"/>
                </a:solidFill>
                <a:latin typeface="Aptos"/>
                <a:ea typeface="Aptos"/>
                <a:cs typeface="Aptos"/>
              </a:defRPr>
            </a:defPPr>
          </a:lstStyle>
          <a:p xmlns:a="http://schemas.openxmlformats.org/drawingml/2006/main">
            <a:pPr algn="l">
              <a:lnSpc>
                <a:spcPct val="100000"/>
              </a:lnSpc>
              <a:buNone/>
              <a:defRPr sz="1350" b="0" i="0">
                <a:solidFill>
                  <a:srgbClr val="536876"/>
                </a:solidFill>
                <a:latin typeface="Aptos"/>
                <a:ea typeface="Aptos"/>
                <a:cs typeface="Aptos"/>
              </a:defRPr>
            </a:pPr>
            <a:r>
              <a:rPr sz="1350" b="0" i="0">
                <a:solidFill>
                  <a:srgbClr val="536876"/>
                </a:solidFill>
                <a:latin typeface="Aptos"/>
                <a:ea typeface="Aptos"/>
                <a:cs typeface="Aptos"/>
              </a:rPr>
              <a:t>Each component has one job, so the flow is easy to explain and test.</a:t>
            </a:r>
          </a:p>
        </p:txBody>
      </p:sp>
      <p:sp>
        <p:nvSpPr>
          <p:cNvPr id="4" name="">
            <a:extLst xmlns:a="http://schemas.openxmlformats.org/drawingml/2006/main">
              <a:ext uri="{FF2B5EF4-FFF2-40B4-BE49-F238E27FC236}">
                <a16:creationId xmlns:a16="http://schemas.microsoft.com/office/drawing/2014/main" id="{958561E9-65C0-470F-8BC4-2EC7F9BE24D8}"/>
              </a:ext>
            </a:extLst>
          </p:cNvPr>
          <p:cNvSpPr>
            <a:spLocks xmlns:a="http://schemas.openxmlformats.org/drawingml/2006/main" noGrp="1"/>
          </p:cNvSpPr>
          <p:nvPr/>
        </p:nvSpPr>
        <p:spPr>
          <a:xfrm xmlns:a="http://schemas.openxmlformats.org/drawingml/2006/main">
            <a:off x="609600" y="6477000"/>
            <a:ext cx="10972800" cy="14288"/>
          </a:xfrm>
          <a:prstGeom xmlns:a="http://schemas.openxmlformats.org/drawingml/2006/main" prst="rect">
            <a:avLst/>
          </a:prstGeom>
          <a:solidFill xmlns:a="http://schemas.openxmlformats.org/drawingml/2006/main">
            <a:srgbClr val="CCD9D5"/>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71C5BFB7-A46F-4663-BB0B-FD2B5C2A4DD2}"/>
              </a:ext>
            </a:extLst>
          </p:cNvPr>
          <p:cNvSpPr>
            <a:spLocks xmlns:a="http://schemas.openxmlformats.org/drawingml/2006/main" noGrp="1"/>
          </p:cNvSpPr>
          <p:nvPr/>
        </p:nvSpPr>
        <p:spPr>
          <a:xfrm xmlns:a="http://schemas.openxmlformats.org/drawingml/2006/main">
            <a:off x="609600" y="655320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825" b="1" i="0">
                <a:solidFill>
                  <a:srgbClr val="536876"/>
                </a:solidFill>
                <a:latin typeface="Aptos"/>
                <a:ea typeface="Aptos"/>
                <a:cs typeface="Aptos"/>
              </a:defRPr>
            </a:defPPr>
          </a:lstStyle>
          <a:p xmlns:a="http://schemas.openxmlformats.org/drawingml/2006/main">
            <a:pPr algn="l">
              <a:lnSpc>
                <a:spcPct val="100000"/>
              </a:lnSpc>
              <a:buNone/>
              <a:defRPr sz="825" b="1" i="0">
                <a:solidFill>
                  <a:srgbClr val="536876"/>
                </a:solidFill>
                <a:latin typeface="Aptos"/>
                <a:ea typeface="Aptos"/>
                <a:cs typeface="Aptos"/>
              </a:defRPr>
            </a:pPr>
            <a:r>
              <a:rPr sz="825" b="1" i="0">
                <a:solidFill>
                  <a:srgbClr val="536876"/>
                </a:solidFill>
                <a:latin typeface="Aptos"/>
                <a:ea typeface="Aptos"/>
                <a:cs typeface="Aptos"/>
              </a:rPr>
              <a:t>COMP10020 · FASTAPI</a:t>
            </a:r>
          </a:p>
        </p:txBody>
      </p:sp>
      <p:sp>
        <p:nvSpPr>
          <p:cNvPr id="6" name="">
            <a:extLst xmlns:a="http://schemas.openxmlformats.org/drawingml/2006/main">
              <a:ext uri="{FF2B5EF4-FFF2-40B4-BE49-F238E27FC236}">
                <a16:creationId xmlns:a16="http://schemas.microsoft.com/office/drawing/2014/main" id="{D472CB65-E670-4B2D-A551-95741D01DB21}"/>
              </a:ext>
            </a:extLst>
          </p:cNvPr>
          <p:cNvSpPr>
            <a:spLocks xmlns:a="http://schemas.openxmlformats.org/drawingml/2006/main" noGrp="1"/>
          </p:cNvSpPr>
          <p:nvPr/>
        </p:nvSpPr>
        <p:spPr>
          <a:xfrm xmlns:a="http://schemas.openxmlformats.org/drawingml/2006/main">
            <a:off x="11049000" y="6543675"/>
            <a:ext cx="533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r">
              <a:defRPr sz="825" b="1" i="0">
                <a:solidFill>
                  <a:srgbClr val="536876"/>
                </a:solidFill>
                <a:latin typeface="Aptos"/>
                <a:ea typeface="Aptos"/>
                <a:cs typeface="Aptos"/>
              </a:defRPr>
            </a:defPPr>
          </a:lstStyle>
          <a:p xmlns:a="http://schemas.openxmlformats.org/drawingml/2006/main">
            <a:pPr algn="r">
              <a:lnSpc>
                <a:spcPct val="100000"/>
              </a:lnSpc>
              <a:buNone/>
              <a:defRPr sz="825" b="1" i="0">
                <a:solidFill>
                  <a:srgbClr val="536876"/>
                </a:solidFill>
                <a:latin typeface="Aptos"/>
                <a:ea typeface="Aptos"/>
                <a:cs typeface="Aptos"/>
              </a:defRPr>
            </a:pPr>
            <a:r>
              <a:rPr sz="825" b="1" i="0">
                <a:solidFill>
                  <a:srgbClr val="536876"/>
                </a:solidFill>
                <a:latin typeface="Aptos"/>
                <a:ea typeface="Aptos"/>
                <a:cs typeface="Aptos"/>
              </a:rPr>
              <a:t>03</a:t>
            </a:r>
          </a:p>
        </p:txBody>
      </p:sp>
      <p:sp>
        <p:nvSpPr>
          <p:cNvPr id="7" name="">
            <a:extLst xmlns:a="http://schemas.openxmlformats.org/drawingml/2006/main">
              <a:ext uri="{FF2B5EF4-FFF2-40B4-BE49-F238E27FC236}">
                <a16:creationId xmlns:a16="http://schemas.microsoft.com/office/drawing/2014/main" id="{F3E294E2-C22F-4E66-83E2-EC3C561CC246}"/>
              </a:ext>
            </a:extLst>
          </p:cNvPr>
          <p:cNvSpPr>
            <a:spLocks xmlns:a="http://schemas.openxmlformats.org/drawingml/2006/main" noGrp="1"/>
          </p:cNvSpPr>
          <p:nvPr/>
        </p:nvSpPr>
        <p:spPr>
          <a:xfrm xmlns:a="http://schemas.openxmlformats.org/drawingml/2006/main">
            <a:off x="571500" y="2524125"/>
            <a:ext cx="1866900" cy="1352550"/>
          </a:xfrm>
          <a:prstGeom xmlns:a="http://schemas.openxmlformats.org/drawingml/2006/main" prst="roundRect">
            <a:avLst>
              <a:gd name="adj" fmla="val 8451"/>
            </a:avLst>
          </a:prstGeom>
          <a:solidFill xmlns:a="http://schemas.openxmlformats.org/drawingml/2006/main">
            <a:srgbClr val="FFFFFF"/>
          </a:solidFill>
          <a:ln xmlns:a="http://schemas.openxmlformats.org/drawingml/2006/main" w="9525">
            <a:solidFill>
              <a:srgbClr val="CCD9D5"/>
            </a:solidFill>
            <a:prstDash val="solid"/>
          </a:ln>
        </p:spPr>
      </p:sp>
      <p:sp>
        <p:nvSpPr>
          <p:cNvPr id="8" name="">
            <a:extLst xmlns:a="http://schemas.openxmlformats.org/drawingml/2006/main">
              <a:ext uri="{FF2B5EF4-FFF2-40B4-BE49-F238E27FC236}">
                <a16:creationId xmlns:a16="http://schemas.microsoft.com/office/drawing/2014/main" id="{8EDBE4C6-F506-4F6F-BB1D-EDA887AFE696}"/>
              </a:ext>
            </a:extLst>
          </p:cNvPr>
          <p:cNvSpPr>
            <a:spLocks xmlns:a="http://schemas.openxmlformats.org/drawingml/2006/main" noGrp="1"/>
          </p:cNvSpPr>
          <p:nvPr/>
        </p:nvSpPr>
        <p:spPr>
          <a:xfrm xmlns:a="http://schemas.openxmlformats.org/drawingml/2006/main">
            <a:off x="723900" y="2762250"/>
            <a:ext cx="1562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ctr">
              <a:defRPr sz="1125" b="1" i="0">
                <a:solidFill>
                  <a:srgbClr val="055A52"/>
                </a:solidFill>
                <a:latin typeface="Aptos"/>
                <a:ea typeface="Aptos"/>
                <a:cs typeface="Aptos"/>
              </a:defRPr>
            </a:defPPr>
          </a:lstStyle>
          <a:p xmlns:a="http://schemas.openxmlformats.org/drawingml/2006/main">
            <a:pPr algn="ctr">
              <a:lnSpc>
                <a:spcPct val="100000"/>
              </a:lnSpc>
              <a:buNone/>
              <a:defRPr sz="1125" b="1" i="0">
                <a:solidFill>
                  <a:srgbClr val="055A52"/>
                </a:solidFill>
                <a:latin typeface="Aptos"/>
                <a:ea typeface="Aptos"/>
                <a:cs typeface="Aptos"/>
              </a:defRPr>
            </a:pPr>
            <a:r>
              <a:rPr sz="1125" b="1" i="0">
                <a:solidFill>
                  <a:srgbClr val="055A52"/>
                </a:solidFill>
                <a:latin typeface="Aptos"/>
                <a:ea typeface="Aptos"/>
                <a:cs typeface="Aptos"/>
              </a:rPr>
              <a:t>CLIENT</a:t>
            </a:r>
          </a:p>
        </p:txBody>
      </p:sp>
      <p:sp>
        <p:nvSpPr>
          <p:cNvPr id="9" name="">
            <a:extLst xmlns:a="http://schemas.openxmlformats.org/drawingml/2006/main">
              <a:ext uri="{FF2B5EF4-FFF2-40B4-BE49-F238E27FC236}">
                <a16:creationId xmlns:a16="http://schemas.microsoft.com/office/drawing/2014/main" id="{973F76B8-7C23-473D-9A9C-EAC63654E28A}"/>
              </a:ext>
            </a:extLst>
          </p:cNvPr>
          <p:cNvSpPr>
            <a:spLocks xmlns:a="http://schemas.openxmlformats.org/drawingml/2006/main" noGrp="1"/>
          </p:cNvSpPr>
          <p:nvPr/>
        </p:nvSpPr>
        <p:spPr>
          <a:xfrm xmlns:a="http://schemas.openxmlformats.org/drawingml/2006/main">
            <a:off x="723900" y="3143250"/>
            <a:ext cx="1562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200" b="0" i="0">
                <a:solidFill>
                  <a:srgbClr val="102333"/>
                </a:solidFill>
                <a:latin typeface="Aptos"/>
                <a:ea typeface="Aptos"/>
                <a:cs typeface="Aptos"/>
              </a:defRPr>
            </a:defPPr>
          </a:lstStyle>
          <a:p xmlns:a="http://schemas.openxmlformats.org/drawingml/2006/main">
            <a:pPr algn="ctr">
              <a:lnSpc>
                <a:spcPct val="110000"/>
              </a:lnSpc>
              <a:buNone/>
              <a:defRPr sz="1200" b="0" i="0">
                <a:solidFill>
                  <a:srgbClr val="102333"/>
                </a:solidFill>
                <a:latin typeface="Aptos"/>
                <a:ea typeface="Aptos"/>
                <a:cs typeface="Aptos"/>
              </a:defRPr>
            </a:pPr>
            <a:r>
              <a:rPr sz="1200" b="0" i="0">
                <a:solidFill>
                  <a:srgbClr val="102333"/>
                </a:solidFill>
                <a:latin typeface="Aptos"/>
                <a:ea typeface="Aptos"/>
                <a:cs typeface="Aptos"/>
              </a:rPr>
              <a:t>Swagger UI</a:t>
            </a:r>
          </a:p>
          <a:p xmlns:a="http://schemas.openxmlformats.org/drawingml/2006/main">
            <a:pPr algn="ctr">
              <a:lnSpc>
                <a:spcPct val="110000"/>
              </a:lnSpc>
              <a:buNone/>
              <a:defRPr sz="1200" b="0" i="0">
                <a:solidFill>
                  <a:srgbClr val="102333"/>
                </a:solidFill>
                <a:latin typeface="Aptos"/>
                <a:ea typeface="Aptos"/>
                <a:cs typeface="Aptos"/>
              </a:defRPr>
            </a:pPr>
            <a:r>
              <a:rPr sz="1200" b="0" i="0">
                <a:solidFill>
                  <a:srgbClr val="102333"/>
                </a:solidFill>
                <a:latin typeface="Aptos"/>
                <a:ea typeface="Aptos"/>
                <a:cs typeface="Aptos"/>
              </a:rPr>
              <a:t>or another app</a:t>
            </a:r>
          </a:p>
        </p:txBody>
      </p:sp>
      <p:sp>
        <p:nvSpPr>
          <p:cNvPr id="10" name="">
            <a:extLst xmlns:a="http://schemas.openxmlformats.org/drawingml/2006/main">
              <a:ext uri="{FF2B5EF4-FFF2-40B4-BE49-F238E27FC236}">
                <a16:creationId xmlns:a16="http://schemas.microsoft.com/office/drawing/2014/main" id="{AD0D65CF-CD82-414D-8473-0302A4DC9A84}"/>
              </a:ext>
            </a:extLst>
          </p:cNvPr>
          <p:cNvSpPr>
            <a:spLocks xmlns:a="http://schemas.openxmlformats.org/drawingml/2006/main" noGrp="1"/>
          </p:cNvSpPr>
          <p:nvPr/>
        </p:nvSpPr>
        <p:spPr>
          <a:xfrm xmlns:a="http://schemas.openxmlformats.org/drawingml/2006/main">
            <a:off x="2495550" y="2952750"/>
            <a:ext cx="3429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ctr">
              <a:defRPr sz="2250" b="1" i="0">
                <a:solidFill>
                  <a:srgbClr val="EF765E"/>
                </a:solidFill>
                <a:latin typeface="Aptos"/>
                <a:ea typeface="Aptos"/>
                <a:cs typeface="Aptos"/>
              </a:defRPr>
            </a:defPPr>
          </a:lstStyle>
          <a:p xmlns:a="http://schemas.openxmlformats.org/drawingml/2006/main">
            <a:pPr algn="ctr">
              <a:lnSpc>
                <a:spcPct val="100000"/>
              </a:lnSpc>
              <a:buNone/>
              <a:defRPr sz="2250" b="1" i="0">
                <a:solidFill>
                  <a:srgbClr val="EF765E"/>
                </a:solidFill>
                <a:latin typeface="Aptos"/>
                <a:ea typeface="Aptos"/>
                <a:cs typeface="Aptos"/>
              </a:defRPr>
            </a:pPr>
            <a:r>
              <a:rPr sz="2250" b="1" i="0">
                <a:solidFill>
                  <a:srgbClr val="EF765E"/>
                </a:solidFill>
                <a:latin typeface="Aptos"/>
                <a:ea typeface="Aptos"/>
                <a:cs typeface="Aptos"/>
              </a:rPr>
              <a:t>→</a:t>
            </a:r>
          </a:p>
        </p:txBody>
      </p:sp>
      <p:sp>
        <p:nvSpPr>
          <p:cNvPr id="11" name="">
            <a:extLst xmlns:a="http://schemas.openxmlformats.org/drawingml/2006/main">
              <a:ext uri="{FF2B5EF4-FFF2-40B4-BE49-F238E27FC236}">
                <a16:creationId xmlns:a16="http://schemas.microsoft.com/office/drawing/2014/main" id="{931A497D-B516-45BD-B5B9-162E5E6C4CC0}"/>
              </a:ext>
            </a:extLst>
          </p:cNvPr>
          <p:cNvSpPr>
            <a:spLocks xmlns:a="http://schemas.openxmlformats.org/drawingml/2006/main" noGrp="1"/>
          </p:cNvSpPr>
          <p:nvPr/>
        </p:nvSpPr>
        <p:spPr>
          <a:xfrm xmlns:a="http://schemas.openxmlformats.org/drawingml/2006/main">
            <a:off x="2895600" y="2524125"/>
            <a:ext cx="1866900" cy="1352550"/>
          </a:xfrm>
          <a:prstGeom xmlns:a="http://schemas.openxmlformats.org/drawingml/2006/main" prst="roundRect">
            <a:avLst>
              <a:gd name="adj" fmla="val 8451"/>
            </a:avLst>
          </a:prstGeom>
          <a:solidFill xmlns:a="http://schemas.openxmlformats.org/drawingml/2006/main">
            <a:srgbClr val="FFFFFF"/>
          </a:solidFill>
          <a:ln xmlns:a="http://schemas.openxmlformats.org/drawingml/2006/main" w="9525">
            <a:solidFill>
              <a:srgbClr val="CCD9D5"/>
            </a:solidFill>
            <a:prstDash val="solid"/>
          </a:ln>
        </p:spPr>
      </p:sp>
      <p:sp>
        <p:nvSpPr>
          <p:cNvPr id="12" name="">
            <a:extLst xmlns:a="http://schemas.openxmlformats.org/drawingml/2006/main">
              <a:ext uri="{FF2B5EF4-FFF2-40B4-BE49-F238E27FC236}">
                <a16:creationId xmlns:a16="http://schemas.microsoft.com/office/drawing/2014/main" id="{0FCA00D3-6B8E-4E05-B518-2A37FB740F57}"/>
              </a:ext>
            </a:extLst>
          </p:cNvPr>
          <p:cNvSpPr>
            <a:spLocks xmlns:a="http://schemas.openxmlformats.org/drawingml/2006/main" noGrp="1"/>
          </p:cNvSpPr>
          <p:nvPr/>
        </p:nvSpPr>
        <p:spPr>
          <a:xfrm xmlns:a="http://schemas.openxmlformats.org/drawingml/2006/main">
            <a:off x="3048000" y="2762250"/>
            <a:ext cx="1562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ctr">
              <a:defRPr sz="1125" b="1" i="0">
                <a:solidFill>
                  <a:srgbClr val="055A52"/>
                </a:solidFill>
                <a:latin typeface="Aptos"/>
                <a:ea typeface="Aptos"/>
                <a:cs typeface="Aptos"/>
              </a:defRPr>
            </a:defPPr>
          </a:lstStyle>
          <a:p xmlns:a="http://schemas.openxmlformats.org/drawingml/2006/main">
            <a:pPr algn="ctr">
              <a:lnSpc>
                <a:spcPct val="100000"/>
              </a:lnSpc>
              <a:buNone/>
              <a:defRPr sz="1125" b="1" i="0">
                <a:solidFill>
                  <a:srgbClr val="055A52"/>
                </a:solidFill>
                <a:latin typeface="Aptos"/>
                <a:ea typeface="Aptos"/>
                <a:cs typeface="Aptos"/>
              </a:defRPr>
            </a:pPr>
            <a:r>
              <a:rPr sz="1125" b="1" i="0">
                <a:solidFill>
                  <a:srgbClr val="055A52"/>
                </a:solidFill>
                <a:latin typeface="Aptos"/>
                <a:ea typeface="Aptos"/>
                <a:cs typeface="Aptos"/>
              </a:rPr>
              <a:t>UVICORN</a:t>
            </a:r>
          </a:p>
        </p:txBody>
      </p:sp>
      <p:sp>
        <p:nvSpPr>
          <p:cNvPr id="13" name="">
            <a:extLst xmlns:a="http://schemas.openxmlformats.org/drawingml/2006/main">
              <a:ext uri="{FF2B5EF4-FFF2-40B4-BE49-F238E27FC236}">
                <a16:creationId xmlns:a16="http://schemas.microsoft.com/office/drawing/2014/main" id="{66144158-FD21-45AE-A008-96B8BFF464CB}"/>
              </a:ext>
            </a:extLst>
          </p:cNvPr>
          <p:cNvSpPr>
            <a:spLocks xmlns:a="http://schemas.openxmlformats.org/drawingml/2006/main" noGrp="1"/>
          </p:cNvSpPr>
          <p:nvPr/>
        </p:nvSpPr>
        <p:spPr>
          <a:xfrm xmlns:a="http://schemas.openxmlformats.org/drawingml/2006/main">
            <a:off x="3048000" y="3143250"/>
            <a:ext cx="1562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200" b="0" i="0">
                <a:solidFill>
                  <a:srgbClr val="102333"/>
                </a:solidFill>
                <a:latin typeface="Aptos"/>
                <a:ea typeface="Aptos"/>
                <a:cs typeface="Aptos"/>
              </a:defRPr>
            </a:defPPr>
          </a:lstStyle>
          <a:p xmlns:a="http://schemas.openxmlformats.org/drawingml/2006/main">
            <a:pPr algn="ctr">
              <a:lnSpc>
                <a:spcPct val="110000"/>
              </a:lnSpc>
              <a:buNone/>
              <a:defRPr sz="1200" b="0" i="0">
                <a:solidFill>
                  <a:srgbClr val="102333"/>
                </a:solidFill>
                <a:latin typeface="Aptos"/>
                <a:ea typeface="Aptos"/>
                <a:cs typeface="Aptos"/>
              </a:defRPr>
            </a:pPr>
            <a:r>
              <a:rPr sz="1200" b="0" i="0">
                <a:solidFill>
                  <a:srgbClr val="102333"/>
                </a:solidFill>
                <a:latin typeface="Aptos"/>
                <a:ea typeface="Aptos"/>
                <a:cs typeface="Aptos"/>
              </a:rPr>
              <a:t>ASGI server</a:t>
            </a:r>
          </a:p>
          <a:p xmlns:a="http://schemas.openxmlformats.org/drawingml/2006/main">
            <a:pPr algn="ctr">
              <a:lnSpc>
                <a:spcPct val="110000"/>
              </a:lnSpc>
              <a:buNone/>
              <a:defRPr sz="1200" b="0" i="0">
                <a:solidFill>
                  <a:srgbClr val="102333"/>
                </a:solidFill>
                <a:latin typeface="Aptos"/>
                <a:ea typeface="Aptos"/>
                <a:cs typeface="Aptos"/>
              </a:defRPr>
            </a:pPr>
            <a:r>
              <a:rPr sz="1200" b="0" i="0">
                <a:solidFill>
                  <a:srgbClr val="102333"/>
                </a:solidFill>
                <a:latin typeface="Aptos"/>
                <a:ea typeface="Aptos"/>
                <a:cs typeface="Aptos"/>
              </a:rPr>
              <a:t>receives HTTP</a:t>
            </a:r>
          </a:p>
        </p:txBody>
      </p:sp>
      <p:sp>
        <p:nvSpPr>
          <p:cNvPr id="14" name="">
            <a:extLst xmlns:a="http://schemas.openxmlformats.org/drawingml/2006/main">
              <a:ext uri="{FF2B5EF4-FFF2-40B4-BE49-F238E27FC236}">
                <a16:creationId xmlns:a16="http://schemas.microsoft.com/office/drawing/2014/main" id="{E49CCE58-4C17-42A2-ABFB-031E137E5B0F}"/>
              </a:ext>
            </a:extLst>
          </p:cNvPr>
          <p:cNvSpPr>
            <a:spLocks xmlns:a="http://schemas.openxmlformats.org/drawingml/2006/main" noGrp="1"/>
          </p:cNvSpPr>
          <p:nvPr/>
        </p:nvSpPr>
        <p:spPr>
          <a:xfrm xmlns:a="http://schemas.openxmlformats.org/drawingml/2006/main">
            <a:off x="4819650" y="2952750"/>
            <a:ext cx="3429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ctr">
              <a:defRPr sz="2250" b="1" i="0">
                <a:solidFill>
                  <a:srgbClr val="EF765E"/>
                </a:solidFill>
                <a:latin typeface="Aptos"/>
                <a:ea typeface="Aptos"/>
                <a:cs typeface="Aptos"/>
              </a:defRPr>
            </a:defPPr>
          </a:lstStyle>
          <a:p xmlns:a="http://schemas.openxmlformats.org/drawingml/2006/main">
            <a:pPr algn="ctr">
              <a:lnSpc>
                <a:spcPct val="100000"/>
              </a:lnSpc>
              <a:buNone/>
              <a:defRPr sz="2250" b="1" i="0">
                <a:solidFill>
                  <a:srgbClr val="EF765E"/>
                </a:solidFill>
                <a:latin typeface="Aptos"/>
                <a:ea typeface="Aptos"/>
                <a:cs typeface="Aptos"/>
              </a:defRPr>
            </a:pPr>
            <a:r>
              <a:rPr sz="2250" b="1" i="0">
                <a:solidFill>
                  <a:srgbClr val="EF765E"/>
                </a:solidFill>
                <a:latin typeface="Aptos"/>
                <a:ea typeface="Aptos"/>
                <a:cs typeface="Aptos"/>
              </a:rPr>
              <a:t>→</a:t>
            </a:r>
          </a:p>
        </p:txBody>
      </p:sp>
      <p:sp>
        <p:nvSpPr>
          <p:cNvPr id="15" name="">
            <a:extLst xmlns:a="http://schemas.openxmlformats.org/drawingml/2006/main">
              <a:ext uri="{FF2B5EF4-FFF2-40B4-BE49-F238E27FC236}">
                <a16:creationId xmlns:a16="http://schemas.microsoft.com/office/drawing/2014/main" id="{AD81F0E7-0203-4811-8D34-D39A7E716547}"/>
              </a:ext>
            </a:extLst>
          </p:cNvPr>
          <p:cNvSpPr>
            <a:spLocks xmlns:a="http://schemas.openxmlformats.org/drawingml/2006/main" noGrp="1"/>
          </p:cNvSpPr>
          <p:nvPr/>
        </p:nvSpPr>
        <p:spPr>
          <a:xfrm xmlns:a="http://schemas.openxmlformats.org/drawingml/2006/main">
            <a:off x="5219700" y="2524125"/>
            <a:ext cx="1866900" cy="1352550"/>
          </a:xfrm>
          <a:prstGeom xmlns:a="http://schemas.openxmlformats.org/drawingml/2006/main" prst="roundRect">
            <a:avLst>
              <a:gd name="adj" fmla="val 8451"/>
            </a:avLst>
          </a:prstGeom>
          <a:solidFill xmlns:a="http://schemas.openxmlformats.org/drawingml/2006/main">
            <a:srgbClr val="055A52"/>
          </a:solidFill>
          <a:ln xmlns:a="http://schemas.openxmlformats.org/drawingml/2006/main" w="9525">
            <a:solidFill>
              <a:srgbClr val="055A52"/>
            </a:solidFill>
            <a:prstDash val="solid"/>
          </a:ln>
        </p:spPr>
      </p:sp>
      <p:sp>
        <p:nvSpPr>
          <p:cNvPr id="16" name="">
            <a:extLst xmlns:a="http://schemas.openxmlformats.org/drawingml/2006/main">
              <a:ext uri="{FF2B5EF4-FFF2-40B4-BE49-F238E27FC236}">
                <a16:creationId xmlns:a16="http://schemas.microsoft.com/office/drawing/2014/main" id="{6C280BB1-0C0A-485D-A715-4A52846C2699}"/>
              </a:ext>
            </a:extLst>
          </p:cNvPr>
          <p:cNvSpPr>
            <a:spLocks xmlns:a="http://schemas.openxmlformats.org/drawingml/2006/main" noGrp="1"/>
          </p:cNvSpPr>
          <p:nvPr/>
        </p:nvSpPr>
        <p:spPr>
          <a:xfrm xmlns:a="http://schemas.openxmlformats.org/drawingml/2006/main">
            <a:off x="5372100" y="2762250"/>
            <a:ext cx="1562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ctr">
              <a:defRPr sz="1125" b="1" i="0">
                <a:solidFill>
                  <a:srgbClr val="8DE2BD"/>
                </a:solidFill>
                <a:latin typeface="Aptos"/>
                <a:ea typeface="Aptos"/>
                <a:cs typeface="Aptos"/>
              </a:defRPr>
            </a:defPPr>
          </a:lstStyle>
          <a:p xmlns:a="http://schemas.openxmlformats.org/drawingml/2006/main">
            <a:pPr algn="ctr">
              <a:lnSpc>
                <a:spcPct val="100000"/>
              </a:lnSpc>
              <a:buNone/>
              <a:defRPr sz="1125" b="1" i="0">
                <a:solidFill>
                  <a:srgbClr val="8DE2BD"/>
                </a:solidFill>
                <a:latin typeface="Aptos"/>
                <a:ea typeface="Aptos"/>
                <a:cs typeface="Aptos"/>
              </a:defRPr>
            </a:pPr>
            <a:r>
              <a:rPr sz="1125" b="1" i="0">
                <a:solidFill>
                  <a:srgbClr val="8DE2BD"/>
                </a:solidFill>
                <a:latin typeface="Aptos"/>
                <a:ea typeface="Aptos"/>
                <a:cs typeface="Aptos"/>
              </a:rPr>
              <a:t>FASTAPI</a:t>
            </a:r>
          </a:p>
        </p:txBody>
      </p:sp>
      <p:sp>
        <p:nvSpPr>
          <p:cNvPr id="17" name="">
            <a:extLst xmlns:a="http://schemas.openxmlformats.org/drawingml/2006/main">
              <a:ext uri="{FF2B5EF4-FFF2-40B4-BE49-F238E27FC236}">
                <a16:creationId xmlns:a16="http://schemas.microsoft.com/office/drawing/2014/main" id="{670BDA0F-B310-441D-8CAF-9A6C6A9AFCE5}"/>
              </a:ext>
            </a:extLst>
          </p:cNvPr>
          <p:cNvSpPr>
            <a:spLocks xmlns:a="http://schemas.openxmlformats.org/drawingml/2006/main" noGrp="1"/>
          </p:cNvSpPr>
          <p:nvPr/>
        </p:nvSpPr>
        <p:spPr>
          <a:xfrm xmlns:a="http://schemas.openxmlformats.org/drawingml/2006/main">
            <a:off x="5372100" y="3143250"/>
            <a:ext cx="1562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200" b="0" i="0">
                <a:solidFill>
                  <a:srgbClr val="FFFFFF"/>
                </a:solidFill>
                <a:latin typeface="Aptos"/>
                <a:ea typeface="Aptos"/>
                <a:cs typeface="Aptos"/>
              </a:defRPr>
            </a:defPPr>
          </a:lstStyle>
          <a:p xmlns:a="http://schemas.openxmlformats.org/drawingml/2006/main">
            <a:pPr algn="ctr">
              <a:lnSpc>
                <a:spcPct val="110000"/>
              </a:lnSpc>
              <a:buNone/>
              <a:defRPr sz="1200" b="0" i="0">
                <a:solidFill>
                  <a:srgbClr val="FFFFFF"/>
                </a:solidFill>
                <a:latin typeface="Aptos"/>
                <a:ea typeface="Aptos"/>
                <a:cs typeface="Aptos"/>
              </a:defRPr>
            </a:pPr>
            <a:r>
              <a:rPr sz="1200" b="0" i="0">
                <a:solidFill>
                  <a:srgbClr val="FFFFFF"/>
                </a:solidFill>
                <a:latin typeface="Aptos"/>
                <a:ea typeface="Aptos"/>
                <a:cs typeface="Aptos"/>
              </a:rPr>
              <a:t>Route matches</a:t>
            </a:r>
          </a:p>
          <a:p xmlns:a="http://schemas.openxmlformats.org/drawingml/2006/main">
            <a:pPr algn="ctr">
              <a:lnSpc>
                <a:spcPct val="110000"/>
              </a:lnSpc>
              <a:buNone/>
              <a:defRPr sz="1200" b="0" i="0">
                <a:solidFill>
                  <a:srgbClr val="FFFFFF"/>
                </a:solidFill>
                <a:latin typeface="Aptos"/>
                <a:ea typeface="Aptos"/>
                <a:cs typeface="Aptos"/>
              </a:defRPr>
            </a:pPr>
            <a:r>
              <a:rPr sz="1200" b="0" i="0">
                <a:solidFill>
                  <a:srgbClr val="FFFFFF"/>
                </a:solidFill>
                <a:latin typeface="Aptos"/>
                <a:ea typeface="Aptos"/>
                <a:cs typeface="Aptos"/>
              </a:rPr>
              <a:t>method + path</a:t>
            </a:r>
          </a:p>
        </p:txBody>
      </p:sp>
      <p:sp>
        <p:nvSpPr>
          <p:cNvPr id="18" name="">
            <a:extLst xmlns:a="http://schemas.openxmlformats.org/drawingml/2006/main">
              <a:ext uri="{FF2B5EF4-FFF2-40B4-BE49-F238E27FC236}">
                <a16:creationId xmlns:a16="http://schemas.microsoft.com/office/drawing/2014/main" id="{35ECE979-2C96-4653-B380-78136B7341E9}"/>
              </a:ext>
            </a:extLst>
          </p:cNvPr>
          <p:cNvSpPr>
            <a:spLocks xmlns:a="http://schemas.openxmlformats.org/drawingml/2006/main" noGrp="1"/>
          </p:cNvSpPr>
          <p:nvPr/>
        </p:nvSpPr>
        <p:spPr>
          <a:xfrm xmlns:a="http://schemas.openxmlformats.org/drawingml/2006/main">
            <a:off x="7143750" y="2952750"/>
            <a:ext cx="3429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ctr">
              <a:defRPr sz="2250" b="1" i="0">
                <a:solidFill>
                  <a:srgbClr val="EF765E"/>
                </a:solidFill>
                <a:latin typeface="Aptos"/>
                <a:ea typeface="Aptos"/>
                <a:cs typeface="Aptos"/>
              </a:defRPr>
            </a:defPPr>
          </a:lstStyle>
          <a:p xmlns:a="http://schemas.openxmlformats.org/drawingml/2006/main">
            <a:pPr algn="ctr">
              <a:lnSpc>
                <a:spcPct val="100000"/>
              </a:lnSpc>
              <a:buNone/>
              <a:defRPr sz="2250" b="1" i="0">
                <a:solidFill>
                  <a:srgbClr val="EF765E"/>
                </a:solidFill>
                <a:latin typeface="Aptos"/>
                <a:ea typeface="Aptos"/>
                <a:cs typeface="Aptos"/>
              </a:defRPr>
            </a:pPr>
            <a:r>
              <a:rPr sz="2250" b="1" i="0">
                <a:solidFill>
                  <a:srgbClr val="EF765E"/>
                </a:solidFill>
                <a:latin typeface="Aptos"/>
                <a:ea typeface="Aptos"/>
                <a:cs typeface="Aptos"/>
              </a:rPr>
              <a:t>→</a:t>
            </a:r>
          </a:p>
        </p:txBody>
      </p:sp>
      <p:sp>
        <p:nvSpPr>
          <p:cNvPr id="19" name="">
            <a:extLst xmlns:a="http://schemas.openxmlformats.org/drawingml/2006/main">
              <a:ext uri="{FF2B5EF4-FFF2-40B4-BE49-F238E27FC236}">
                <a16:creationId xmlns:a16="http://schemas.microsoft.com/office/drawing/2014/main" id="{EB9620BA-6E69-4187-9576-3E256905E15D}"/>
              </a:ext>
            </a:extLst>
          </p:cNvPr>
          <p:cNvSpPr>
            <a:spLocks xmlns:a="http://schemas.openxmlformats.org/drawingml/2006/main" noGrp="1"/>
          </p:cNvSpPr>
          <p:nvPr/>
        </p:nvSpPr>
        <p:spPr>
          <a:xfrm xmlns:a="http://schemas.openxmlformats.org/drawingml/2006/main">
            <a:off x="7543800" y="2524125"/>
            <a:ext cx="1866900" cy="1352550"/>
          </a:xfrm>
          <a:prstGeom xmlns:a="http://schemas.openxmlformats.org/drawingml/2006/main" prst="roundRect">
            <a:avLst>
              <a:gd name="adj" fmla="val 8451"/>
            </a:avLst>
          </a:prstGeom>
          <a:solidFill xmlns:a="http://schemas.openxmlformats.org/drawingml/2006/main">
            <a:srgbClr val="FFFFFF"/>
          </a:solidFill>
          <a:ln xmlns:a="http://schemas.openxmlformats.org/drawingml/2006/main" w="9525">
            <a:solidFill>
              <a:srgbClr val="CCD9D5"/>
            </a:solidFill>
            <a:prstDash val="solid"/>
          </a:ln>
        </p:spPr>
      </p:sp>
      <p:sp>
        <p:nvSpPr>
          <p:cNvPr id="20" name="">
            <a:extLst xmlns:a="http://schemas.openxmlformats.org/drawingml/2006/main">
              <a:ext uri="{FF2B5EF4-FFF2-40B4-BE49-F238E27FC236}">
                <a16:creationId xmlns:a16="http://schemas.microsoft.com/office/drawing/2014/main" id="{B05150C2-38FA-42BA-812A-3B3895990398}"/>
              </a:ext>
            </a:extLst>
          </p:cNvPr>
          <p:cNvSpPr>
            <a:spLocks xmlns:a="http://schemas.openxmlformats.org/drawingml/2006/main" noGrp="1"/>
          </p:cNvSpPr>
          <p:nvPr/>
        </p:nvSpPr>
        <p:spPr>
          <a:xfrm xmlns:a="http://schemas.openxmlformats.org/drawingml/2006/main">
            <a:off x="7696200" y="2762250"/>
            <a:ext cx="1562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ctr">
              <a:defRPr sz="1125" b="1" i="0">
                <a:solidFill>
                  <a:srgbClr val="055A52"/>
                </a:solidFill>
                <a:latin typeface="Aptos"/>
                <a:ea typeface="Aptos"/>
                <a:cs typeface="Aptos"/>
              </a:defRPr>
            </a:defPPr>
          </a:lstStyle>
          <a:p xmlns:a="http://schemas.openxmlformats.org/drawingml/2006/main">
            <a:pPr algn="ctr">
              <a:lnSpc>
                <a:spcPct val="100000"/>
              </a:lnSpc>
              <a:buNone/>
              <a:defRPr sz="1125" b="1" i="0">
                <a:solidFill>
                  <a:srgbClr val="055A52"/>
                </a:solidFill>
                <a:latin typeface="Aptos"/>
                <a:ea typeface="Aptos"/>
                <a:cs typeface="Aptos"/>
              </a:defRPr>
            </a:pPr>
            <a:r>
              <a:rPr sz="1125" b="1" i="0">
                <a:solidFill>
                  <a:srgbClr val="055A52"/>
                </a:solidFill>
                <a:latin typeface="Aptos"/>
                <a:ea typeface="Aptos"/>
                <a:cs typeface="Aptos"/>
              </a:rPr>
              <a:t>PYDANTIC</a:t>
            </a:r>
          </a:p>
        </p:txBody>
      </p:sp>
      <p:sp>
        <p:nvSpPr>
          <p:cNvPr id="21" name="">
            <a:extLst xmlns:a="http://schemas.openxmlformats.org/drawingml/2006/main">
              <a:ext uri="{FF2B5EF4-FFF2-40B4-BE49-F238E27FC236}">
                <a16:creationId xmlns:a16="http://schemas.microsoft.com/office/drawing/2014/main" id="{DC7AC5BA-8656-4916-9F9C-5D94891AAF49}"/>
              </a:ext>
            </a:extLst>
          </p:cNvPr>
          <p:cNvSpPr>
            <a:spLocks xmlns:a="http://schemas.openxmlformats.org/drawingml/2006/main" noGrp="1"/>
          </p:cNvSpPr>
          <p:nvPr/>
        </p:nvSpPr>
        <p:spPr>
          <a:xfrm xmlns:a="http://schemas.openxmlformats.org/drawingml/2006/main">
            <a:off x="7696200" y="3143250"/>
            <a:ext cx="1562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200" b="0" i="0">
                <a:solidFill>
                  <a:srgbClr val="102333"/>
                </a:solidFill>
                <a:latin typeface="Aptos"/>
                <a:ea typeface="Aptos"/>
                <a:cs typeface="Aptos"/>
              </a:defRPr>
            </a:defPPr>
          </a:lstStyle>
          <a:p xmlns:a="http://schemas.openxmlformats.org/drawingml/2006/main">
            <a:pPr algn="ctr">
              <a:lnSpc>
                <a:spcPct val="110000"/>
              </a:lnSpc>
              <a:buNone/>
              <a:defRPr sz="1200" b="0" i="0">
                <a:solidFill>
                  <a:srgbClr val="102333"/>
                </a:solidFill>
                <a:latin typeface="Aptos"/>
                <a:ea typeface="Aptos"/>
                <a:cs typeface="Aptos"/>
              </a:defRPr>
            </a:pPr>
            <a:r>
              <a:rPr sz="1200" b="0" i="0">
                <a:solidFill>
                  <a:srgbClr val="102333"/>
                </a:solidFill>
                <a:latin typeface="Aptos"/>
                <a:ea typeface="Aptos"/>
                <a:cs typeface="Aptos"/>
              </a:rPr>
              <a:t>Types validate</a:t>
            </a:r>
          </a:p>
          <a:p xmlns:a="http://schemas.openxmlformats.org/drawingml/2006/main">
            <a:pPr algn="ctr">
              <a:lnSpc>
                <a:spcPct val="110000"/>
              </a:lnSpc>
              <a:buNone/>
              <a:defRPr sz="1200" b="0" i="0">
                <a:solidFill>
                  <a:srgbClr val="102333"/>
                </a:solidFill>
                <a:latin typeface="Aptos"/>
                <a:ea typeface="Aptos"/>
                <a:cs typeface="Aptos"/>
              </a:defRPr>
            </a:pPr>
            <a:r>
              <a:rPr sz="1200" b="0" i="0">
                <a:solidFill>
                  <a:srgbClr val="102333"/>
                </a:solidFill>
                <a:latin typeface="Aptos"/>
                <a:ea typeface="Aptos"/>
                <a:cs typeface="Aptos"/>
              </a:rPr>
              <a:t>request data</a:t>
            </a:r>
          </a:p>
        </p:txBody>
      </p:sp>
      <p:sp>
        <p:nvSpPr>
          <p:cNvPr id="22" name="">
            <a:extLst xmlns:a="http://schemas.openxmlformats.org/drawingml/2006/main">
              <a:ext uri="{FF2B5EF4-FFF2-40B4-BE49-F238E27FC236}">
                <a16:creationId xmlns:a16="http://schemas.microsoft.com/office/drawing/2014/main" id="{3272A7B3-ABD1-4911-8316-0929EB47092B}"/>
              </a:ext>
            </a:extLst>
          </p:cNvPr>
          <p:cNvSpPr>
            <a:spLocks xmlns:a="http://schemas.openxmlformats.org/drawingml/2006/main" noGrp="1"/>
          </p:cNvSpPr>
          <p:nvPr/>
        </p:nvSpPr>
        <p:spPr>
          <a:xfrm xmlns:a="http://schemas.openxmlformats.org/drawingml/2006/main">
            <a:off x="9467850" y="2952750"/>
            <a:ext cx="3429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ctr">
              <a:defRPr sz="2250" b="1" i="0">
                <a:solidFill>
                  <a:srgbClr val="EF765E"/>
                </a:solidFill>
                <a:latin typeface="Aptos"/>
                <a:ea typeface="Aptos"/>
                <a:cs typeface="Aptos"/>
              </a:defRPr>
            </a:defPPr>
          </a:lstStyle>
          <a:p xmlns:a="http://schemas.openxmlformats.org/drawingml/2006/main">
            <a:pPr algn="ctr">
              <a:lnSpc>
                <a:spcPct val="100000"/>
              </a:lnSpc>
              <a:buNone/>
              <a:defRPr sz="2250" b="1" i="0">
                <a:solidFill>
                  <a:srgbClr val="EF765E"/>
                </a:solidFill>
                <a:latin typeface="Aptos"/>
                <a:ea typeface="Aptos"/>
                <a:cs typeface="Aptos"/>
              </a:defRPr>
            </a:pPr>
            <a:r>
              <a:rPr sz="2250" b="1" i="0">
                <a:solidFill>
                  <a:srgbClr val="EF765E"/>
                </a:solidFill>
                <a:latin typeface="Aptos"/>
                <a:ea typeface="Aptos"/>
                <a:cs typeface="Aptos"/>
              </a:rPr>
              <a:t>→</a:t>
            </a:r>
          </a:p>
        </p:txBody>
      </p:sp>
      <p:sp>
        <p:nvSpPr>
          <p:cNvPr id="23" name="">
            <a:extLst xmlns:a="http://schemas.openxmlformats.org/drawingml/2006/main">
              <a:ext uri="{FF2B5EF4-FFF2-40B4-BE49-F238E27FC236}">
                <a16:creationId xmlns:a16="http://schemas.microsoft.com/office/drawing/2014/main" id="{102AF0F4-B3E3-49A6-8282-ACBD971596DE}"/>
              </a:ext>
            </a:extLst>
          </p:cNvPr>
          <p:cNvSpPr>
            <a:spLocks xmlns:a="http://schemas.openxmlformats.org/drawingml/2006/main" noGrp="1"/>
          </p:cNvSpPr>
          <p:nvPr/>
        </p:nvSpPr>
        <p:spPr>
          <a:xfrm xmlns:a="http://schemas.openxmlformats.org/drawingml/2006/main">
            <a:off x="9867900" y="2524125"/>
            <a:ext cx="1866900" cy="1352550"/>
          </a:xfrm>
          <a:prstGeom xmlns:a="http://schemas.openxmlformats.org/drawingml/2006/main" prst="roundRect">
            <a:avLst>
              <a:gd name="adj" fmla="val 8451"/>
            </a:avLst>
          </a:prstGeom>
          <a:solidFill xmlns:a="http://schemas.openxmlformats.org/drawingml/2006/main">
            <a:srgbClr val="FFFFFF"/>
          </a:solidFill>
          <a:ln xmlns:a="http://schemas.openxmlformats.org/drawingml/2006/main" w="9525">
            <a:solidFill>
              <a:srgbClr val="CCD9D5"/>
            </a:solidFill>
            <a:prstDash val="solid"/>
          </a:ln>
        </p:spPr>
      </p:sp>
      <p:sp>
        <p:nvSpPr>
          <p:cNvPr id="24" name="">
            <a:extLst xmlns:a="http://schemas.openxmlformats.org/drawingml/2006/main">
              <a:ext uri="{FF2B5EF4-FFF2-40B4-BE49-F238E27FC236}">
                <a16:creationId xmlns:a16="http://schemas.microsoft.com/office/drawing/2014/main" id="{3507CE1C-84B0-49AC-BC88-71775EDD1F25}"/>
              </a:ext>
            </a:extLst>
          </p:cNvPr>
          <p:cNvSpPr>
            <a:spLocks xmlns:a="http://schemas.openxmlformats.org/drawingml/2006/main" noGrp="1"/>
          </p:cNvSpPr>
          <p:nvPr/>
        </p:nvSpPr>
        <p:spPr>
          <a:xfrm xmlns:a="http://schemas.openxmlformats.org/drawingml/2006/main">
            <a:off x="10020300" y="2762250"/>
            <a:ext cx="1562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ctr">
              <a:defRPr sz="1125" b="1" i="0">
                <a:solidFill>
                  <a:srgbClr val="055A52"/>
                </a:solidFill>
                <a:latin typeface="Aptos"/>
                <a:ea typeface="Aptos"/>
                <a:cs typeface="Aptos"/>
              </a:defRPr>
            </a:defPPr>
          </a:lstStyle>
          <a:p xmlns:a="http://schemas.openxmlformats.org/drawingml/2006/main">
            <a:pPr algn="ctr">
              <a:lnSpc>
                <a:spcPct val="100000"/>
              </a:lnSpc>
              <a:buNone/>
              <a:defRPr sz="1125" b="1" i="0">
                <a:solidFill>
                  <a:srgbClr val="055A52"/>
                </a:solidFill>
                <a:latin typeface="Aptos"/>
                <a:ea typeface="Aptos"/>
                <a:cs typeface="Aptos"/>
              </a:defRPr>
            </a:pPr>
            <a:r>
              <a:rPr sz="1125" b="1" i="0">
                <a:solidFill>
                  <a:srgbClr val="055A52"/>
                </a:solidFill>
                <a:latin typeface="Aptos"/>
                <a:ea typeface="Aptos"/>
                <a:cs typeface="Aptos"/>
              </a:rPr>
              <a:t>REPOSITORY</a:t>
            </a:r>
          </a:p>
        </p:txBody>
      </p:sp>
      <p:sp>
        <p:nvSpPr>
          <p:cNvPr id="25" name="">
            <a:extLst xmlns:a="http://schemas.openxmlformats.org/drawingml/2006/main">
              <a:ext uri="{FF2B5EF4-FFF2-40B4-BE49-F238E27FC236}">
                <a16:creationId xmlns:a16="http://schemas.microsoft.com/office/drawing/2014/main" id="{FF9138C7-A255-4284-A8BA-880F0F6B1C20}"/>
              </a:ext>
            </a:extLst>
          </p:cNvPr>
          <p:cNvSpPr>
            <a:spLocks xmlns:a="http://schemas.openxmlformats.org/drawingml/2006/main" noGrp="1"/>
          </p:cNvSpPr>
          <p:nvPr/>
        </p:nvSpPr>
        <p:spPr>
          <a:xfrm xmlns:a="http://schemas.openxmlformats.org/drawingml/2006/main">
            <a:off x="10020300" y="3143250"/>
            <a:ext cx="1562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200" b="0" i="0">
                <a:solidFill>
                  <a:srgbClr val="102333"/>
                </a:solidFill>
                <a:latin typeface="Aptos"/>
                <a:ea typeface="Aptos"/>
                <a:cs typeface="Aptos"/>
              </a:defRPr>
            </a:defPPr>
          </a:lstStyle>
          <a:p xmlns:a="http://schemas.openxmlformats.org/drawingml/2006/main">
            <a:pPr algn="ctr">
              <a:lnSpc>
                <a:spcPct val="110000"/>
              </a:lnSpc>
              <a:buNone/>
              <a:defRPr sz="1200" b="0" i="0">
                <a:solidFill>
                  <a:srgbClr val="102333"/>
                </a:solidFill>
                <a:latin typeface="Aptos"/>
                <a:ea typeface="Aptos"/>
                <a:cs typeface="Aptos"/>
              </a:defRPr>
            </a:pPr>
            <a:r>
              <a:rPr sz="1200" b="0" i="0">
                <a:solidFill>
                  <a:srgbClr val="102333"/>
                </a:solidFill>
                <a:latin typeface="Aptos"/>
                <a:ea typeface="Aptos"/>
                <a:cs typeface="Aptos"/>
              </a:rPr>
              <a:t>Reads or changes</a:t>
            </a:r>
          </a:p>
          <a:p xmlns:a="http://schemas.openxmlformats.org/drawingml/2006/main">
            <a:pPr algn="ctr">
              <a:lnSpc>
                <a:spcPct val="110000"/>
              </a:lnSpc>
              <a:buNone/>
              <a:defRPr sz="1200" b="0" i="0">
                <a:solidFill>
                  <a:srgbClr val="102333"/>
                </a:solidFill>
                <a:latin typeface="Aptos"/>
                <a:ea typeface="Aptos"/>
                <a:cs typeface="Aptos"/>
              </a:defRPr>
            </a:pPr>
            <a:r>
              <a:rPr sz="1200" b="0" i="0">
                <a:solidFill>
                  <a:srgbClr val="102333"/>
                </a:solidFill>
                <a:latin typeface="Aptos"/>
                <a:ea typeface="Aptos"/>
                <a:cs typeface="Aptos"/>
              </a:rPr>
              <a:t>task data</a:t>
            </a:r>
          </a:p>
        </p:txBody>
      </p:sp>
      <p:sp>
        <p:nvSpPr>
          <p:cNvPr id="26" name="">
            <a:extLst xmlns:a="http://schemas.openxmlformats.org/drawingml/2006/main">
              <a:ext uri="{FF2B5EF4-FFF2-40B4-BE49-F238E27FC236}">
                <a16:creationId xmlns:a16="http://schemas.microsoft.com/office/drawing/2014/main" id="{285D8837-B89E-49FC-8AB2-CF1A03BEC1A1}"/>
              </a:ext>
            </a:extLst>
          </p:cNvPr>
          <p:cNvSpPr>
            <a:spLocks xmlns:a="http://schemas.openxmlformats.org/drawingml/2006/main" noGrp="1"/>
          </p:cNvSpPr>
          <p:nvPr/>
        </p:nvSpPr>
        <p:spPr>
          <a:xfrm xmlns:a="http://schemas.openxmlformats.org/drawingml/2006/main">
            <a:off x="3124200" y="4591050"/>
            <a:ext cx="5943600" cy="857250"/>
          </a:xfrm>
          <a:prstGeom xmlns:a="http://schemas.openxmlformats.org/drawingml/2006/main" prst="roundRect">
            <a:avLst>
              <a:gd name="adj" fmla="val 13333"/>
            </a:avLst>
          </a:prstGeom>
          <a:solidFill xmlns:a="http://schemas.openxmlformats.org/drawingml/2006/main">
            <a:srgbClr val="FFF1EC"/>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E504AE63-CBD8-41F6-9B96-47C7D9807C02}"/>
              </a:ext>
            </a:extLst>
          </p:cNvPr>
          <p:cNvSpPr>
            <a:spLocks xmlns:a="http://schemas.openxmlformats.org/drawingml/2006/main" noGrp="1"/>
          </p:cNvSpPr>
          <p:nvPr/>
        </p:nvSpPr>
        <p:spPr>
          <a:xfrm xmlns:a="http://schemas.openxmlformats.org/drawingml/2006/main">
            <a:off x="3371850" y="4819650"/>
            <a:ext cx="14668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050" b="1" i="0">
                <a:solidFill>
                  <a:srgbClr val="EF765E"/>
                </a:solidFill>
                <a:latin typeface="Aptos"/>
                <a:ea typeface="Aptos"/>
                <a:cs typeface="Aptos"/>
              </a:defRPr>
            </a:defPPr>
          </a:lstStyle>
          <a:p xmlns:a="http://schemas.openxmlformats.org/drawingml/2006/main">
            <a:pPr algn="l">
              <a:lnSpc>
                <a:spcPct val="100000"/>
              </a:lnSpc>
              <a:buNone/>
              <a:defRPr sz="1050" b="1" i="0">
                <a:solidFill>
                  <a:srgbClr val="EF765E"/>
                </a:solidFill>
                <a:latin typeface="Aptos"/>
                <a:ea typeface="Aptos"/>
                <a:cs typeface="Aptos"/>
              </a:defRPr>
            </a:pPr>
            <a:r>
              <a:rPr sz="1050" b="1" i="0">
                <a:solidFill>
                  <a:srgbClr val="EF765E"/>
                </a:solidFill>
                <a:latin typeface="Aptos"/>
                <a:ea typeface="Aptos"/>
                <a:cs typeface="Aptos"/>
              </a:rPr>
              <a:t>JSON RESPONSE</a:t>
            </a:r>
          </a:p>
        </p:txBody>
      </p:sp>
      <p:sp>
        <p:nvSpPr>
          <p:cNvPr id="28" name="">
            <a:extLst xmlns:a="http://schemas.openxmlformats.org/drawingml/2006/main">
              <a:ext uri="{FF2B5EF4-FFF2-40B4-BE49-F238E27FC236}">
                <a16:creationId xmlns:a16="http://schemas.microsoft.com/office/drawing/2014/main" id="{D4F658D6-AFE6-4C34-AD7C-C5C111D7154C}"/>
              </a:ext>
            </a:extLst>
          </p:cNvPr>
          <p:cNvSpPr>
            <a:spLocks xmlns:a="http://schemas.openxmlformats.org/drawingml/2006/main" noGrp="1"/>
          </p:cNvSpPr>
          <p:nvPr/>
        </p:nvSpPr>
        <p:spPr>
          <a:xfrm xmlns:a="http://schemas.openxmlformats.org/drawingml/2006/main">
            <a:off x="4953000" y="4762500"/>
            <a:ext cx="3790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97222"/>
          </a:bodyPr>
          <a:lstStyle xmlns:a="http://schemas.openxmlformats.org/drawingml/2006/main">
            <a:defPPr algn="l">
              <a:defRPr sz="1350" b="1" i="0">
                <a:solidFill>
                  <a:srgbClr val="102333"/>
                </a:solidFill>
                <a:latin typeface="Aptos"/>
                <a:ea typeface="Aptos"/>
                <a:cs typeface="Aptos"/>
              </a:defRPr>
            </a:defPPr>
          </a:lstStyle>
          <a:p xmlns:a="http://schemas.openxmlformats.org/drawingml/2006/main">
            <a:pPr algn="l">
              <a:lnSpc>
                <a:spcPct val="100000"/>
              </a:lnSpc>
              <a:buNone/>
              <a:defRPr sz="1350" b="1" i="0">
                <a:solidFill>
                  <a:srgbClr val="102333"/>
                </a:solidFill>
                <a:latin typeface="Aptos"/>
                <a:ea typeface="Aptos"/>
                <a:cs typeface="Aptos"/>
              </a:defRPr>
            </a:pPr>
            <a:r>
              <a:rPr sz="1350" b="1" i="0">
                <a:solidFill>
                  <a:srgbClr val="102333"/>
                </a:solidFill>
                <a:latin typeface="Aptos"/>
                <a:ea typeface="Aptos"/>
                <a:cs typeface="Aptos"/>
              </a:rPr>
              <a:t>FastAPI serialises the result and returns a clear HTTP status.</a:t>
            </a:r>
          </a:p>
        </p:txBody>
      </p:sp>
    </p:spTree>
    <p:extLst>
      <p:ext uri="{BB962C8B-B14F-4D97-AF65-F5344CB8AC3E}">
        <p14:creationId xmlns:p14="http://schemas.microsoft.com/office/powerpoint/2010/main" val="822344190"/>
      </p:ext>
    </p:extLst>
  </p:cSld>
</p:sld>
</file>

<file path=ppt/slides/slide4.xml><?xml version="1.0" encoding="utf-8"?>
<p:sld xmlns:p="http://schemas.openxmlformats.org/presentationml/2006/main">
  <p:cSld>
    <p:bg>
      <p:bgPr>
        <a:solidFill xmlns:a="http://schemas.openxmlformats.org/drawingml/2006/main">
          <a:srgbClr val="FFFDF8"/>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62381149-E19F-4B1D-9CE1-8DC616A7D841}"/>
              </a:ext>
            </a:extLst>
          </p:cNvPr>
          <p:cNvSpPr>
            <a:spLocks xmlns:a="http://schemas.openxmlformats.org/drawingml/2006/main" noGrp="1"/>
          </p:cNvSpPr>
          <p:nvPr/>
        </p:nvSpPr>
        <p:spPr>
          <a:xfrm xmlns:a="http://schemas.openxmlformats.org/drawingml/2006/main">
            <a:off x="609600" y="45720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75" b="1" i="0">
                <a:solidFill>
                  <a:srgbClr val="055A52"/>
                </a:solidFill>
                <a:latin typeface="Aptos"/>
                <a:ea typeface="Aptos"/>
                <a:cs typeface="Aptos"/>
              </a:defRPr>
            </a:defPPr>
          </a:lstStyle>
          <a:p xmlns:a="http://schemas.openxmlformats.org/drawingml/2006/main">
            <a:pPr algn="l">
              <a:lnSpc>
                <a:spcPct val="100000"/>
              </a:lnSpc>
              <a:buNone/>
              <a:defRPr sz="975" b="1" i="0">
                <a:solidFill>
                  <a:srgbClr val="055A52"/>
                </a:solidFill>
                <a:latin typeface="Aptos"/>
                <a:ea typeface="Aptos"/>
                <a:cs typeface="Aptos"/>
              </a:defRPr>
            </a:pPr>
            <a:r>
              <a:rPr sz="975" b="1" i="0">
                <a:solidFill>
                  <a:srgbClr val="055A52"/>
                </a:solidFill>
                <a:latin typeface="Aptos"/>
                <a:ea typeface="Aptos"/>
                <a:cs typeface="Aptos"/>
              </a:rPr>
              <a:t>APPLICATION SCENARIO</a:t>
            </a:r>
          </a:p>
        </p:txBody>
      </p:sp>
      <p:sp>
        <p:nvSpPr>
          <p:cNvPr id="2" name="">
            <a:extLst xmlns:a="http://schemas.openxmlformats.org/drawingml/2006/main">
              <a:ext uri="{FF2B5EF4-FFF2-40B4-BE49-F238E27FC236}">
                <a16:creationId xmlns:a16="http://schemas.microsoft.com/office/drawing/2014/main" id="{4DE1614F-2CCA-4ADD-B50D-D53DFCA38F4F}"/>
              </a:ext>
            </a:extLst>
          </p:cNvPr>
          <p:cNvSpPr>
            <a:spLocks xmlns:a="http://schemas.openxmlformats.org/drawingml/2006/main" noGrp="1"/>
          </p:cNvSpPr>
          <p:nvPr/>
        </p:nvSpPr>
        <p:spPr>
          <a:xfrm xmlns:a="http://schemas.openxmlformats.org/drawingml/2006/main">
            <a:off x="609600" y="781050"/>
            <a:ext cx="10668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850" b="1" i="0">
                <a:solidFill>
                  <a:srgbClr val="102333"/>
                </a:solidFill>
                <a:latin typeface="Aptos"/>
                <a:ea typeface="Aptos"/>
                <a:cs typeface="Aptos"/>
              </a:defRPr>
            </a:defPPr>
          </a:lstStyle>
          <a:p xmlns:a="http://schemas.openxmlformats.org/drawingml/2006/main">
            <a:pPr algn="l">
              <a:lnSpc>
                <a:spcPct val="95000"/>
              </a:lnSpc>
              <a:buNone/>
              <a:defRPr sz="2850" b="1" i="0">
                <a:solidFill>
                  <a:srgbClr val="102333"/>
                </a:solidFill>
                <a:latin typeface="Aptos"/>
                <a:ea typeface="Aptos"/>
                <a:cs typeface="Aptos"/>
              </a:defRPr>
            </a:pPr>
            <a:r>
              <a:rPr sz="2850" b="1" i="0">
                <a:solidFill>
                  <a:srgbClr val="102333"/>
                </a:solidFill>
                <a:latin typeface="Aptos"/>
                <a:ea typeface="Aptos"/>
                <a:cs typeface="Aptos"/>
              </a:rPr>
              <a:t>A task tracker for presentation work</a:t>
            </a:r>
          </a:p>
        </p:txBody>
      </p:sp>
      <p:sp>
        <p:nvSpPr>
          <p:cNvPr id="3" name="">
            <a:extLst xmlns:a="http://schemas.openxmlformats.org/drawingml/2006/main">
              <a:ext uri="{FF2B5EF4-FFF2-40B4-BE49-F238E27FC236}">
                <a16:creationId xmlns:a16="http://schemas.microsoft.com/office/drawing/2014/main" id="{3EC527D1-9E91-4144-9B78-1F03857BB89E}"/>
              </a:ext>
            </a:extLst>
          </p:cNvPr>
          <p:cNvSpPr>
            <a:spLocks xmlns:a="http://schemas.openxmlformats.org/drawingml/2006/main" noGrp="1"/>
          </p:cNvSpPr>
          <p:nvPr/>
        </p:nvSpPr>
        <p:spPr>
          <a:xfrm xmlns:a="http://schemas.openxmlformats.org/drawingml/2006/main">
            <a:off x="628650" y="1466850"/>
            <a:ext cx="1000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350" b="0" i="0">
                <a:solidFill>
                  <a:srgbClr val="536876"/>
                </a:solidFill>
                <a:latin typeface="Aptos"/>
                <a:ea typeface="Aptos"/>
                <a:cs typeface="Aptos"/>
              </a:defRPr>
            </a:defPPr>
          </a:lstStyle>
          <a:p xmlns:a="http://schemas.openxmlformats.org/drawingml/2006/main">
            <a:pPr algn="l">
              <a:lnSpc>
                <a:spcPct val="100000"/>
              </a:lnSpc>
              <a:buNone/>
              <a:defRPr sz="1350" b="0" i="0">
                <a:solidFill>
                  <a:srgbClr val="536876"/>
                </a:solidFill>
                <a:latin typeface="Aptos"/>
                <a:ea typeface="Aptos"/>
                <a:cs typeface="Aptos"/>
              </a:defRPr>
            </a:pPr>
            <a:r>
              <a:rPr sz="1350" b="0" i="0">
                <a:solidFill>
                  <a:srgbClr val="536876"/>
                </a:solidFill>
                <a:latin typeface="Aptos"/>
                <a:ea typeface="Aptos"/>
                <a:cs typeface="Aptos"/>
              </a:rPr>
              <a:t>Small enough for one lab, complete enough to show a REST workflow.</a:t>
            </a:r>
          </a:p>
        </p:txBody>
      </p:sp>
      <p:sp>
        <p:nvSpPr>
          <p:cNvPr id="4" name="">
            <a:extLst xmlns:a="http://schemas.openxmlformats.org/drawingml/2006/main">
              <a:ext uri="{FF2B5EF4-FFF2-40B4-BE49-F238E27FC236}">
                <a16:creationId xmlns:a16="http://schemas.microsoft.com/office/drawing/2014/main" id="{95D45F32-67C2-423F-8F53-FBA56383F26B}"/>
              </a:ext>
            </a:extLst>
          </p:cNvPr>
          <p:cNvSpPr>
            <a:spLocks xmlns:a="http://schemas.openxmlformats.org/drawingml/2006/main" noGrp="1"/>
          </p:cNvSpPr>
          <p:nvPr/>
        </p:nvSpPr>
        <p:spPr>
          <a:xfrm xmlns:a="http://schemas.openxmlformats.org/drawingml/2006/main">
            <a:off x="609600" y="6477000"/>
            <a:ext cx="10972800" cy="14288"/>
          </a:xfrm>
          <a:prstGeom xmlns:a="http://schemas.openxmlformats.org/drawingml/2006/main" prst="rect">
            <a:avLst/>
          </a:prstGeom>
          <a:solidFill xmlns:a="http://schemas.openxmlformats.org/drawingml/2006/main">
            <a:srgbClr val="CCD9D5"/>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2A7DE5C5-77F6-40EC-A507-A11302929E4C}"/>
              </a:ext>
            </a:extLst>
          </p:cNvPr>
          <p:cNvSpPr>
            <a:spLocks xmlns:a="http://schemas.openxmlformats.org/drawingml/2006/main" noGrp="1"/>
          </p:cNvSpPr>
          <p:nvPr/>
        </p:nvSpPr>
        <p:spPr>
          <a:xfrm xmlns:a="http://schemas.openxmlformats.org/drawingml/2006/main">
            <a:off x="609600" y="655320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825" b="1" i="0">
                <a:solidFill>
                  <a:srgbClr val="536876"/>
                </a:solidFill>
                <a:latin typeface="Aptos"/>
                <a:ea typeface="Aptos"/>
                <a:cs typeface="Aptos"/>
              </a:defRPr>
            </a:defPPr>
          </a:lstStyle>
          <a:p xmlns:a="http://schemas.openxmlformats.org/drawingml/2006/main">
            <a:pPr algn="l">
              <a:lnSpc>
                <a:spcPct val="100000"/>
              </a:lnSpc>
              <a:buNone/>
              <a:defRPr sz="825" b="1" i="0">
                <a:solidFill>
                  <a:srgbClr val="536876"/>
                </a:solidFill>
                <a:latin typeface="Aptos"/>
                <a:ea typeface="Aptos"/>
                <a:cs typeface="Aptos"/>
              </a:defRPr>
            </a:pPr>
            <a:r>
              <a:rPr sz="825" b="1" i="0">
                <a:solidFill>
                  <a:srgbClr val="536876"/>
                </a:solidFill>
                <a:latin typeface="Aptos"/>
                <a:ea typeface="Aptos"/>
                <a:cs typeface="Aptos"/>
              </a:rPr>
              <a:t>COMP10020 · FASTAPI</a:t>
            </a:r>
          </a:p>
        </p:txBody>
      </p:sp>
      <p:sp>
        <p:nvSpPr>
          <p:cNvPr id="6" name="">
            <a:extLst xmlns:a="http://schemas.openxmlformats.org/drawingml/2006/main">
              <a:ext uri="{FF2B5EF4-FFF2-40B4-BE49-F238E27FC236}">
                <a16:creationId xmlns:a16="http://schemas.microsoft.com/office/drawing/2014/main" id="{B01A242A-7FCA-4798-A8E7-20C49146614E}"/>
              </a:ext>
            </a:extLst>
          </p:cNvPr>
          <p:cNvSpPr>
            <a:spLocks xmlns:a="http://schemas.openxmlformats.org/drawingml/2006/main" noGrp="1"/>
          </p:cNvSpPr>
          <p:nvPr/>
        </p:nvSpPr>
        <p:spPr>
          <a:xfrm xmlns:a="http://schemas.openxmlformats.org/drawingml/2006/main">
            <a:off x="11049000" y="6543675"/>
            <a:ext cx="533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r">
              <a:defRPr sz="825" b="1" i="0">
                <a:solidFill>
                  <a:srgbClr val="536876"/>
                </a:solidFill>
                <a:latin typeface="Aptos"/>
                <a:ea typeface="Aptos"/>
                <a:cs typeface="Aptos"/>
              </a:defRPr>
            </a:defPPr>
          </a:lstStyle>
          <a:p xmlns:a="http://schemas.openxmlformats.org/drawingml/2006/main">
            <a:pPr algn="r">
              <a:lnSpc>
                <a:spcPct val="100000"/>
              </a:lnSpc>
              <a:buNone/>
              <a:defRPr sz="825" b="1" i="0">
                <a:solidFill>
                  <a:srgbClr val="536876"/>
                </a:solidFill>
                <a:latin typeface="Aptos"/>
                <a:ea typeface="Aptos"/>
                <a:cs typeface="Aptos"/>
              </a:defRPr>
            </a:pPr>
            <a:r>
              <a:rPr sz="825" b="1" i="0">
                <a:solidFill>
                  <a:srgbClr val="536876"/>
                </a:solidFill>
                <a:latin typeface="Aptos"/>
                <a:ea typeface="Aptos"/>
                <a:cs typeface="Aptos"/>
              </a:rPr>
              <a:t>04</a:t>
            </a:r>
          </a:p>
        </p:txBody>
      </p:sp>
      <p:sp>
        <p:nvSpPr>
          <p:cNvPr id="7" name="">
            <a:extLst xmlns:a="http://schemas.openxmlformats.org/drawingml/2006/main">
              <a:ext uri="{FF2B5EF4-FFF2-40B4-BE49-F238E27FC236}">
                <a16:creationId xmlns:a16="http://schemas.microsoft.com/office/drawing/2014/main" id="{80878E8A-F354-42F4-9E85-47B3C52F416D}"/>
              </a:ext>
            </a:extLst>
          </p:cNvPr>
          <p:cNvSpPr>
            <a:spLocks xmlns:a="http://schemas.openxmlformats.org/drawingml/2006/main" noGrp="1"/>
          </p:cNvSpPr>
          <p:nvPr/>
        </p:nvSpPr>
        <p:spPr>
          <a:xfrm xmlns:a="http://schemas.openxmlformats.org/drawingml/2006/main">
            <a:off x="685800" y="2314575"/>
            <a:ext cx="47625" cy="609600"/>
          </a:xfrm>
          <a:prstGeom xmlns:a="http://schemas.openxmlformats.org/drawingml/2006/main" prst="rect">
            <a:avLst/>
          </a:prstGeom>
          <a:solidFill xmlns:a="http://schemas.openxmlformats.org/drawingml/2006/main">
            <a:srgbClr val="EF765E"/>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AA83994-5FB6-4BE4-8D35-DA0455C9F195}"/>
              </a:ext>
            </a:extLst>
          </p:cNvPr>
          <p:cNvSpPr>
            <a:spLocks xmlns:a="http://schemas.openxmlformats.org/drawingml/2006/main" noGrp="1"/>
          </p:cNvSpPr>
          <p:nvPr/>
        </p:nvSpPr>
        <p:spPr>
          <a:xfrm xmlns:a="http://schemas.openxmlformats.org/drawingml/2006/main">
            <a:off x="876300" y="2286000"/>
            <a:ext cx="428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425" b="1" i="0">
                <a:solidFill>
                  <a:srgbClr val="102333"/>
                </a:solidFill>
                <a:latin typeface="Aptos"/>
                <a:ea typeface="Aptos"/>
                <a:cs typeface="Aptos"/>
              </a:defRPr>
            </a:defPPr>
          </a:lstStyle>
          <a:p xmlns:a="http://schemas.openxmlformats.org/drawingml/2006/main">
            <a:pPr algn="l">
              <a:lnSpc>
                <a:spcPct val="100000"/>
              </a:lnSpc>
              <a:buNone/>
              <a:defRPr sz="1425" b="1" i="0">
                <a:solidFill>
                  <a:srgbClr val="102333"/>
                </a:solidFill>
                <a:latin typeface="Aptos"/>
                <a:ea typeface="Aptos"/>
                <a:cs typeface="Aptos"/>
              </a:defRPr>
            </a:pPr>
            <a:r>
              <a:rPr sz="1425" b="1" i="0">
                <a:solidFill>
                  <a:srgbClr val="102333"/>
                </a:solidFill>
                <a:latin typeface="Aptos"/>
                <a:ea typeface="Aptos"/>
                <a:cs typeface="Aptos"/>
              </a:rPr>
              <a:t>Meaningful scenario</a:t>
            </a:r>
          </a:p>
        </p:txBody>
      </p:sp>
      <p:sp>
        <p:nvSpPr>
          <p:cNvPr id="9" name="">
            <a:extLst xmlns:a="http://schemas.openxmlformats.org/drawingml/2006/main">
              <a:ext uri="{FF2B5EF4-FFF2-40B4-BE49-F238E27FC236}">
                <a16:creationId xmlns:a16="http://schemas.microsoft.com/office/drawing/2014/main" id="{D2AAD603-63AA-40EE-AEE1-14C35E6B0179}"/>
              </a:ext>
            </a:extLst>
          </p:cNvPr>
          <p:cNvSpPr>
            <a:spLocks xmlns:a="http://schemas.openxmlformats.org/drawingml/2006/main" noGrp="1"/>
          </p:cNvSpPr>
          <p:nvPr/>
        </p:nvSpPr>
        <p:spPr>
          <a:xfrm xmlns:a="http://schemas.openxmlformats.org/drawingml/2006/main">
            <a:off x="876300" y="2552700"/>
            <a:ext cx="4286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125" b="0" i="0">
                <a:solidFill>
                  <a:srgbClr val="536876"/>
                </a:solidFill>
                <a:latin typeface="Aptos"/>
                <a:ea typeface="Aptos"/>
                <a:cs typeface="Aptos"/>
              </a:defRPr>
            </a:defPPr>
          </a:lstStyle>
          <a:p xmlns:a="http://schemas.openxmlformats.org/drawingml/2006/main">
            <a:pPr algn="l">
              <a:lnSpc>
                <a:spcPct val="110000"/>
              </a:lnSpc>
              <a:buNone/>
              <a:defRPr sz="1125" b="0" i="0">
                <a:solidFill>
                  <a:srgbClr val="536876"/>
                </a:solidFill>
                <a:latin typeface="Aptos"/>
                <a:ea typeface="Aptos"/>
                <a:cs typeface="Aptos"/>
              </a:defRPr>
            </a:pPr>
            <a:r>
              <a:rPr sz="1125" b="0" i="0">
                <a:solidFill>
                  <a:srgbClr val="536876"/>
                </a:solidFill>
                <a:latin typeface="Aptos"/>
                <a:ea typeface="Aptos"/>
                <a:cs typeface="Aptos"/>
              </a:rPr>
              <a:t>Track jobs such as checking references, rehearsing the demo and uploading slides.</a:t>
            </a:r>
          </a:p>
        </p:txBody>
      </p:sp>
      <p:sp>
        <p:nvSpPr>
          <p:cNvPr id="10" name="">
            <a:extLst xmlns:a="http://schemas.openxmlformats.org/drawingml/2006/main">
              <a:ext uri="{FF2B5EF4-FFF2-40B4-BE49-F238E27FC236}">
                <a16:creationId xmlns:a16="http://schemas.microsoft.com/office/drawing/2014/main" id="{61CB9007-26F3-4C6B-9E6F-8A8FB4AAEFDB}"/>
              </a:ext>
            </a:extLst>
          </p:cNvPr>
          <p:cNvSpPr>
            <a:spLocks xmlns:a="http://schemas.openxmlformats.org/drawingml/2006/main" noGrp="1"/>
          </p:cNvSpPr>
          <p:nvPr/>
        </p:nvSpPr>
        <p:spPr>
          <a:xfrm xmlns:a="http://schemas.openxmlformats.org/drawingml/2006/main">
            <a:off x="685800" y="3267075"/>
            <a:ext cx="47625" cy="609600"/>
          </a:xfrm>
          <a:prstGeom xmlns:a="http://schemas.openxmlformats.org/drawingml/2006/main" prst="rect">
            <a:avLst/>
          </a:prstGeom>
          <a:solidFill xmlns:a="http://schemas.openxmlformats.org/drawingml/2006/main">
            <a:srgbClr val="087F72"/>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839CD377-A72B-4544-9460-8E4DAF340BBE}"/>
              </a:ext>
            </a:extLst>
          </p:cNvPr>
          <p:cNvSpPr>
            <a:spLocks xmlns:a="http://schemas.openxmlformats.org/drawingml/2006/main" noGrp="1"/>
          </p:cNvSpPr>
          <p:nvPr/>
        </p:nvSpPr>
        <p:spPr>
          <a:xfrm xmlns:a="http://schemas.openxmlformats.org/drawingml/2006/main">
            <a:off x="876300" y="3238500"/>
            <a:ext cx="428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425" b="1" i="0">
                <a:solidFill>
                  <a:srgbClr val="102333"/>
                </a:solidFill>
                <a:latin typeface="Aptos"/>
                <a:ea typeface="Aptos"/>
                <a:cs typeface="Aptos"/>
              </a:defRPr>
            </a:defPPr>
          </a:lstStyle>
          <a:p xmlns:a="http://schemas.openxmlformats.org/drawingml/2006/main">
            <a:pPr algn="l">
              <a:lnSpc>
                <a:spcPct val="100000"/>
              </a:lnSpc>
              <a:buNone/>
              <a:defRPr sz="1425" b="1" i="0">
                <a:solidFill>
                  <a:srgbClr val="102333"/>
                </a:solidFill>
                <a:latin typeface="Aptos"/>
                <a:ea typeface="Aptos"/>
                <a:cs typeface="Aptos"/>
              </a:defRPr>
            </a:pPr>
            <a:r>
              <a:rPr sz="1425" b="1" i="0">
                <a:solidFill>
                  <a:srgbClr val="102333"/>
                </a:solidFill>
                <a:latin typeface="Aptos"/>
                <a:ea typeface="Aptos"/>
                <a:cs typeface="Aptos"/>
              </a:rPr>
              <a:t>Four editable fields</a:t>
            </a:r>
          </a:p>
        </p:txBody>
      </p:sp>
      <p:sp>
        <p:nvSpPr>
          <p:cNvPr id="12" name="">
            <a:extLst xmlns:a="http://schemas.openxmlformats.org/drawingml/2006/main">
              <a:ext uri="{FF2B5EF4-FFF2-40B4-BE49-F238E27FC236}">
                <a16:creationId xmlns:a16="http://schemas.microsoft.com/office/drawing/2014/main" id="{B269AC62-5D4C-4E3B-BBE5-3563A11F9249}"/>
              </a:ext>
            </a:extLst>
          </p:cNvPr>
          <p:cNvSpPr>
            <a:spLocks xmlns:a="http://schemas.openxmlformats.org/drawingml/2006/main" noGrp="1"/>
          </p:cNvSpPr>
          <p:nvPr/>
        </p:nvSpPr>
        <p:spPr>
          <a:xfrm xmlns:a="http://schemas.openxmlformats.org/drawingml/2006/main">
            <a:off x="876300" y="3505200"/>
            <a:ext cx="4286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125" b="0" i="0">
                <a:solidFill>
                  <a:srgbClr val="536876"/>
                </a:solidFill>
                <a:latin typeface="Aptos"/>
                <a:ea typeface="Aptos"/>
                <a:cs typeface="Aptos"/>
              </a:defRPr>
            </a:defPPr>
          </a:lstStyle>
          <a:p xmlns:a="http://schemas.openxmlformats.org/drawingml/2006/main">
            <a:pPr algn="l">
              <a:lnSpc>
                <a:spcPct val="110000"/>
              </a:lnSpc>
              <a:buNone/>
              <a:defRPr sz="1125" b="0" i="0">
                <a:solidFill>
                  <a:srgbClr val="536876"/>
                </a:solidFill>
                <a:latin typeface="Aptos"/>
                <a:ea typeface="Aptos"/>
                <a:cs typeface="Aptos"/>
              </a:defRPr>
            </a:pPr>
            <a:r>
              <a:rPr sz="1125" b="0" i="0">
                <a:solidFill>
                  <a:srgbClr val="536876"/>
                </a:solidFill>
                <a:latin typeface="Aptos"/>
                <a:ea typeface="Aptos"/>
                <a:cs typeface="Aptos"/>
              </a:rPr>
              <a:t>Title, optional description, workflow status and priority from 1 to 5.</a:t>
            </a:r>
          </a:p>
        </p:txBody>
      </p:sp>
      <p:sp>
        <p:nvSpPr>
          <p:cNvPr id="13" name="">
            <a:extLst xmlns:a="http://schemas.openxmlformats.org/drawingml/2006/main">
              <a:ext uri="{FF2B5EF4-FFF2-40B4-BE49-F238E27FC236}">
                <a16:creationId xmlns:a16="http://schemas.microsoft.com/office/drawing/2014/main" id="{5D4C9437-D02E-40AF-ADF9-F5B992BB7D02}"/>
              </a:ext>
            </a:extLst>
          </p:cNvPr>
          <p:cNvSpPr>
            <a:spLocks xmlns:a="http://schemas.openxmlformats.org/drawingml/2006/main" noGrp="1"/>
          </p:cNvSpPr>
          <p:nvPr/>
        </p:nvSpPr>
        <p:spPr>
          <a:xfrm xmlns:a="http://schemas.openxmlformats.org/drawingml/2006/main">
            <a:off x="685800" y="4219575"/>
            <a:ext cx="47625" cy="609600"/>
          </a:xfrm>
          <a:prstGeom xmlns:a="http://schemas.openxmlformats.org/drawingml/2006/main" prst="rect">
            <a:avLst/>
          </a:prstGeom>
          <a:solidFill xmlns:a="http://schemas.openxmlformats.org/drawingml/2006/main">
            <a:srgbClr val="102333"/>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7A03E19-A51B-4E7D-9475-F677B94C5608}"/>
              </a:ext>
            </a:extLst>
          </p:cNvPr>
          <p:cNvSpPr>
            <a:spLocks xmlns:a="http://schemas.openxmlformats.org/drawingml/2006/main" noGrp="1"/>
          </p:cNvSpPr>
          <p:nvPr/>
        </p:nvSpPr>
        <p:spPr>
          <a:xfrm xmlns:a="http://schemas.openxmlformats.org/drawingml/2006/main">
            <a:off x="876300" y="4191000"/>
            <a:ext cx="428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425" b="1" i="0">
                <a:solidFill>
                  <a:srgbClr val="102333"/>
                </a:solidFill>
                <a:latin typeface="Aptos"/>
                <a:ea typeface="Aptos"/>
                <a:cs typeface="Aptos"/>
              </a:defRPr>
            </a:defPPr>
          </a:lstStyle>
          <a:p xmlns:a="http://schemas.openxmlformats.org/drawingml/2006/main">
            <a:pPr algn="l">
              <a:lnSpc>
                <a:spcPct val="100000"/>
              </a:lnSpc>
              <a:buNone/>
              <a:defRPr sz="1425" b="1" i="0">
                <a:solidFill>
                  <a:srgbClr val="102333"/>
                </a:solidFill>
                <a:latin typeface="Aptos"/>
                <a:ea typeface="Aptos"/>
                <a:cs typeface="Aptos"/>
              </a:defRPr>
            </a:pPr>
            <a:r>
              <a:rPr sz="1425" b="1" i="0">
                <a:solidFill>
                  <a:srgbClr val="102333"/>
                </a:solidFill>
                <a:latin typeface="Aptos"/>
                <a:ea typeface="Aptos"/>
                <a:cs typeface="Aptos"/>
              </a:rPr>
              <a:t>Deliberate boundary</a:t>
            </a:r>
          </a:p>
        </p:txBody>
      </p:sp>
      <p:sp>
        <p:nvSpPr>
          <p:cNvPr id="15" name="">
            <a:extLst xmlns:a="http://schemas.openxmlformats.org/drawingml/2006/main">
              <a:ext uri="{FF2B5EF4-FFF2-40B4-BE49-F238E27FC236}">
                <a16:creationId xmlns:a16="http://schemas.microsoft.com/office/drawing/2014/main" id="{4D9F011D-597B-42D6-9424-38BBE1F59C7F}"/>
              </a:ext>
            </a:extLst>
          </p:cNvPr>
          <p:cNvSpPr>
            <a:spLocks xmlns:a="http://schemas.openxmlformats.org/drawingml/2006/main" noGrp="1"/>
          </p:cNvSpPr>
          <p:nvPr/>
        </p:nvSpPr>
        <p:spPr>
          <a:xfrm xmlns:a="http://schemas.openxmlformats.org/drawingml/2006/main">
            <a:off x="876300" y="4457700"/>
            <a:ext cx="4286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125" b="0" i="0">
                <a:solidFill>
                  <a:srgbClr val="536876"/>
                </a:solidFill>
                <a:latin typeface="Aptos"/>
                <a:ea typeface="Aptos"/>
                <a:cs typeface="Aptos"/>
              </a:defRPr>
            </a:defPPr>
          </a:lstStyle>
          <a:p xmlns:a="http://schemas.openxmlformats.org/drawingml/2006/main">
            <a:pPr algn="l">
              <a:lnSpc>
                <a:spcPct val="110000"/>
              </a:lnSpc>
              <a:buNone/>
              <a:defRPr sz="1125" b="0" i="0">
                <a:solidFill>
                  <a:srgbClr val="536876"/>
                </a:solidFill>
                <a:latin typeface="Aptos"/>
                <a:ea typeface="Aptos"/>
                <a:cs typeface="Aptos"/>
              </a:defRPr>
            </a:pPr>
            <a:r>
              <a:rPr sz="1125" b="0" i="0">
                <a:solidFill>
                  <a:srgbClr val="536876"/>
                </a:solidFill>
                <a:latin typeface="Aptos"/>
                <a:ea typeface="Aptos"/>
                <a:cs typeface="Aptos"/>
              </a:rPr>
              <a:t>Tasks live in memory, so restarting the server clears the data. SQLite is an extension, not a requirement.</a:t>
            </a:r>
          </a:p>
        </p:txBody>
      </p:sp>
      <p:sp>
        <p:nvSpPr>
          <p:cNvPr id="16" name="">
            <a:extLst xmlns:a="http://schemas.openxmlformats.org/drawingml/2006/main">
              <a:ext uri="{FF2B5EF4-FFF2-40B4-BE49-F238E27FC236}">
                <a16:creationId xmlns:a16="http://schemas.microsoft.com/office/drawing/2014/main" id="{E3B94AB7-A1A5-4D26-8402-898B446A9D06}"/>
              </a:ext>
            </a:extLst>
          </p:cNvPr>
          <p:cNvSpPr>
            <a:spLocks xmlns:a="http://schemas.openxmlformats.org/drawingml/2006/main" noGrp="1"/>
          </p:cNvSpPr>
          <p:nvPr/>
        </p:nvSpPr>
        <p:spPr>
          <a:xfrm xmlns:a="http://schemas.openxmlformats.org/drawingml/2006/main">
            <a:off x="6191250" y="2152650"/>
            <a:ext cx="4953000" cy="3276600"/>
          </a:xfrm>
          <a:prstGeom xmlns:a="http://schemas.openxmlformats.org/drawingml/2006/main" prst="roundRect">
            <a:avLst>
              <a:gd name="adj" fmla="val 3488"/>
            </a:avLst>
          </a:prstGeom>
          <a:solidFill xmlns:a="http://schemas.openxmlformats.org/drawingml/2006/main">
            <a:srgbClr val="0E1C27"/>
          </a:solidFill>
          <a:ln xmlns:a="http://schemas.openxmlformats.org/drawingml/2006/main" w="9525">
            <a:solidFill>
              <a:srgbClr val="263B4B"/>
            </a:solidFill>
            <a:prstDash val="solid"/>
          </a:ln>
        </p:spPr>
      </p:sp>
      <p:sp>
        <p:nvSpPr>
          <p:cNvPr id="17" name="">
            <a:extLst xmlns:a="http://schemas.openxmlformats.org/drawingml/2006/main">
              <a:ext uri="{FF2B5EF4-FFF2-40B4-BE49-F238E27FC236}">
                <a16:creationId xmlns:a16="http://schemas.microsoft.com/office/drawing/2014/main" id="{D3A78A88-7F72-49B2-81F0-E5FB72A443CE}"/>
              </a:ext>
            </a:extLst>
          </p:cNvPr>
          <p:cNvSpPr>
            <a:spLocks xmlns:a="http://schemas.openxmlformats.org/drawingml/2006/main" noGrp="1"/>
          </p:cNvSpPr>
          <p:nvPr/>
        </p:nvSpPr>
        <p:spPr>
          <a:xfrm xmlns:a="http://schemas.openxmlformats.org/drawingml/2006/main">
            <a:off x="6191250" y="2552700"/>
            <a:ext cx="4953000" cy="9525"/>
          </a:xfrm>
          <a:prstGeom xmlns:a="http://schemas.openxmlformats.org/drawingml/2006/main" prst="rect">
            <a:avLst/>
          </a:prstGeom>
          <a:solidFill xmlns:a="http://schemas.openxmlformats.org/drawingml/2006/main">
            <a:srgbClr val="263B4B"/>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B0A216C4-C450-4AC6-96E4-47B5C6DEE1F0}"/>
              </a:ext>
            </a:extLst>
          </p:cNvPr>
          <p:cNvSpPr>
            <a:spLocks xmlns:a="http://schemas.openxmlformats.org/drawingml/2006/main" noGrp="1"/>
          </p:cNvSpPr>
          <p:nvPr/>
        </p:nvSpPr>
        <p:spPr>
          <a:xfrm xmlns:a="http://schemas.openxmlformats.org/drawingml/2006/main">
            <a:off x="6362700" y="2276475"/>
            <a:ext cx="4610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00" b="1" i="0">
                <a:solidFill>
                  <a:srgbClr val="A8BAC6"/>
                </a:solidFill>
                <a:latin typeface="Cascadia Mono"/>
                <a:ea typeface="Cascadia Mono"/>
                <a:cs typeface="Cascadia Mono"/>
              </a:defRPr>
            </a:defPPr>
          </a:lstStyle>
          <a:p xmlns:a="http://schemas.openxmlformats.org/drawingml/2006/main">
            <a:pPr algn="l">
              <a:lnSpc>
                <a:spcPct val="100000"/>
              </a:lnSpc>
              <a:buNone/>
              <a:defRPr sz="900" b="1" i="0">
                <a:solidFill>
                  <a:srgbClr val="A8BAC6"/>
                </a:solidFill>
                <a:latin typeface="Cascadia Mono"/>
                <a:ea typeface="Cascadia Mono"/>
                <a:cs typeface="Cascadia Mono"/>
              </a:defRPr>
            </a:pPr>
            <a:r>
              <a:rPr sz="900" b="1" i="0">
                <a:solidFill>
                  <a:srgbClr val="A8BAC6"/>
                </a:solidFill>
                <a:latin typeface="Cascadia Mono"/>
                <a:ea typeface="Cascadia Mono"/>
                <a:cs typeface="Cascadia Mono"/>
              </a:rPr>
              <a:t>A valid task</a:t>
            </a:r>
          </a:p>
        </p:txBody>
      </p:sp>
      <p:sp>
        <p:nvSpPr>
          <p:cNvPr id="19" name="">
            <a:extLst xmlns:a="http://schemas.openxmlformats.org/drawingml/2006/main">
              <a:ext uri="{FF2B5EF4-FFF2-40B4-BE49-F238E27FC236}">
                <a16:creationId xmlns:a16="http://schemas.microsoft.com/office/drawing/2014/main" id="{E7002758-13EA-4467-935B-48517BE60385}"/>
              </a:ext>
            </a:extLst>
          </p:cNvPr>
          <p:cNvSpPr>
            <a:spLocks xmlns:a="http://schemas.openxmlformats.org/drawingml/2006/main" noGrp="1"/>
          </p:cNvSpPr>
          <p:nvPr/>
        </p:nvSpPr>
        <p:spPr>
          <a:xfrm xmlns:a="http://schemas.openxmlformats.org/drawingml/2006/main">
            <a:off x="6400800" y="2705100"/>
            <a:ext cx="4533900" cy="2571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500" b="0" i="0">
                <a:solidFill>
                  <a:srgbClr val="D6E6EF"/>
                </a:solidFill>
                <a:latin typeface="Cascadia Mono"/>
                <a:ea typeface="Cascadia Mono"/>
                <a:cs typeface="Cascadia Mono"/>
              </a:defRPr>
            </a:defPPr>
          </a:lstStyle>
          <a:p xmlns:a="http://schemas.openxmlformats.org/drawingml/2006/main">
            <a:pPr algn="l">
              <a:lnSpc>
                <a:spcPct val="128000"/>
              </a:lnSpc>
              <a:buNone/>
              <a:defRPr sz="1500" b="0" i="0">
                <a:solidFill>
                  <a:srgbClr val="D6E6EF"/>
                </a:solidFill>
                <a:latin typeface="Cascadia Mono"/>
                <a:ea typeface="Cascadia Mono"/>
                <a:cs typeface="Cascadia Mono"/>
              </a:defRPr>
            </a:pPr>
            <a:r>
              <a:rPr sz="1500" b="0" i="0">
                <a:solidFill>
                  <a:srgbClr val="D6E6EF"/>
                </a:solidFill>
                <a:latin typeface="Cascadia Mono"/>
                <a:ea typeface="Cascadia Mono"/>
                <a:cs typeface="Cascadia Mono"/>
              </a:rPr>
              <a:t>{</a:t>
            </a:r>
          </a:p>
          <a:p xmlns:a="http://schemas.openxmlformats.org/drawingml/2006/main">
            <a:pPr algn="l">
              <a:lnSpc>
                <a:spcPct val="128000"/>
              </a:lnSpc>
              <a:buNone/>
              <a:defRPr sz="1500" b="0" i="0">
                <a:solidFill>
                  <a:srgbClr val="D6E6EF"/>
                </a:solidFill>
                <a:latin typeface="Cascadia Mono"/>
                <a:ea typeface="Cascadia Mono"/>
                <a:cs typeface="Cascadia Mono"/>
              </a:defRPr>
            </a:pPr>
            <a:r>
              <a:rPr sz="1500" b="0" i="0">
                <a:solidFill>
                  <a:srgbClr val="D6E6EF"/>
                </a:solidFill>
                <a:latin typeface="Cascadia Mono"/>
                <a:ea typeface="Cascadia Mono"/>
                <a:cs typeface="Cascadia Mono"/>
              </a:rPr>
              <a:t>  "title": "Rehearse the demo",</a:t>
            </a:r>
          </a:p>
          <a:p xmlns:a="http://schemas.openxmlformats.org/drawingml/2006/main">
            <a:pPr algn="l">
              <a:lnSpc>
                <a:spcPct val="128000"/>
              </a:lnSpc>
              <a:buNone/>
              <a:defRPr sz="1500" b="0" i="0">
                <a:solidFill>
                  <a:srgbClr val="D6E6EF"/>
                </a:solidFill>
                <a:latin typeface="Cascadia Mono"/>
                <a:ea typeface="Cascadia Mono"/>
                <a:cs typeface="Cascadia Mono"/>
              </a:defRPr>
            </a:pPr>
            <a:r>
              <a:rPr sz="1500" b="0" i="0">
                <a:solidFill>
                  <a:srgbClr val="D6E6EF"/>
                </a:solidFill>
                <a:latin typeface="Cascadia Mono"/>
                <a:ea typeface="Cascadia Mono"/>
                <a:cs typeface="Cascadia Mono"/>
              </a:rPr>
              <a:t>  "description": "Practise /docs",</a:t>
            </a:r>
          </a:p>
          <a:p xmlns:a="http://schemas.openxmlformats.org/drawingml/2006/main">
            <a:pPr algn="l">
              <a:lnSpc>
                <a:spcPct val="128000"/>
              </a:lnSpc>
              <a:buNone/>
              <a:defRPr sz="1500" b="0" i="0">
                <a:solidFill>
                  <a:srgbClr val="D6E6EF"/>
                </a:solidFill>
                <a:latin typeface="Cascadia Mono"/>
                <a:ea typeface="Cascadia Mono"/>
                <a:cs typeface="Cascadia Mono"/>
              </a:defRPr>
            </a:pPr>
            <a:r>
              <a:rPr sz="1500" b="0" i="0">
                <a:solidFill>
                  <a:srgbClr val="D6E6EF"/>
                </a:solidFill>
                <a:latin typeface="Cascadia Mono"/>
                <a:ea typeface="Cascadia Mono"/>
                <a:cs typeface="Cascadia Mono"/>
              </a:rPr>
              <a:t>  "status": "todo",</a:t>
            </a:r>
          </a:p>
          <a:p xmlns:a="http://schemas.openxmlformats.org/drawingml/2006/main">
            <a:pPr algn="l">
              <a:lnSpc>
                <a:spcPct val="128000"/>
              </a:lnSpc>
              <a:buNone/>
              <a:defRPr sz="1500" b="0" i="0">
                <a:solidFill>
                  <a:srgbClr val="D6E6EF"/>
                </a:solidFill>
                <a:latin typeface="Cascadia Mono"/>
                <a:ea typeface="Cascadia Mono"/>
                <a:cs typeface="Cascadia Mono"/>
              </a:defRPr>
            </a:pPr>
            <a:r>
              <a:rPr sz="1500" b="0" i="0">
                <a:solidFill>
                  <a:srgbClr val="D6E6EF"/>
                </a:solidFill>
                <a:latin typeface="Cascadia Mono"/>
                <a:ea typeface="Cascadia Mono"/>
                <a:cs typeface="Cascadia Mono"/>
              </a:rPr>
              <a:t>  "priority": 5</a:t>
            </a:r>
          </a:p>
          <a:p xmlns:a="http://schemas.openxmlformats.org/drawingml/2006/main">
            <a:pPr algn="l">
              <a:lnSpc>
                <a:spcPct val="128000"/>
              </a:lnSpc>
              <a:buNone/>
              <a:defRPr sz="1500" b="0" i="0">
                <a:solidFill>
                  <a:srgbClr val="D6E6EF"/>
                </a:solidFill>
                <a:latin typeface="Cascadia Mono"/>
                <a:ea typeface="Cascadia Mono"/>
                <a:cs typeface="Cascadia Mono"/>
              </a:defRPr>
            </a:pPr>
            <a:r>
              <a:rPr sz="1500" b="0" i="0">
                <a:solidFill>
                  <a:srgbClr val="D6E6EF"/>
                </a:solidFill>
                <a:latin typeface="Cascadia Mono"/>
                <a:ea typeface="Cascadia Mono"/>
                <a:cs typeface="Cascadia Mono"/>
              </a:rPr>
              <a:t>}</a:t>
            </a:r>
          </a:p>
        </p:txBody>
      </p:sp>
      <p:sp>
        <p:nvSpPr>
          <p:cNvPr id="20" name="">
            <a:extLst xmlns:a="http://schemas.openxmlformats.org/drawingml/2006/main">
              <a:ext uri="{FF2B5EF4-FFF2-40B4-BE49-F238E27FC236}">
                <a16:creationId xmlns:a16="http://schemas.microsoft.com/office/drawing/2014/main" id="{88EED6BD-19E3-424D-AE95-8B5C87EEFD04}"/>
              </a:ext>
            </a:extLst>
          </p:cNvPr>
          <p:cNvSpPr>
            <a:spLocks xmlns:a="http://schemas.openxmlformats.org/drawingml/2006/main" noGrp="1"/>
          </p:cNvSpPr>
          <p:nvPr/>
        </p:nvSpPr>
        <p:spPr>
          <a:xfrm xmlns:a="http://schemas.openxmlformats.org/drawingml/2006/main">
            <a:off x="8058150" y="5581650"/>
            <a:ext cx="2152650" cy="361950"/>
          </a:xfrm>
          <a:prstGeom xmlns:a="http://schemas.openxmlformats.org/drawingml/2006/main" prst="roundRect">
            <a:avLst>
              <a:gd name="adj" fmla="val 31579"/>
            </a:avLst>
          </a:prstGeom>
          <a:solidFill xmlns:a="http://schemas.openxmlformats.org/drawingml/2006/main">
            <a:srgbClr val="055A52"/>
          </a:solidFill>
          <a:ln xmlns:a="http://schemas.openxmlformats.org/drawingml/2006/main" w="0">
            <a:noFill/>
            <a:prstDash val="solid"/>
          </a:ln>
        </p:spPr>
        <p:txBody>
          <a:bodyPr xmlns:a="http://schemas.openxmlformats.org/drawingml/2006/main" lIns="38100" tIns="38100" rIns="38100" bIns="38100" anchor="ctr">
            <a:normAutofit fontScale="100000"/>
          </a:bodyPr>
          <a:lstStyle xmlns:a="http://schemas.openxmlformats.org/drawingml/2006/main">
            <a:defPPr algn="ctr">
              <a:defRPr sz="1050" b="1">
                <a:solidFill>
                  <a:srgbClr val="FFFFFF"/>
                </a:solidFill>
                <a:latin typeface="Aptos"/>
                <a:ea typeface="Aptos"/>
                <a:cs typeface="Aptos"/>
              </a:defRPr>
            </a:defPPr>
          </a:lstStyle>
          <a:p xmlns:a="http://schemas.openxmlformats.org/drawingml/2006/main">
            <a:pPr algn="ctr">
              <a:defRPr sz="1050" b="1">
                <a:solidFill>
                  <a:srgbClr val="FFFFFF"/>
                </a:solidFill>
                <a:latin typeface="Aptos"/>
                <a:ea typeface="Aptos"/>
                <a:cs typeface="Aptos"/>
              </a:defRPr>
            </a:pPr>
            <a:r>
              <a:rPr sz="1050" b="1">
                <a:solidFill>
                  <a:srgbClr val="FFFFFF"/>
                </a:solidFill>
                <a:latin typeface="Aptos"/>
                <a:ea typeface="Aptos"/>
                <a:cs typeface="Aptos"/>
              </a:rPr>
              <a:t>BEGINNER-FRIENDLY</a:t>
            </a:r>
          </a:p>
        </p:txBody>
      </p:sp>
    </p:spTree>
    <p:extLst>
      <p:ext uri="{BB962C8B-B14F-4D97-AF65-F5344CB8AC3E}">
        <p14:creationId xmlns:p14="http://schemas.microsoft.com/office/powerpoint/2010/main" val="1985193223"/>
      </p:ext>
    </p:extLst>
  </p:cSld>
</p:sld>
</file>

<file path=ppt/slides/slide5.xml><?xml version="1.0" encoding="utf-8"?>
<p:sld xmlns:p="http://schemas.openxmlformats.org/presentationml/2006/main">
  <p:cSld>
    <p:bg>
      <p:bgPr>
        <a:solidFill xmlns:a="http://schemas.openxmlformats.org/drawingml/2006/main">
          <a:srgbClr val="FFFDF8"/>
        </a:solidFill>
      </p:bgPr>
    </p:bg>
    <p:spTree>
      <p:nvGrpSpPr>
        <p:cNvPr id="1" name=""/>
        <p:cNvGrpSpPr/>
        <p:nvPr/>
      </p:nvGrpSpPr>
      <p:grpSpPr>
        <a:xfrm xmlns:a="http://schemas.openxmlformats.org/drawingml/2006/main"/>
      </p:grpSpPr>
      <p:sp>
        <p:nvSpPr>
          <p:cNvPr id="37" name="">
            <a:extLst xmlns:a="http://schemas.openxmlformats.org/drawingml/2006/main">
              <a:ext uri="{FF2B5EF4-FFF2-40B4-BE49-F238E27FC236}">
                <a16:creationId xmlns:a16="http://schemas.microsoft.com/office/drawing/2014/main" id="{B2E22CA3-64C1-4580-8F42-7A4FCB5B5D2C}"/>
              </a:ext>
            </a:extLst>
          </p:cNvPr>
          <p:cNvSpPr>
            <a:spLocks xmlns:a="http://schemas.openxmlformats.org/drawingml/2006/main" noGrp="1"/>
          </p:cNvSpPr>
          <p:nvPr/>
        </p:nvSpPr>
        <p:spPr>
          <a:xfrm xmlns:a="http://schemas.openxmlformats.org/drawingml/2006/main">
            <a:off x="609600" y="45720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75" b="1" i="0">
                <a:solidFill>
                  <a:srgbClr val="055A52"/>
                </a:solidFill>
                <a:latin typeface="Aptos"/>
                <a:ea typeface="Aptos"/>
                <a:cs typeface="Aptos"/>
              </a:defRPr>
            </a:defPPr>
          </a:lstStyle>
          <a:p xmlns:a="http://schemas.openxmlformats.org/drawingml/2006/main">
            <a:pPr algn="l">
              <a:lnSpc>
                <a:spcPct val="100000"/>
              </a:lnSpc>
              <a:buNone/>
              <a:defRPr sz="975" b="1" i="0">
                <a:solidFill>
                  <a:srgbClr val="055A52"/>
                </a:solidFill>
                <a:latin typeface="Aptos"/>
                <a:ea typeface="Aptos"/>
                <a:cs typeface="Aptos"/>
              </a:defRPr>
            </a:pPr>
            <a:r>
              <a:rPr sz="975" b="1" i="0">
                <a:solidFill>
                  <a:srgbClr val="055A52"/>
                </a:solidFill>
                <a:latin typeface="Aptos"/>
                <a:ea typeface="Aptos"/>
                <a:cs typeface="Aptos"/>
              </a:rPr>
              <a:t>REST DESIGN</a:t>
            </a:r>
          </a:p>
        </p:txBody>
      </p:sp>
      <p:sp>
        <p:nvSpPr>
          <p:cNvPr id="2" name="">
            <a:extLst xmlns:a="http://schemas.openxmlformats.org/drawingml/2006/main">
              <a:ext uri="{FF2B5EF4-FFF2-40B4-BE49-F238E27FC236}">
                <a16:creationId xmlns:a16="http://schemas.microsoft.com/office/drawing/2014/main" id="{51195001-FDDA-46B9-A056-50B0EFBC3E4F}"/>
              </a:ext>
            </a:extLst>
          </p:cNvPr>
          <p:cNvSpPr>
            <a:spLocks xmlns:a="http://schemas.openxmlformats.org/drawingml/2006/main" noGrp="1"/>
          </p:cNvSpPr>
          <p:nvPr/>
        </p:nvSpPr>
        <p:spPr>
          <a:xfrm xmlns:a="http://schemas.openxmlformats.org/drawingml/2006/main">
            <a:off x="609600" y="781050"/>
            <a:ext cx="10668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850" b="1" i="0">
                <a:solidFill>
                  <a:srgbClr val="102333"/>
                </a:solidFill>
                <a:latin typeface="Aptos"/>
                <a:ea typeface="Aptos"/>
                <a:cs typeface="Aptos"/>
              </a:defRPr>
            </a:defPPr>
          </a:lstStyle>
          <a:p xmlns:a="http://schemas.openxmlformats.org/drawingml/2006/main">
            <a:pPr algn="l">
              <a:lnSpc>
                <a:spcPct val="95000"/>
              </a:lnSpc>
              <a:buNone/>
              <a:defRPr sz="2850" b="1" i="0">
                <a:solidFill>
                  <a:srgbClr val="102333"/>
                </a:solidFill>
                <a:latin typeface="Aptos"/>
                <a:ea typeface="Aptos"/>
                <a:cs typeface="Aptos"/>
              </a:defRPr>
            </a:pPr>
            <a:r>
              <a:rPr sz="2850" b="1" i="0">
                <a:solidFill>
                  <a:srgbClr val="102333"/>
                </a:solidFill>
                <a:latin typeface="Aptos"/>
                <a:ea typeface="Aptos"/>
                <a:cs typeface="Aptos"/>
              </a:rPr>
              <a:t>Five endpoints cover the complete task lifecycle</a:t>
            </a:r>
          </a:p>
        </p:txBody>
      </p:sp>
      <p:sp>
        <p:nvSpPr>
          <p:cNvPr id="3" name="">
            <a:extLst xmlns:a="http://schemas.openxmlformats.org/drawingml/2006/main">
              <a:ext uri="{FF2B5EF4-FFF2-40B4-BE49-F238E27FC236}">
                <a16:creationId xmlns:a16="http://schemas.microsoft.com/office/drawing/2014/main" id="{36092352-CFF2-4314-9D17-233CD10C3543}"/>
              </a:ext>
            </a:extLst>
          </p:cNvPr>
          <p:cNvSpPr>
            <a:spLocks xmlns:a="http://schemas.openxmlformats.org/drawingml/2006/main" noGrp="1"/>
          </p:cNvSpPr>
          <p:nvPr/>
        </p:nvSpPr>
        <p:spPr>
          <a:xfrm xmlns:a="http://schemas.openxmlformats.org/drawingml/2006/main">
            <a:off x="628650" y="1466850"/>
            <a:ext cx="1000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350" b="0" i="0">
                <a:solidFill>
                  <a:srgbClr val="536876"/>
                </a:solidFill>
                <a:latin typeface="Aptos"/>
                <a:ea typeface="Aptos"/>
                <a:cs typeface="Aptos"/>
              </a:defRPr>
            </a:defPPr>
          </a:lstStyle>
          <a:p xmlns:a="http://schemas.openxmlformats.org/drawingml/2006/main">
            <a:pPr algn="l">
              <a:lnSpc>
                <a:spcPct val="100000"/>
              </a:lnSpc>
              <a:buNone/>
              <a:defRPr sz="1350" b="0" i="0">
                <a:solidFill>
                  <a:srgbClr val="536876"/>
                </a:solidFill>
                <a:latin typeface="Aptos"/>
                <a:ea typeface="Aptos"/>
                <a:cs typeface="Aptos"/>
              </a:defRPr>
            </a:pPr>
            <a:r>
              <a:rPr sz="1350" b="0" i="0">
                <a:solidFill>
                  <a:srgbClr val="536876"/>
                </a:solidFill>
                <a:latin typeface="Aptos"/>
                <a:ea typeface="Aptos"/>
                <a:cs typeface="Aptos"/>
              </a:rPr>
              <a:t>The HTTP verb describes the action; the path identifies the resource.</a:t>
            </a:r>
          </a:p>
        </p:txBody>
      </p:sp>
      <p:sp>
        <p:nvSpPr>
          <p:cNvPr id="4" name="">
            <a:extLst xmlns:a="http://schemas.openxmlformats.org/drawingml/2006/main">
              <a:ext uri="{FF2B5EF4-FFF2-40B4-BE49-F238E27FC236}">
                <a16:creationId xmlns:a16="http://schemas.microsoft.com/office/drawing/2014/main" id="{907F6308-C2C6-48DF-98CC-0358F0AABC9C}"/>
              </a:ext>
            </a:extLst>
          </p:cNvPr>
          <p:cNvSpPr>
            <a:spLocks xmlns:a="http://schemas.openxmlformats.org/drawingml/2006/main" noGrp="1"/>
          </p:cNvSpPr>
          <p:nvPr/>
        </p:nvSpPr>
        <p:spPr>
          <a:xfrm xmlns:a="http://schemas.openxmlformats.org/drawingml/2006/main">
            <a:off x="609600" y="6477000"/>
            <a:ext cx="10972800" cy="14288"/>
          </a:xfrm>
          <a:prstGeom xmlns:a="http://schemas.openxmlformats.org/drawingml/2006/main" prst="rect">
            <a:avLst/>
          </a:prstGeom>
          <a:solidFill xmlns:a="http://schemas.openxmlformats.org/drawingml/2006/main">
            <a:srgbClr val="CCD9D5"/>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0685A9AF-302B-4E9C-8931-C6B36F80C5D5}"/>
              </a:ext>
            </a:extLst>
          </p:cNvPr>
          <p:cNvSpPr>
            <a:spLocks xmlns:a="http://schemas.openxmlformats.org/drawingml/2006/main" noGrp="1"/>
          </p:cNvSpPr>
          <p:nvPr/>
        </p:nvSpPr>
        <p:spPr>
          <a:xfrm xmlns:a="http://schemas.openxmlformats.org/drawingml/2006/main">
            <a:off x="609600" y="655320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825" b="1" i="0">
                <a:solidFill>
                  <a:srgbClr val="536876"/>
                </a:solidFill>
                <a:latin typeface="Aptos"/>
                <a:ea typeface="Aptos"/>
                <a:cs typeface="Aptos"/>
              </a:defRPr>
            </a:defPPr>
          </a:lstStyle>
          <a:p xmlns:a="http://schemas.openxmlformats.org/drawingml/2006/main">
            <a:pPr algn="l">
              <a:lnSpc>
                <a:spcPct val="100000"/>
              </a:lnSpc>
              <a:buNone/>
              <a:defRPr sz="825" b="1" i="0">
                <a:solidFill>
                  <a:srgbClr val="536876"/>
                </a:solidFill>
                <a:latin typeface="Aptos"/>
                <a:ea typeface="Aptos"/>
                <a:cs typeface="Aptos"/>
              </a:defRPr>
            </a:pPr>
            <a:r>
              <a:rPr sz="825" b="1" i="0">
                <a:solidFill>
                  <a:srgbClr val="536876"/>
                </a:solidFill>
                <a:latin typeface="Aptos"/>
                <a:ea typeface="Aptos"/>
                <a:cs typeface="Aptos"/>
              </a:rPr>
              <a:t>COMP10020 · FASTAPI</a:t>
            </a:r>
          </a:p>
        </p:txBody>
      </p:sp>
      <p:sp>
        <p:nvSpPr>
          <p:cNvPr id="6" name="">
            <a:extLst xmlns:a="http://schemas.openxmlformats.org/drawingml/2006/main">
              <a:ext uri="{FF2B5EF4-FFF2-40B4-BE49-F238E27FC236}">
                <a16:creationId xmlns:a16="http://schemas.microsoft.com/office/drawing/2014/main" id="{44BEF882-DD92-430E-95D1-E6FF1995CEAB}"/>
              </a:ext>
            </a:extLst>
          </p:cNvPr>
          <p:cNvSpPr>
            <a:spLocks xmlns:a="http://schemas.openxmlformats.org/drawingml/2006/main" noGrp="1"/>
          </p:cNvSpPr>
          <p:nvPr/>
        </p:nvSpPr>
        <p:spPr>
          <a:xfrm xmlns:a="http://schemas.openxmlformats.org/drawingml/2006/main">
            <a:off x="11049000" y="6543675"/>
            <a:ext cx="533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r">
              <a:defRPr sz="825" b="1" i="0">
                <a:solidFill>
                  <a:srgbClr val="536876"/>
                </a:solidFill>
                <a:latin typeface="Aptos"/>
                <a:ea typeface="Aptos"/>
                <a:cs typeface="Aptos"/>
              </a:defRPr>
            </a:defPPr>
          </a:lstStyle>
          <a:p xmlns:a="http://schemas.openxmlformats.org/drawingml/2006/main">
            <a:pPr algn="r">
              <a:lnSpc>
                <a:spcPct val="100000"/>
              </a:lnSpc>
              <a:buNone/>
              <a:defRPr sz="825" b="1" i="0">
                <a:solidFill>
                  <a:srgbClr val="536876"/>
                </a:solidFill>
                <a:latin typeface="Aptos"/>
                <a:ea typeface="Aptos"/>
                <a:cs typeface="Aptos"/>
              </a:defRPr>
            </a:pPr>
            <a:r>
              <a:rPr sz="825" b="1" i="0">
                <a:solidFill>
                  <a:srgbClr val="536876"/>
                </a:solidFill>
                <a:latin typeface="Aptos"/>
                <a:ea typeface="Aptos"/>
                <a:cs typeface="Aptos"/>
              </a:rPr>
              <a:t>05</a:t>
            </a:r>
          </a:p>
        </p:txBody>
      </p:sp>
      <p:sp>
        <p:nvSpPr>
          <p:cNvPr id="7" name="">
            <a:extLst xmlns:a="http://schemas.openxmlformats.org/drawingml/2006/main">
              <a:ext uri="{FF2B5EF4-FFF2-40B4-BE49-F238E27FC236}">
                <a16:creationId xmlns:a16="http://schemas.microsoft.com/office/drawing/2014/main" id="{EF5C8B6A-E4D7-4F22-80CE-8B3E83E5B505}"/>
              </a:ext>
            </a:extLst>
          </p:cNvPr>
          <p:cNvSpPr>
            <a:spLocks xmlns:a="http://schemas.openxmlformats.org/drawingml/2006/main" noGrp="1"/>
          </p:cNvSpPr>
          <p:nvPr/>
        </p:nvSpPr>
        <p:spPr>
          <a:xfrm xmlns:a="http://schemas.openxmlformats.org/drawingml/2006/main">
            <a:off x="857250" y="2019300"/>
            <a:ext cx="857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00" b="1" i="0">
                <a:solidFill>
                  <a:srgbClr val="536876"/>
                </a:solidFill>
                <a:latin typeface="Aptos"/>
                <a:ea typeface="Aptos"/>
                <a:cs typeface="Aptos"/>
              </a:defRPr>
            </a:defPPr>
          </a:lstStyle>
          <a:p xmlns:a="http://schemas.openxmlformats.org/drawingml/2006/main">
            <a:pPr algn="l">
              <a:lnSpc>
                <a:spcPct val="100000"/>
              </a:lnSpc>
              <a:buNone/>
              <a:defRPr sz="900" b="1" i="0">
                <a:solidFill>
                  <a:srgbClr val="536876"/>
                </a:solidFill>
                <a:latin typeface="Aptos"/>
                <a:ea typeface="Aptos"/>
                <a:cs typeface="Aptos"/>
              </a:defRPr>
            </a:pPr>
            <a:r>
              <a:rPr sz="900" b="1" i="0">
                <a:solidFill>
                  <a:srgbClr val="536876"/>
                </a:solidFill>
                <a:latin typeface="Aptos"/>
                <a:ea typeface="Aptos"/>
                <a:cs typeface="Aptos"/>
              </a:rPr>
              <a:t>METHOD</a:t>
            </a:r>
          </a:p>
        </p:txBody>
      </p:sp>
      <p:sp>
        <p:nvSpPr>
          <p:cNvPr id="8" name="">
            <a:extLst xmlns:a="http://schemas.openxmlformats.org/drawingml/2006/main">
              <a:ext uri="{FF2B5EF4-FFF2-40B4-BE49-F238E27FC236}">
                <a16:creationId xmlns:a16="http://schemas.microsoft.com/office/drawing/2014/main" id="{AB5CA562-82D5-4A68-BE3F-73CDC0355385}"/>
              </a:ext>
            </a:extLst>
          </p:cNvPr>
          <p:cNvSpPr>
            <a:spLocks xmlns:a="http://schemas.openxmlformats.org/drawingml/2006/main" noGrp="1"/>
          </p:cNvSpPr>
          <p:nvPr/>
        </p:nvSpPr>
        <p:spPr>
          <a:xfrm xmlns:a="http://schemas.openxmlformats.org/drawingml/2006/main">
            <a:off x="1905000" y="2019300"/>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00" b="1" i="0">
                <a:solidFill>
                  <a:srgbClr val="536876"/>
                </a:solidFill>
                <a:latin typeface="Aptos"/>
                <a:ea typeface="Aptos"/>
                <a:cs typeface="Aptos"/>
              </a:defRPr>
            </a:defPPr>
          </a:lstStyle>
          <a:p xmlns:a="http://schemas.openxmlformats.org/drawingml/2006/main">
            <a:pPr algn="l">
              <a:lnSpc>
                <a:spcPct val="100000"/>
              </a:lnSpc>
              <a:buNone/>
              <a:defRPr sz="900" b="1" i="0">
                <a:solidFill>
                  <a:srgbClr val="536876"/>
                </a:solidFill>
                <a:latin typeface="Aptos"/>
                <a:ea typeface="Aptos"/>
                <a:cs typeface="Aptos"/>
              </a:defRPr>
            </a:pPr>
            <a:r>
              <a:rPr sz="900" b="1" i="0">
                <a:solidFill>
                  <a:srgbClr val="536876"/>
                </a:solidFill>
                <a:latin typeface="Aptos"/>
                <a:ea typeface="Aptos"/>
                <a:cs typeface="Aptos"/>
              </a:rPr>
              <a:t>PATH</a:t>
            </a:r>
          </a:p>
        </p:txBody>
      </p:sp>
      <p:sp>
        <p:nvSpPr>
          <p:cNvPr id="9" name="">
            <a:extLst xmlns:a="http://schemas.openxmlformats.org/drawingml/2006/main">
              <a:ext uri="{FF2B5EF4-FFF2-40B4-BE49-F238E27FC236}">
                <a16:creationId xmlns:a16="http://schemas.microsoft.com/office/drawing/2014/main" id="{DBCCD17A-19FD-41B7-974B-4A9314C44D10}"/>
              </a:ext>
            </a:extLst>
          </p:cNvPr>
          <p:cNvSpPr>
            <a:spLocks xmlns:a="http://schemas.openxmlformats.org/drawingml/2006/main" noGrp="1"/>
          </p:cNvSpPr>
          <p:nvPr/>
        </p:nvSpPr>
        <p:spPr>
          <a:xfrm xmlns:a="http://schemas.openxmlformats.org/drawingml/2006/main">
            <a:off x="4857750" y="201930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00" b="1" i="0">
                <a:solidFill>
                  <a:srgbClr val="536876"/>
                </a:solidFill>
                <a:latin typeface="Aptos"/>
                <a:ea typeface="Aptos"/>
                <a:cs typeface="Aptos"/>
              </a:defRPr>
            </a:defPPr>
          </a:lstStyle>
          <a:p xmlns:a="http://schemas.openxmlformats.org/drawingml/2006/main">
            <a:pPr algn="l">
              <a:lnSpc>
                <a:spcPct val="100000"/>
              </a:lnSpc>
              <a:buNone/>
              <a:defRPr sz="900" b="1" i="0">
                <a:solidFill>
                  <a:srgbClr val="536876"/>
                </a:solidFill>
                <a:latin typeface="Aptos"/>
                <a:ea typeface="Aptos"/>
                <a:cs typeface="Aptos"/>
              </a:defRPr>
            </a:pPr>
            <a:r>
              <a:rPr sz="900" b="1" i="0">
                <a:solidFill>
                  <a:srgbClr val="536876"/>
                </a:solidFill>
                <a:latin typeface="Aptos"/>
                <a:ea typeface="Aptos"/>
                <a:cs typeface="Aptos"/>
              </a:rPr>
              <a:t>PURPOSE</a:t>
            </a:r>
          </a:p>
        </p:txBody>
      </p:sp>
      <p:sp>
        <p:nvSpPr>
          <p:cNvPr id="10" name="">
            <a:extLst xmlns:a="http://schemas.openxmlformats.org/drawingml/2006/main">
              <a:ext uri="{FF2B5EF4-FFF2-40B4-BE49-F238E27FC236}">
                <a16:creationId xmlns:a16="http://schemas.microsoft.com/office/drawing/2014/main" id="{3CCAC5C0-A73A-4DFC-83D2-9720B9C760EA}"/>
              </a:ext>
            </a:extLst>
          </p:cNvPr>
          <p:cNvSpPr>
            <a:spLocks xmlns:a="http://schemas.openxmlformats.org/drawingml/2006/main" noGrp="1"/>
          </p:cNvSpPr>
          <p:nvPr/>
        </p:nvSpPr>
        <p:spPr>
          <a:xfrm xmlns:a="http://schemas.openxmlformats.org/drawingml/2006/main">
            <a:off x="9334500" y="2019300"/>
            <a:ext cx="1809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r">
              <a:defRPr sz="900" b="1" i="0">
                <a:solidFill>
                  <a:srgbClr val="536876"/>
                </a:solidFill>
                <a:latin typeface="Aptos"/>
                <a:ea typeface="Aptos"/>
                <a:cs typeface="Aptos"/>
              </a:defRPr>
            </a:defPPr>
          </a:lstStyle>
          <a:p xmlns:a="http://schemas.openxmlformats.org/drawingml/2006/main">
            <a:pPr algn="r">
              <a:lnSpc>
                <a:spcPct val="100000"/>
              </a:lnSpc>
              <a:buNone/>
              <a:defRPr sz="900" b="1" i="0">
                <a:solidFill>
                  <a:srgbClr val="536876"/>
                </a:solidFill>
                <a:latin typeface="Aptos"/>
                <a:ea typeface="Aptos"/>
                <a:cs typeface="Aptos"/>
              </a:defRPr>
            </a:pPr>
            <a:r>
              <a:rPr sz="900" b="1" i="0">
                <a:solidFill>
                  <a:srgbClr val="536876"/>
                </a:solidFill>
                <a:latin typeface="Aptos"/>
                <a:ea typeface="Aptos"/>
                <a:cs typeface="Aptos"/>
              </a:rPr>
              <a:t>SUCCESS</a:t>
            </a:r>
          </a:p>
        </p:txBody>
      </p:sp>
      <p:sp>
        <p:nvSpPr>
          <p:cNvPr id="11" name="">
            <a:extLst xmlns:a="http://schemas.openxmlformats.org/drawingml/2006/main">
              <a:ext uri="{FF2B5EF4-FFF2-40B4-BE49-F238E27FC236}">
                <a16:creationId xmlns:a16="http://schemas.microsoft.com/office/drawing/2014/main" id="{F78EF0D0-BB6B-4034-8B16-EE2B3691ACAE}"/>
              </a:ext>
            </a:extLst>
          </p:cNvPr>
          <p:cNvSpPr>
            <a:spLocks xmlns:a="http://schemas.openxmlformats.org/drawingml/2006/main" noGrp="1"/>
          </p:cNvSpPr>
          <p:nvPr/>
        </p:nvSpPr>
        <p:spPr>
          <a:xfrm xmlns:a="http://schemas.openxmlformats.org/drawingml/2006/main">
            <a:off x="704850" y="2305050"/>
            <a:ext cx="10782300" cy="552450"/>
          </a:xfrm>
          <a:prstGeom xmlns:a="http://schemas.openxmlformats.org/drawingml/2006/main" prst="rect">
            <a:avLst/>
          </a:prstGeom>
          <a:solidFill xmlns:a="http://schemas.openxmlformats.org/drawingml/2006/main">
            <a:srgbClr val="FFFFFF"/>
          </a:solidFill>
          <a:ln xmlns:a="http://schemas.openxmlformats.org/drawingml/2006/main" w="9525">
            <a:solidFill>
              <a:srgbClr val="CCD9D5"/>
            </a:solidFill>
            <a:prstDash val="solid"/>
          </a:ln>
        </p:spPr>
      </p:sp>
      <p:sp>
        <p:nvSpPr>
          <p:cNvPr id="12" name="">
            <a:extLst xmlns:a="http://schemas.openxmlformats.org/drawingml/2006/main">
              <a:ext uri="{FF2B5EF4-FFF2-40B4-BE49-F238E27FC236}">
                <a16:creationId xmlns:a16="http://schemas.microsoft.com/office/drawing/2014/main" id="{D4ABC74A-6890-43AC-A54F-FA6C38F42088}"/>
              </a:ext>
            </a:extLst>
          </p:cNvPr>
          <p:cNvSpPr>
            <a:spLocks xmlns:a="http://schemas.openxmlformats.org/drawingml/2006/main" noGrp="1"/>
          </p:cNvSpPr>
          <p:nvPr/>
        </p:nvSpPr>
        <p:spPr>
          <a:xfrm xmlns:a="http://schemas.openxmlformats.org/drawingml/2006/main">
            <a:off x="857250" y="2419350"/>
            <a:ext cx="781050" cy="323850"/>
          </a:xfrm>
          <a:prstGeom xmlns:a="http://schemas.openxmlformats.org/drawingml/2006/main" prst="roundRect">
            <a:avLst>
              <a:gd name="adj" fmla="val 35294"/>
            </a:avLst>
          </a:prstGeom>
          <a:solidFill xmlns:a="http://schemas.openxmlformats.org/drawingml/2006/main">
            <a:srgbClr val="087F72"/>
          </a:solidFill>
          <a:ln xmlns:a="http://schemas.openxmlformats.org/drawingml/2006/main" w="0">
            <a:noFill/>
            <a:prstDash val="solid"/>
          </a:ln>
        </p:spPr>
        <p:txBody>
          <a:bodyPr xmlns:a="http://schemas.openxmlformats.org/drawingml/2006/main" lIns="38100" tIns="38100" rIns="38100" bIns="38100" anchor="ctr">
            <a:normAutofit fontScale="100000"/>
          </a:bodyPr>
          <a:lstStyle xmlns:a="http://schemas.openxmlformats.org/drawingml/2006/main">
            <a:defPPr algn="ctr">
              <a:defRPr sz="1050" b="1">
                <a:solidFill>
                  <a:srgbClr val="FFFFFF"/>
                </a:solidFill>
                <a:latin typeface="Aptos"/>
                <a:ea typeface="Aptos"/>
                <a:cs typeface="Aptos"/>
              </a:defRPr>
            </a:defPPr>
          </a:lstStyle>
          <a:p xmlns:a="http://schemas.openxmlformats.org/drawingml/2006/main">
            <a:pPr algn="ctr">
              <a:defRPr sz="1050" b="1">
                <a:solidFill>
                  <a:srgbClr val="FFFFFF"/>
                </a:solidFill>
                <a:latin typeface="Aptos"/>
                <a:ea typeface="Aptos"/>
                <a:cs typeface="Aptos"/>
              </a:defRPr>
            </a:pPr>
            <a:r>
              <a:rPr sz="1050" b="1">
                <a:solidFill>
                  <a:srgbClr val="FFFFFF"/>
                </a:solidFill>
                <a:latin typeface="Aptos"/>
                <a:ea typeface="Aptos"/>
                <a:cs typeface="Aptos"/>
              </a:rPr>
              <a:t>GET</a:t>
            </a:r>
          </a:p>
        </p:txBody>
      </p:sp>
      <p:sp>
        <p:nvSpPr>
          <p:cNvPr id="13" name="">
            <a:extLst xmlns:a="http://schemas.openxmlformats.org/drawingml/2006/main">
              <a:ext uri="{FF2B5EF4-FFF2-40B4-BE49-F238E27FC236}">
                <a16:creationId xmlns:a16="http://schemas.microsoft.com/office/drawing/2014/main" id="{42C7CA23-CBE2-414A-AFF4-7C95C5488586}"/>
              </a:ext>
            </a:extLst>
          </p:cNvPr>
          <p:cNvSpPr>
            <a:spLocks xmlns:a="http://schemas.openxmlformats.org/drawingml/2006/main" noGrp="1"/>
          </p:cNvSpPr>
          <p:nvPr/>
        </p:nvSpPr>
        <p:spPr>
          <a:xfrm xmlns:a="http://schemas.openxmlformats.org/drawingml/2006/main">
            <a:off x="1905000" y="2438400"/>
            <a:ext cx="26860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75" b="1" i="0">
                <a:solidFill>
                  <a:srgbClr val="102333"/>
                </a:solidFill>
                <a:latin typeface="Cascadia Mono"/>
                <a:ea typeface="Cascadia Mono"/>
                <a:cs typeface="Cascadia Mono"/>
              </a:defRPr>
            </a:defPPr>
          </a:lstStyle>
          <a:p xmlns:a="http://schemas.openxmlformats.org/drawingml/2006/main">
            <a:pPr algn="l">
              <a:lnSpc>
                <a:spcPct val="100000"/>
              </a:lnSpc>
              <a:buNone/>
              <a:defRPr sz="1275" b="1" i="0">
                <a:solidFill>
                  <a:srgbClr val="102333"/>
                </a:solidFill>
                <a:latin typeface="Cascadia Mono"/>
                <a:ea typeface="Cascadia Mono"/>
                <a:cs typeface="Cascadia Mono"/>
              </a:defRPr>
            </a:pPr>
            <a:r>
              <a:rPr sz="1275" b="1" i="0">
                <a:solidFill>
                  <a:srgbClr val="102333"/>
                </a:solidFill>
                <a:latin typeface="Cascadia Mono"/>
                <a:ea typeface="Cascadia Mono"/>
                <a:cs typeface="Cascadia Mono"/>
              </a:rPr>
              <a:t>/tasks</a:t>
            </a:r>
          </a:p>
        </p:txBody>
      </p:sp>
      <p:sp>
        <p:nvSpPr>
          <p:cNvPr id="14" name="">
            <a:extLst xmlns:a="http://schemas.openxmlformats.org/drawingml/2006/main">
              <a:ext uri="{FF2B5EF4-FFF2-40B4-BE49-F238E27FC236}">
                <a16:creationId xmlns:a16="http://schemas.microsoft.com/office/drawing/2014/main" id="{FD47BF7B-0E68-4E14-99ED-6949FCB76165}"/>
              </a:ext>
            </a:extLst>
          </p:cNvPr>
          <p:cNvSpPr>
            <a:spLocks xmlns:a="http://schemas.openxmlformats.org/drawingml/2006/main" noGrp="1"/>
          </p:cNvSpPr>
          <p:nvPr/>
        </p:nvSpPr>
        <p:spPr>
          <a:xfrm xmlns:a="http://schemas.openxmlformats.org/drawingml/2006/main">
            <a:off x="4857750" y="2438400"/>
            <a:ext cx="4095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75" b="0" i="0">
                <a:solidFill>
                  <a:srgbClr val="536876"/>
                </a:solidFill>
                <a:latin typeface="Aptos"/>
                <a:ea typeface="Aptos"/>
                <a:cs typeface="Aptos"/>
              </a:defRPr>
            </a:defPPr>
          </a:lstStyle>
          <a:p xmlns:a="http://schemas.openxmlformats.org/drawingml/2006/main">
            <a:pPr algn="l">
              <a:lnSpc>
                <a:spcPct val="100000"/>
              </a:lnSpc>
              <a:buNone/>
              <a:defRPr sz="1275" b="0" i="0">
                <a:solidFill>
                  <a:srgbClr val="536876"/>
                </a:solidFill>
                <a:latin typeface="Aptos"/>
                <a:ea typeface="Aptos"/>
                <a:cs typeface="Aptos"/>
              </a:defRPr>
            </a:pPr>
            <a:r>
              <a:rPr sz="1275" b="0" i="0">
                <a:solidFill>
                  <a:srgbClr val="536876"/>
                </a:solidFill>
                <a:latin typeface="Aptos"/>
                <a:ea typeface="Aptos"/>
                <a:cs typeface="Aptos"/>
              </a:rPr>
              <a:t>List tasks and apply filters</a:t>
            </a:r>
          </a:p>
        </p:txBody>
      </p:sp>
      <p:sp>
        <p:nvSpPr>
          <p:cNvPr id="15" name="">
            <a:extLst xmlns:a="http://schemas.openxmlformats.org/drawingml/2006/main">
              <a:ext uri="{FF2B5EF4-FFF2-40B4-BE49-F238E27FC236}">
                <a16:creationId xmlns:a16="http://schemas.microsoft.com/office/drawing/2014/main" id="{63759961-0FDF-48AF-B519-5561825DB25D}"/>
              </a:ext>
            </a:extLst>
          </p:cNvPr>
          <p:cNvSpPr>
            <a:spLocks xmlns:a="http://schemas.openxmlformats.org/drawingml/2006/main" noGrp="1"/>
          </p:cNvSpPr>
          <p:nvPr/>
        </p:nvSpPr>
        <p:spPr>
          <a:xfrm xmlns:a="http://schemas.openxmlformats.org/drawingml/2006/main">
            <a:off x="9334500" y="2438400"/>
            <a:ext cx="1809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r">
              <a:defRPr sz="1275" b="1" i="0">
                <a:solidFill>
                  <a:srgbClr val="102333"/>
                </a:solidFill>
                <a:latin typeface="Aptos"/>
                <a:ea typeface="Aptos"/>
                <a:cs typeface="Aptos"/>
              </a:defRPr>
            </a:defPPr>
          </a:lstStyle>
          <a:p xmlns:a="http://schemas.openxmlformats.org/drawingml/2006/main">
            <a:pPr algn="r">
              <a:lnSpc>
                <a:spcPct val="100000"/>
              </a:lnSpc>
              <a:buNone/>
              <a:defRPr sz="1275" b="1" i="0">
                <a:solidFill>
                  <a:srgbClr val="102333"/>
                </a:solidFill>
                <a:latin typeface="Aptos"/>
                <a:ea typeface="Aptos"/>
                <a:cs typeface="Aptos"/>
              </a:defRPr>
            </a:pPr>
            <a:r>
              <a:rPr sz="1275" b="1" i="0">
                <a:solidFill>
                  <a:srgbClr val="102333"/>
                </a:solidFill>
                <a:latin typeface="Aptos"/>
                <a:ea typeface="Aptos"/>
                <a:cs typeface="Aptos"/>
              </a:rPr>
              <a:t>200 OK</a:t>
            </a:r>
          </a:p>
        </p:txBody>
      </p:sp>
      <p:sp>
        <p:nvSpPr>
          <p:cNvPr id="16" name="">
            <a:extLst xmlns:a="http://schemas.openxmlformats.org/drawingml/2006/main">
              <a:ext uri="{FF2B5EF4-FFF2-40B4-BE49-F238E27FC236}">
                <a16:creationId xmlns:a16="http://schemas.microsoft.com/office/drawing/2014/main" id="{35A236DA-73CE-4F50-867F-2635AC796F70}"/>
              </a:ext>
            </a:extLst>
          </p:cNvPr>
          <p:cNvSpPr>
            <a:spLocks xmlns:a="http://schemas.openxmlformats.org/drawingml/2006/main" noGrp="1"/>
          </p:cNvSpPr>
          <p:nvPr/>
        </p:nvSpPr>
        <p:spPr>
          <a:xfrm xmlns:a="http://schemas.openxmlformats.org/drawingml/2006/main">
            <a:off x="704850" y="2895600"/>
            <a:ext cx="10782300" cy="552450"/>
          </a:xfrm>
          <a:prstGeom xmlns:a="http://schemas.openxmlformats.org/drawingml/2006/main" prst="rect">
            <a:avLst/>
          </a:prstGeom>
          <a:solidFill xmlns:a="http://schemas.openxmlformats.org/drawingml/2006/main">
            <a:srgbClr val="FFFFFF"/>
          </a:solidFill>
          <a:ln xmlns:a="http://schemas.openxmlformats.org/drawingml/2006/main" w="9525">
            <a:solidFill>
              <a:srgbClr val="CCD9D5"/>
            </a:solidFill>
            <a:prstDash val="solid"/>
          </a:ln>
        </p:spPr>
      </p:sp>
      <p:sp>
        <p:nvSpPr>
          <p:cNvPr id="17" name="">
            <a:extLst xmlns:a="http://schemas.openxmlformats.org/drawingml/2006/main">
              <a:ext uri="{FF2B5EF4-FFF2-40B4-BE49-F238E27FC236}">
                <a16:creationId xmlns:a16="http://schemas.microsoft.com/office/drawing/2014/main" id="{14974E8F-33C9-47B8-9BA7-1562450FF7B8}"/>
              </a:ext>
            </a:extLst>
          </p:cNvPr>
          <p:cNvSpPr>
            <a:spLocks xmlns:a="http://schemas.openxmlformats.org/drawingml/2006/main" noGrp="1"/>
          </p:cNvSpPr>
          <p:nvPr/>
        </p:nvSpPr>
        <p:spPr>
          <a:xfrm xmlns:a="http://schemas.openxmlformats.org/drawingml/2006/main">
            <a:off x="857250" y="3009900"/>
            <a:ext cx="781050" cy="323850"/>
          </a:xfrm>
          <a:prstGeom xmlns:a="http://schemas.openxmlformats.org/drawingml/2006/main" prst="roundRect">
            <a:avLst>
              <a:gd name="adj" fmla="val 35294"/>
            </a:avLst>
          </a:prstGeom>
          <a:solidFill xmlns:a="http://schemas.openxmlformats.org/drawingml/2006/main">
            <a:srgbClr val="EF765E"/>
          </a:solidFill>
          <a:ln xmlns:a="http://schemas.openxmlformats.org/drawingml/2006/main" w="0">
            <a:noFill/>
            <a:prstDash val="solid"/>
          </a:ln>
        </p:spPr>
        <p:txBody>
          <a:bodyPr xmlns:a="http://schemas.openxmlformats.org/drawingml/2006/main" lIns="38100" tIns="38100" rIns="38100" bIns="38100" anchor="ctr">
            <a:normAutofit fontScale="100000"/>
          </a:bodyPr>
          <a:lstStyle xmlns:a="http://schemas.openxmlformats.org/drawingml/2006/main">
            <a:defPPr algn="ctr">
              <a:defRPr sz="1050" b="1">
                <a:solidFill>
                  <a:srgbClr val="FFFFFF"/>
                </a:solidFill>
                <a:latin typeface="Aptos"/>
                <a:ea typeface="Aptos"/>
                <a:cs typeface="Aptos"/>
              </a:defRPr>
            </a:defPPr>
          </a:lstStyle>
          <a:p xmlns:a="http://schemas.openxmlformats.org/drawingml/2006/main">
            <a:pPr algn="ctr">
              <a:defRPr sz="1050" b="1">
                <a:solidFill>
                  <a:srgbClr val="FFFFFF"/>
                </a:solidFill>
                <a:latin typeface="Aptos"/>
                <a:ea typeface="Aptos"/>
                <a:cs typeface="Aptos"/>
              </a:defRPr>
            </a:pPr>
            <a:r>
              <a:rPr sz="1050" b="1">
                <a:solidFill>
                  <a:srgbClr val="FFFFFF"/>
                </a:solidFill>
                <a:latin typeface="Aptos"/>
                <a:ea typeface="Aptos"/>
                <a:cs typeface="Aptos"/>
              </a:rPr>
              <a:t>POST</a:t>
            </a:r>
          </a:p>
        </p:txBody>
      </p:sp>
      <p:sp>
        <p:nvSpPr>
          <p:cNvPr id="18" name="">
            <a:extLst xmlns:a="http://schemas.openxmlformats.org/drawingml/2006/main">
              <a:ext uri="{FF2B5EF4-FFF2-40B4-BE49-F238E27FC236}">
                <a16:creationId xmlns:a16="http://schemas.microsoft.com/office/drawing/2014/main" id="{97E8EE4A-C55C-4B6F-82D6-ADE3B2ABF3C4}"/>
              </a:ext>
            </a:extLst>
          </p:cNvPr>
          <p:cNvSpPr>
            <a:spLocks xmlns:a="http://schemas.openxmlformats.org/drawingml/2006/main" noGrp="1"/>
          </p:cNvSpPr>
          <p:nvPr/>
        </p:nvSpPr>
        <p:spPr>
          <a:xfrm xmlns:a="http://schemas.openxmlformats.org/drawingml/2006/main">
            <a:off x="1905000" y="3028950"/>
            <a:ext cx="26860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75" b="1" i="0">
                <a:solidFill>
                  <a:srgbClr val="102333"/>
                </a:solidFill>
                <a:latin typeface="Cascadia Mono"/>
                <a:ea typeface="Cascadia Mono"/>
                <a:cs typeface="Cascadia Mono"/>
              </a:defRPr>
            </a:defPPr>
          </a:lstStyle>
          <a:p xmlns:a="http://schemas.openxmlformats.org/drawingml/2006/main">
            <a:pPr algn="l">
              <a:lnSpc>
                <a:spcPct val="100000"/>
              </a:lnSpc>
              <a:buNone/>
              <a:defRPr sz="1275" b="1" i="0">
                <a:solidFill>
                  <a:srgbClr val="102333"/>
                </a:solidFill>
                <a:latin typeface="Cascadia Mono"/>
                <a:ea typeface="Cascadia Mono"/>
                <a:cs typeface="Cascadia Mono"/>
              </a:defRPr>
            </a:pPr>
            <a:r>
              <a:rPr sz="1275" b="1" i="0">
                <a:solidFill>
                  <a:srgbClr val="102333"/>
                </a:solidFill>
                <a:latin typeface="Cascadia Mono"/>
                <a:ea typeface="Cascadia Mono"/>
                <a:cs typeface="Cascadia Mono"/>
              </a:rPr>
              <a:t>/tasks</a:t>
            </a:r>
          </a:p>
        </p:txBody>
      </p:sp>
      <p:sp>
        <p:nvSpPr>
          <p:cNvPr id="19" name="">
            <a:extLst xmlns:a="http://schemas.openxmlformats.org/drawingml/2006/main">
              <a:ext uri="{FF2B5EF4-FFF2-40B4-BE49-F238E27FC236}">
                <a16:creationId xmlns:a16="http://schemas.microsoft.com/office/drawing/2014/main" id="{C865DB28-3D76-44F0-869A-AD7EB959FC34}"/>
              </a:ext>
            </a:extLst>
          </p:cNvPr>
          <p:cNvSpPr>
            <a:spLocks xmlns:a="http://schemas.openxmlformats.org/drawingml/2006/main" noGrp="1"/>
          </p:cNvSpPr>
          <p:nvPr/>
        </p:nvSpPr>
        <p:spPr>
          <a:xfrm xmlns:a="http://schemas.openxmlformats.org/drawingml/2006/main">
            <a:off x="4857750" y="3028950"/>
            <a:ext cx="4095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75" b="0" i="0">
                <a:solidFill>
                  <a:srgbClr val="536876"/>
                </a:solidFill>
                <a:latin typeface="Aptos"/>
                <a:ea typeface="Aptos"/>
                <a:cs typeface="Aptos"/>
              </a:defRPr>
            </a:defPPr>
          </a:lstStyle>
          <a:p xmlns:a="http://schemas.openxmlformats.org/drawingml/2006/main">
            <a:pPr algn="l">
              <a:lnSpc>
                <a:spcPct val="100000"/>
              </a:lnSpc>
              <a:buNone/>
              <a:defRPr sz="1275" b="0" i="0">
                <a:solidFill>
                  <a:srgbClr val="536876"/>
                </a:solidFill>
                <a:latin typeface="Aptos"/>
                <a:ea typeface="Aptos"/>
                <a:cs typeface="Aptos"/>
              </a:defRPr>
            </a:pPr>
            <a:r>
              <a:rPr sz="1275" b="0" i="0">
                <a:solidFill>
                  <a:srgbClr val="536876"/>
                </a:solidFill>
                <a:latin typeface="Aptos"/>
                <a:ea typeface="Aptos"/>
                <a:cs typeface="Aptos"/>
              </a:rPr>
              <a:t>Create a validated task</a:t>
            </a:r>
          </a:p>
        </p:txBody>
      </p:sp>
      <p:sp>
        <p:nvSpPr>
          <p:cNvPr id="20" name="">
            <a:extLst xmlns:a="http://schemas.openxmlformats.org/drawingml/2006/main">
              <a:ext uri="{FF2B5EF4-FFF2-40B4-BE49-F238E27FC236}">
                <a16:creationId xmlns:a16="http://schemas.microsoft.com/office/drawing/2014/main" id="{2DE96874-CAC9-44C0-A1B6-EB7E66AA15A9}"/>
              </a:ext>
            </a:extLst>
          </p:cNvPr>
          <p:cNvSpPr>
            <a:spLocks xmlns:a="http://schemas.openxmlformats.org/drawingml/2006/main" noGrp="1"/>
          </p:cNvSpPr>
          <p:nvPr/>
        </p:nvSpPr>
        <p:spPr>
          <a:xfrm xmlns:a="http://schemas.openxmlformats.org/drawingml/2006/main">
            <a:off x="9334500" y="3028950"/>
            <a:ext cx="1809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r">
              <a:defRPr sz="1275" b="1" i="0">
                <a:solidFill>
                  <a:srgbClr val="102333"/>
                </a:solidFill>
                <a:latin typeface="Aptos"/>
                <a:ea typeface="Aptos"/>
                <a:cs typeface="Aptos"/>
              </a:defRPr>
            </a:defPPr>
          </a:lstStyle>
          <a:p xmlns:a="http://schemas.openxmlformats.org/drawingml/2006/main">
            <a:pPr algn="r">
              <a:lnSpc>
                <a:spcPct val="100000"/>
              </a:lnSpc>
              <a:buNone/>
              <a:defRPr sz="1275" b="1" i="0">
                <a:solidFill>
                  <a:srgbClr val="102333"/>
                </a:solidFill>
                <a:latin typeface="Aptos"/>
                <a:ea typeface="Aptos"/>
                <a:cs typeface="Aptos"/>
              </a:defRPr>
            </a:pPr>
            <a:r>
              <a:rPr sz="1275" b="1" i="0">
                <a:solidFill>
                  <a:srgbClr val="102333"/>
                </a:solidFill>
                <a:latin typeface="Aptos"/>
                <a:ea typeface="Aptos"/>
                <a:cs typeface="Aptos"/>
              </a:rPr>
              <a:t>201 Created</a:t>
            </a:r>
          </a:p>
        </p:txBody>
      </p:sp>
      <p:sp>
        <p:nvSpPr>
          <p:cNvPr id="21" name="">
            <a:extLst xmlns:a="http://schemas.openxmlformats.org/drawingml/2006/main">
              <a:ext uri="{FF2B5EF4-FFF2-40B4-BE49-F238E27FC236}">
                <a16:creationId xmlns:a16="http://schemas.microsoft.com/office/drawing/2014/main" id="{384C280A-8DAF-4A7A-A8D9-7D5809CAF471}"/>
              </a:ext>
            </a:extLst>
          </p:cNvPr>
          <p:cNvSpPr>
            <a:spLocks xmlns:a="http://schemas.openxmlformats.org/drawingml/2006/main" noGrp="1"/>
          </p:cNvSpPr>
          <p:nvPr/>
        </p:nvSpPr>
        <p:spPr>
          <a:xfrm xmlns:a="http://schemas.openxmlformats.org/drawingml/2006/main">
            <a:off x="704850" y="3486150"/>
            <a:ext cx="10782300" cy="552450"/>
          </a:xfrm>
          <a:prstGeom xmlns:a="http://schemas.openxmlformats.org/drawingml/2006/main" prst="rect">
            <a:avLst/>
          </a:prstGeom>
          <a:solidFill xmlns:a="http://schemas.openxmlformats.org/drawingml/2006/main">
            <a:srgbClr val="FFFFFF"/>
          </a:solidFill>
          <a:ln xmlns:a="http://schemas.openxmlformats.org/drawingml/2006/main" w="9525">
            <a:solidFill>
              <a:srgbClr val="CCD9D5"/>
            </a:solidFill>
            <a:prstDash val="solid"/>
          </a:ln>
        </p:spPr>
      </p:sp>
      <p:sp>
        <p:nvSpPr>
          <p:cNvPr id="22" name="">
            <a:extLst xmlns:a="http://schemas.openxmlformats.org/drawingml/2006/main">
              <a:ext uri="{FF2B5EF4-FFF2-40B4-BE49-F238E27FC236}">
                <a16:creationId xmlns:a16="http://schemas.microsoft.com/office/drawing/2014/main" id="{3069DA0C-C135-427E-B874-3F561453C7E7}"/>
              </a:ext>
            </a:extLst>
          </p:cNvPr>
          <p:cNvSpPr>
            <a:spLocks xmlns:a="http://schemas.openxmlformats.org/drawingml/2006/main" noGrp="1"/>
          </p:cNvSpPr>
          <p:nvPr/>
        </p:nvSpPr>
        <p:spPr>
          <a:xfrm xmlns:a="http://schemas.openxmlformats.org/drawingml/2006/main">
            <a:off x="857250" y="3600450"/>
            <a:ext cx="781050" cy="323850"/>
          </a:xfrm>
          <a:prstGeom xmlns:a="http://schemas.openxmlformats.org/drawingml/2006/main" prst="roundRect">
            <a:avLst>
              <a:gd name="adj" fmla="val 35294"/>
            </a:avLst>
          </a:prstGeom>
          <a:solidFill xmlns:a="http://schemas.openxmlformats.org/drawingml/2006/main">
            <a:srgbClr val="087F72"/>
          </a:solidFill>
          <a:ln xmlns:a="http://schemas.openxmlformats.org/drawingml/2006/main" w="0">
            <a:noFill/>
            <a:prstDash val="solid"/>
          </a:ln>
        </p:spPr>
        <p:txBody>
          <a:bodyPr xmlns:a="http://schemas.openxmlformats.org/drawingml/2006/main" lIns="38100" tIns="38100" rIns="38100" bIns="38100" anchor="ctr">
            <a:normAutofit fontScale="100000"/>
          </a:bodyPr>
          <a:lstStyle xmlns:a="http://schemas.openxmlformats.org/drawingml/2006/main">
            <a:defPPr algn="ctr">
              <a:defRPr sz="1050" b="1">
                <a:solidFill>
                  <a:srgbClr val="FFFFFF"/>
                </a:solidFill>
                <a:latin typeface="Aptos"/>
                <a:ea typeface="Aptos"/>
                <a:cs typeface="Aptos"/>
              </a:defRPr>
            </a:defPPr>
          </a:lstStyle>
          <a:p xmlns:a="http://schemas.openxmlformats.org/drawingml/2006/main">
            <a:pPr algn="ctr">
              <a:defRPr sz="1050" b="1">
                <a:solidFill>
                  <a:srgbClr val="FFFFFF"/>
                </a:solidFill>
                <a:latin typeface="Aptos"/>
                <a:ea typeface="Aptos"/>
                <a:cs typeface="Aptos"/>
              </a:defRPr>
            </a:pPr>
            <a:r>
              <a:rPr sz="1050" b="1">
                <a:solidFill>
                  <a:srgbClr val="FFFFFF"/>
                </a:solidFill>
                <a:latin typeface="Aptos"/>
                <a:ea typeface="Aptos"/>
                <a:cs typeface="Aptos"/>
              </a:rPr>
              <a:t>GET</a:t>
            </a:r>
          </a:p>
        </p:txBody>
      </p:sp>
      <p:sp>
        <p:nvSpPr>
          <p:cNvPr id="23" name="">
            <a:extLst xmlns:a="http://schemas.openxmlformats.org/drawingml/2006/main">
              <a:ext uri="{FF2B5EF4-FFF2-40B4-BE49-F238E27FC236}">
                <a16:creationId xmlns:a16="http://schemas.microsoft.com/office/drawing/2014/main" id="{DFD20CF4-1E8C-41DE-9656-8974D2844714}"/>
              </a:ext>
            </a:extLst>
          </p:cNvPr>
          <p:cNvSpPr>
            <a:spLocks xmlns:a="http://schemas.openxmlformats.org/drawingml/2006/main" noGrp="1"/>
          </p:cNvSpPr>
          <p:nvPr/>
        </p:nvSpPr>
        <p:spPr>
          <a:xfrm xmlns:a="http://schemas.openxmlformats.org/drawingml/2006/main">
            <a:off x="1905000" y="3619500"/>
            <a:ext cx="26860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75" b="1" i="0">
                <a:solidFill>
                  <a:srgbClr val="102333"/>
                </a:solidFill>
                <a:latin typeface="Cascadia Mono"/>
                <a:ea typeface="Cascadia Mono"/>
                <a:cs typeface="Cascadia Mono"/>
              </a:defRPr>
            </a:defPPr>
          </a:lstStyle>
          <a:p xmlns:a="http://schemas.openxmlformats.org/drawingml/2006/main">
            <a:pPr algn="l">
              <a:lnSpc>
                <a:spcPct val="100000"/>
              </a:lnSpc>
              <a:buNone/>
              <a:defRPr sz="1275" b="1" i="0">
                <a:solidFill>
                  <a:srgbClr val="102333"/>
                </a:solidFill>
                <a:latin typeface="Cascadia Mono"/>
                <a:ea typeface="Cascadia Mono"/>
                <a:cs typeface="Cascadia Mono"/>
              </a:defRPr>
            </a:pPr>
            <a:r>
              <a:rPr sz="1275" b="1" i="0">
                <a:solidFill>
                  <a:srgbClr val="102333"/>
                </a:solidFill>
                <a:latin typeface="Cascadia Mono"/>
                <a:ea typeface="Cascadia Mono"/>
                <a:cs typeface="Cascadia Mono"/>
              </a:rPr>
              <a:t>/tasks/{id}</a:t>
            </a:r>
          </a:p>
        </p:txBody>
      </p:sp>
      <p:sp>
        <p:nvSpPr>
          <p:cNvPr id="24" name="">
            <a:extLst xmlns:a="http://schemas.openxmlformats.org/drawingml/2006/main">
              <a:ext uri="{FF2B5EF4-FFF2-40B4-BE49-F238E27FC236}">
                <a16:creationId xmlns:a16="http://schemas.microsoft.com/office/drawing/2014/main" id="{736C008D-F767-469F-BFA6-44B9C9E6C857}"/>
              </a:ext>
            </a:extLst>
          </p:cNvPr>
          <p:cNvSpPr>
            <a:spLocks xmlns:a="http://schemas.openxmlformats.org/drawingml/2006/main" noGrp="1"/>
          </p:cNvSpPr>
          <p:nvPr/>
        </p:nvSpPr>
        <p:spPr>
          <a:xfrm xmlns:a="http://schemas.openxmlformats.org/drawingml/2006/main">
            <a:off x="4857750" y="3619500"/>
            <a:ext cx="4095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75" b="0" i="0">
                <a:solidFill>
                  <a:srgbClr val="536876"/>
                </a:solidFill>
                <a:latin typeface="Aptos"/>
                <a:ea typeface="Aptos"/>
                <a:cs typeface="Aptos"/>
              </a:defRPr>
            </a:defPPr>
          </a:lstStyle>
          <a:p xmlns:a="http://schemas.openxmlformats.org/drawingml/2006/main">
            <a:pPr algn="l">
              <a:lnSpc>
                <a:spcPct val="100000"/>
              </a:lnSpc>
              <a:buNone/>
              <a:defRPr sz="1275" b="0" i="0">
                <a:solidFill>
                  <a:srgbClr val="536876"/>
                </a:solidFill>
                <a:latin typeface="Aptos"/>
                <a:ea typeface="Aptos"/>
                <a:cs typeface="Aptos"/>
              </a:defRPr>
            </a:pPr>
            <a:r>
              <a:rPr sz="1275" b="0" i="0">
                <a:solidFill>
                  <a:srgbClr val="536876"/>
                </a:solidFill>
                <a:latin typeface="Aptos"/>
                <a:ea typeface="Aptos"/>
                <a:cs typeface="Aptos"/>
              </a:rPr>
              <a:t>Read one task</a:t>
            </a:r>
          </a:p>
        </p:txBody>
      </p:sp>
      <p:sp>
        <p:nvSpPr>
          <p:cNvPr id="25" name="">
            <a:extLst xmlns:a="http://schemas.openxmlformats.org/drawingml/2006/main">
              <a:ext uri="{FF2B5EF4-FFF2-40B4-BE49-F238E27FC236}">
                <a16:creationId xmlns:a16="http://schemas.microsoft.com/office/drawing/2014/main" id="{5470E2D3-5BEA-461E-BE32-A347B8CB6974}"/>
              </a:ext>
            </a:extLst>
          </p:cNvPr>
          <p:cNvSpPr>
            <a:spLocks xmlns:a="http://schemas.openxmlformats.org/drawingml/2006/main" noGrp="1"/>
          </p:cNvSpPr>
          <p:nvPr/>
        </p:nvSpPr>
        <p:spPr>
          <a:xfrm xmlns:a="http://schemas.openxmlformats.org/drawingml/2006/main">
            <a:off x="9334500" y="3619500"/>
            <a:ext cx="1809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r">
              <a:defRPr sz="1275" b="1" i="0">
                <a:solidFill>
                  <a:srgbClr val="102333"/>
                </a:solidFill>
                <a:latin typeface="Aptos"/>
                <a:ea typeface="Aptos"/>
                <a:cs typeface="Aptos"/>
              </a:defRPr>
            </a:defPPr>
          </a:lstStyle>
          <a:p xmlns:a="http://schemas.openxmlformats.org/drawingml/2006/main">
            <a:pPr algn="r">
              <a:lnSpc>
                <a:spcPct val="100000"/>
              </a:lnSpc>
              <a:buNone/>
              <a:defRPr sz="1275" b="1" i="0">
                <a:solidFill>
                  <a:srgbClr val="102333"/>
                </a:solidFill>
                <a:latin typeface="Aptos"/>
                <a:ea typeface="Aptos"/>
                <a:cs typeface="Aptos"/>
              </a:defRPr>
            </a:pPr>
            <a:r>
              <a:rPr sz="1275" b="1" i="0">
                <a:solidFill>
                  <a:srgbClr val="102333"/>
                </a:solidFill>
                <a:latin typeface="Aptos"/>
                <a:ea typeface="Aptos"/>
                <a:cs typeface="Aptos"/>
              </a:rPr>
              <a:t>200 OK</a:t>
            </a:r>
          </a:p>
        </p:txBody>
      </p:sp>
      <p:sp>
        <p:nvSpPr>
          <p:cNvPr id="26" name="">
            <a:extLst xmlns:a="http://schemas.openxmlformats.org/drawingml/2006/main">
              <a:ext uri="{FF2B5EF4-FFF2-40B4-BE49-F238E27FC236}">
                <a16:creationId xmlns:a16="http://schemas.microsoft.com/office/drawing/2014/main" id="{31E0B738-4C6D-43E2-8FA0-ED926B9F6B4B}"/>
              </a:ext>
            </a:extLst>
          </p:cNvPr>
          <p:cNvSpPr>
            <a:spLocks xmlns:a="http://schemas.openxmlformats.org/drawingml/2006/main" noGrp="1"/>
          </p:cNvSpPr>
          <p:nvPr/>
        </p:nvSpPr>
        <p:spPr>
          <a:xfrm xmlns:a="http://schemas.openxmlformats.org/drawingml/2006/main">
            <a:off x="704850" y="4076700"/>
            <a:ext cx="10782300" cy="552450"/>
          </a:xfrm>
          <a:prstGeom xmlns:a="http://schemas.openxmlformats.org/drawingml/2006/main" prst="rect">
            <a:avLst/>
          </a:prstGeom>
          <a:solidFill xmlns:a="http://schemas.openxmlformats.org/drawingml/2006/main">
            <a:srgbClr val="FFFFFF"/>
          </a:solidFill>
          <a:ln xmlns:a="http://schemas.openxmlformats.org/drawingml/2006/main" w="9525">
            <a:solidFill>
              <a:srgbClr val="CCD9D5"/>
            </a:solidFill>
            <a:prstDash val="solid"/>
          </a:ln>
        </p:spPr>
      </p:sp>
      <p:sp>
        <p:nvSpPr>
          <p:cNvPr id="27" name="">
            <a:extLst xmlns:a="http://schemas.openxmlformats.org/drawingml/2006/main">
              <a:ext uri="{FF2B5EF4-FFF2-40B4-BE49-F238E27FC236}">
                <a16:creationId xmlns:a16="http://schemas.microsoft.com/office/drawing/2014/main" id="{7B9BE5AE-C07C-4251-B19D-9B149DD9965B}"/>
              </a:ext>
            </a:extLst>
          </p:cNvPr>
          <p:cNvSpPr>
            <a:spLocks xmlns:a="http://schemas.openxmlformats.org/drawingml/2006/main" noGrp="1"/>
          </p:cNvSpPr>
          <p:nvPr/>
        </p:nvSpPr>
        <p:spPr>
          <a:xfrm xmlns:a="http://schemas.openxmlformats.org/drawingml/2006/main">
            <a:off x="857250" y="4191000"/>
            <a:ext cx="781050" cy="323850"/>
          </a:xfrm>
          <a:prstGeom xmlns:a="http://schemas.openxmlformats.org/drawingml/2006/main" prst="roundRect">
            <a:avLst>
              <a:gd name="adj" fmla="val 35294"/>
            </a:avLst>
          </a:prstGeom>
          <a:solidFill xmlns:a="http://schemas.openxmlformats.org/drawingml/2006/main">
            <a:srgbClr val="296A8B"/>
          </a:solidFill>
          <a:ln xmlns:a="http://schemas.openxmlformats.org/drawingml/2006/main" w="0">
            <a:noFill/>
            <a:prstDash val="solid"/>
          </a:ln>
        </p:spPr>
        <p:txBody>
          <a:bodyPr xmlns:a="http://schemas.openxmlformats.org/drawingml/2006/main" lIns="38100" tIns="38100" rIns="38100" bIns="38100" anchor="ctr">
            <a:normAutofit fontScale="100000"/>
          </a:bodyPr>
          <a:lstStyle xmlns:a="http://schemas.openxmlformats.org/drawingml/2006/main">
            <a:defPPr algn="ctr">
              <a:defRPr sz="1050" b="1">
                <a:solidFill>
                  <a:srgbClr val="FFFFFF"/>
                </a:solidFill>
                <a:latin typeface="Aptos"/>
                <a:ea typeface="Aptos"/>
                <a:cs typeface="Aptos"/>
              </a:defRPr>
            </a:defPPr>
          </a:lstStyle>
          <a:p xmlns:a="http://schemas.openxmlformats.org/drawingml/2006/main">
            <a:pPr algn="ctr">
              <a:defRPr sz="1050" b="1">
                <a:solidFill>
                  <a:srgbClr val="FFFFFF"/>
                </a:solidFill>
                <a:latin typeface="Aptos"/>
                <a:ea typeface="Aptos"/>
                <a:cs typeface="Aptos"/>
              </a:defRPr>
            </a:pPr>
            <a:r>
              <a:rPr sz="1050" b="1">
                <a:solidFill>
                  <a:srgbClr val="FFFFFF"/>
                </a:solidFill>
                <a:latin typeface="Aptos"/>
                <a:ea typeface="Aptos"/>
                <a:cs typeface="Aptos"/>
              </a:rPr>
              <a:t>PUT</a:t>
            </a:r>
          </a:p>
        </p:txBody>
      </p:sp>
      <p:sp>
        <p:nvSpPr>
          <p:cNvPr id="28" name="">
            <a:extLst xmlns:a="http://schemas.openxmlformats.org/drawingml/2006/main">
              <a:ext uri="{FF2B5EF4-FFF2-40B4-BE49-F238E27FC236}">
                <a16:creationId xmlns:a16="http://schemas.microsoft.com/office/drawing/2014/main" id="{18A507D6-F1C0-4161-9223-ED7178DF542B}"/>
              </a:ext>
            </a:extLst>
          </p:cNvPr>
          <p:cNvSpPr>
            <a:spLocks xmlns:a="http://schemas.openxmlformats.org/drawingml/2006/main" noGrp="1"/>
          </p:cNvSpPr>
          <p:nvPr/>
        </p:nvSpPr>
        <p:spPr>
          <a:xfrm xmlns:a="http://schemas.openxmlformats.org/drawingml/2006/main">
            <a:off x="1905000" y="4210050"/>
            <a:ext cx="26860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75" b="1" i="0">
                <a:solidFill>
                  <a:srgbClr val="102333"/>
                </a:solidFill>
                <a:latin typeface="Cascadia Mono"/>
                <a:ea typeface="Cascadia Mono"/>
                <a:cs typeface="Cascadia Mono"/>
              </a:defRPr>
            </a:defPPr>
          </a:lstStyle>
          <a:p xmlns:a="http://schemas.openxmlformats.org/drawingml/2006/main">
            <a:pPr algn="l">
              <a:lnSpc>
                <a:spcPct val="100000"/>
              </a:lnSpc>
              <a:buNone/>
              <a:defRPr sz="1275" b="1" i="0">
                <a:solidFill>
                  <a:srgbClr val="102333"/>
                </a:solidFill>
                <a:latin typeface="Cascadia Mono"/>
                <a:ea typeface="Cascadia Mono"/>
                <a:cs typeface="Cascadia Mono"/>
              </a:defRPr>
            </a:pPr>
            <a:r>
              <a:rPr sz="1275" b="1" i="0">
                <a:solidFill>
                  <a:srgbClr val="102333"/>
                </a:solidFill>
                <a:latin typeface="Cascadia Mono"/>
                <a:ea typeface="Cascadia Mono"/>
                <a:cs typeface="Cascadia Mono"/>
              </a:rPr>
              <a:t>/tasks/{id}</a:t>
            </a:r>
          </a:p>
        </p:txBody>
      </p:sp>
      <p:sp>
        <p:nvSpPr>
          <p:cNvPr id="29" name="">
            <a:extLst xmlns:a="http://schemas.openxmlformats.org/drawingml/2006/main">
              <a:ext uri="{FF2B5EF4-FFF2-40B4-BE49-F238E27FC236}">
                <a16:creationId xmlns:a16="http://schemas.microsoft.com/office/drawing/2014/main" id="{A82C0BD9-BB86-478B-9FCE-C2FCC4C2CCBB}"/>
              </a:ext>
            </a:extLst>
          </p:cNvPr>
          <p:cNvSpPr>
            <a:spLocks xmlns:a="http://schemas.openxmlformats.org/drawingml/2006/main" noGrp="1"/>
          </p:cNvSpPr>
          <p:nvPr/>
        </p:nvSpPr>
        <p:spPr>
          <a:xfrm xmlns:a="http://schemas.openxmlformats.org/drawingml/2006/main">
            <a:off x="4857750" y="4210050"/>
            <a:ext cx="4095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75" b="0" i="0">
                <a:solidFill>
                  <a:srgbClr val="536876"/>
                </a:solidFill>
                <a:latin typeface="Aptos"/>
                <a:ea typeface="Aptos"/>
                <a:cs typeface="Aptos"/>
              </a:defRPr>
            </a:defPPr>
          </a:lstStyle>
          <a:p xmlns:a="http://schemas.openxmlformats.org/drawingml/2006/main">
            <a:pPr algn="l">
              <a:lnSpc>
                <a:spcPct val="100000"/>
              </a:lnSpc>
              <a:buNone/>
              <a:defRPr sz="1275" b="0" i="0">
                <a:solidFill>
                  <a:srgbClr val="536876"/>
                </a:solidFill>
                <a:latin typeface="Aptos"/>
                <a:ea typeface="Aptos"/>
                <a:cs typeface="Aptos"/>
              </a:defRPr>
            </a:pPr>
            <a:r>
              <a:rPr sz="1275" b="0" i="0">
                <a:solidFill>
                  <a:srgbClr val="536876"/>
                </a:solidFill>
                <a:latin typeface="Aptos"/>
                <a:ea typeface="Aptos"/>
                <a:cs typeface="Aptos"/>
              </a:rPr>
              <a:t>Replace editable fields</a:t>
            </a:r>
          </a:p>
        </p:txBody>
      </p:sp>
      <p:sp>
        <p:nvSpPr>
          <p:cNvPr id="30" name="">
            <a:extLst xmlns:a="http://schemas.openxmlformats.org/drawingml/2006/main">
              <a:ext uri="{FF2B5EF4-FFF2-40B4-BE49-F238E27FC236}">
                <a16:creationId xmlns:a16="http://schemas.microsoft.com/office/drawing/2014/main" id="{1A26F8C1-0932-4C4E-938D-02386C9CB104}"/>
              </a:ext>
            </a:extLst>
          </p:cNvPr>
          <p:cNvSpPr>
            <a:spLocks xmlns:a="http://schemas.openxmlformats.org/drawingml/2006/main" noGrp="1"/>
          </p:cNvSpPr>
          <p:nvPr/>
        </p:nvSpPr>
        <p:spPr>
          <a:xfrm xmlns:a="http://schemas.openxmlformats.org/drawingml/2006/main">
            <a:off x="9334500" y="4210050"/>
            <a:ext cx="1809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r">
              <a:defRPr sz="1275" b="1" i="0">
                <a:solidFill>
                  <a:srgbClr val="102333"/>
                </a:solidFill>
                <a:latin typeface="Aptos"/>
                <a:ea typeface="Aptos"/>
                <a:cs typeface="Aptos"/>
              </a:defRPr>
            </a:defPPr>
          </a:lstStyle>
          <a:p xmlns:a="http://schemas.openxmlformats.org/drawingml/2006/main">
            <a:pPr algn="r">
              <a:lnSpc>
                <a:spcPct val="100000"/>
              </a:lnSpc>
              <a:buNone/>
              <a:defRPr sz="1275" b="1" i="0">
                <a:solidFill>
                  <a:srgbClr val="102333"/>
                </a:solidFill>
                <a:latin typeface="Aptos"/>
                <a:ea typeface="Aptos"/>
                <a:cs typeface="Aptos"/>
              </a:defRPr>
            </a:pPr>
            <a:r>
              <a:rPr sz="1275" b="1" i="0">
                <a:solidFill>
                  <a:srgbClr val="102333"/>
                </a:solidFill>
                <a:latin typeface="Aptos"/>
                <a:ea typeface="Aptos"/>
                <a:cs typeface="Aptos"/>
              </a:rPr>
              <a:t>200 OK</a:t>
            </a:r>
          </a:p>
        </p:txBody>
      </p:sp>
      <p:sp>
        <p:nvSpPr>
          <p:cNvPr id="31" name="">
            <a:extLst xmlns:a="http://schemas.openxmlformats.org/drawingml/2006/main">
              <a:ext uri="{FF2B5EF4-FFF2-40B4-BE49-F238E27FC236}">
                <a16:creationId xmlns:a16="http://schemas.microsoft.com/office/drawing/2014/main" id="{36379324-41BC-4E13-9683-5FAEE03773FE}"/>
              </a:ext>
            </a:extLst>
          </p:cNvPr>
          <p:cNvSpPr>
            <a:spLocks xmlns:a="http://schemas.openxmlformats.org/drawingml/2006/main" noGrp="1"/>
          </p:cNvSpPr>
          <p:nvPr/>
        </p:nvSpPr>
        <p:spPr>
          <a:xfrm xmlns:a="http://schemas.openxmlformats.org/drawingml/2006/main">
            <a:off x="704850" y="4667250"/>
            <a:ext cx="10782300" cy="552450"/>
          </a:xfrm>
          <a:prstGeom xmlns:a="http://schemas.openxmlformats.org/drawingml/2006/main" prst="rect">
            <a:avLst/>
          </a:prstGeom>
          <a:solidFill xmlns:a="http://schemas.openxmlformats.org/drawingml/2006/main">
            <a:srgbClr val="FFFFFF"/>
          </a:solidFill>
          <a:ln xmlns:a="http://schemas.openxmlformats.org/drawingml/2006/main" w="9525">
            <a:solidFill>
              <a:srgbClr val="CCD9D5"/>
            </a:solidFill>
            <a:prstDash val="solid"/>
          </a:ln>
        </p:spPr>
      </p:sp>
      <p:sp>
        <p:nvSpPr>
          <p:cNvPr id="32" name="">
            <a:extLst xmlns:a="http://schemas.openxmlformats.org/drawingml/2006/main">
              <a:ext uri="{FF2B5EF4-FFF2-40B4-BE49-F238E27FC236}">
                <a16:creationId xmlns:a16="http://schemas.microsoft.com/office/drawing/2014/main" id="{B93B3CB3-901C-4C3D-99E0-8D9EDE1699C1}"/>
              </a:ext>
            </a:extLst>
          </p:cNvPr>
          <p:cNvSpPr>
            <a:spLocks xmlns:a="http://schemas.openxmlformats.org/drawingml/2006/main" noGrp="1"/>
          </p:cNvSpPr>
          <p:nvPr/>
        </p:nvSpPr>
        <p:spPr>
          <a:xfrm xmlns:a="http://schemas.openxmlformats.org/drawingml/2006/main">
            <a:off x="857250" y="4781550"/>
            <a:ext cx="781050" cy="323850"/>
          </a:xfrm>
          <a:prstGeom xmlns:a="http://schemas.openxmlformats.org/drawingml/2006/main" prst="roundRect">
            <a:avLst>
              <a:gd name="adj" fmla="val 35294"/>
            </a:avLst>
          </a:prstGeom>
          <a:solidFill xmlns:a="http://schemas.openxmlformats.org/drawingml/2006/main">
            <a:srgbClr val="102333"/>
          </a:solidFill>
          <a:ln xmlns:a="http://schemas.openxmlformats.org/drawingml/2006/main" w="0">
            <a:noFill/>
            <a:prstDash val="solid"/>
          </a:ln>
        </p:spPr>
        <p:txBody>
          <a:bodyPr xmlns:a="http://schemas.openxmlformats.org/drawingml/2006/main" lIns="38100" tIns="38100" rIns="38100" bIns="38100" anchor="ctr">
            <a:normAutofit fontScale="100000"/>
          </a:bodyPr>
          <a:lstStyle xmlns:a="http://schemas.openxmlformats.org/drawingml/2006/main">
            <a:defPPr algn="ctr">
              <a:defRPr sz="1050" b="1">
                <a:solidFill>
                  <a:srgbClr val="FFFFFF"/>
                </a:solidFill>
                <a:latin typeface="Aptos"/>
                <a:ea typeface="Aptos"/>
                <a:cs typeface="Aptos"/>
              </a:defRPr>
            </a:defPPr>
          </a:lstStyle>
          <a:p xmlns:a="http://schemas.openxmlformats.org/drawingml/2006/main">
            <a:pPr algn="ctr">
              <a:defRPr sz="1050" b="1">
                <a:solidFill>
                  <a:srgbClr val="FFFFFF"/>
                </a:solidFill>
                <a:latin typeface="Aptos"/>
                <a:ea typeface="Aptos"/>
                <a:cs typeface="Aptos"/>
              </a:defRPr>
            </a:pPr>
            <a:r>
              <a:rPr sz="1050" b="1">
                <a:solidFill>
                  <a:srgbClr val="FFFFFF"/>
                </a:solidFill>
                <a:latin typeface="Aptos"/>
                <a:ea typeface="Aptos"/>
                <a:cs typeface="Aptos"/>
              </a:rPr>
              <a:t>DELETE</a:t>
            </a:r>
          </a:p>
        </p:txBody>
      </p:sp>
      <p:sp>
        <p:nvSpPr>
          <p:cNvPr id="33" name="">
            <a:extLst xmlns:a="http://schemas.openxmlformats.org/drawingml/2006/main">
              <a:ext uri="{FF2B5EF4-FFF2-40B4-BE49-F238E27FC236}">
                <a16:creationId xmlns:a16="http://schemas.microsoft.com/office/drawing/2014/main" id="{DF030EF2-0914-46EE-83DC-CB8B4BE96BDD}"/>
              </a:ext>
            </a:extLst>
          </p:cNvPr>
          <p:cNvSpPr>
            <a:spLocks xmlns:a="http://schemas.openxmlformats.org/drawingml/2006/main" noGrp="1"/>
          </p:cNvSpPr>
          <p:nvPr/>
        </p:nvSpPr>
        <p:spPr>
          <a:xfrm xmlns:a="http://schemas.openxmlformats.org/drawingml/2006/main">
            <a:off x="1905000" y="4800600"/>
            <a:ext cx="26860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75" b="1" i="0">
                <a:solidFill>
                  <a:srgbClr val="102333"/>
                </a:solidFill>
                <a:latin typeface="Cascadia Mono"/>
                <a:ea typeface="Cascadia Mono"/>
                <a:cs typeface="Cascadia Mono"/>
              </a:defRPr>
            </a:defPPr>
          </a:lstStyle>
          <a:p xmlns:a="http://schemas.openxmlformats.org/drawingml/2006/main">
            <a:pPr algn="l">
              <a:lnSpc>
                <a:spcPct val="100000"/>
              </a:lnSpc>
              <a:buNone/>
              <a:defRPr sz="1275" b="1" i="0">
                <a:solidFill>
                  <a:srgbClr val="102333"/>
                </a:solidFill>
                <a:latin typeface="Cascadia Mono"/>
                <a:ea typeface="Cascadia Mono"/>
                <a:cs typeface="Cascadia Mono"/>
              </a:defRPr>
            </a:pPr>
            <a:r>
              <a:rPr sz="1275" b="1" i="0">
                <a:solidFill>
                  <a:srgbClr val="102333"/>
                </a:solidFill>
                <a:latin typeface="Cascadia Mono"/>
                <a:ea typeface="Cascadia Mono"/>
                <a:cs typeface="Cascadia Mono"/>
              </a:rPr>
              <a:t>/tasks/{id}</a:t>
            </a:r>
          </a:p>
        </p:txBody>
      </p:sp>
      <p:sp>
        <p:nvSpPr>
          <p:cNvPr id="34" name="">
            <a:extLst xmlns:a="http://schemas.openxmlformats.org/drawingml/2006/main">
              <a:ext uri="{FF2B5EF4-FFF2-40B4-BE49-F238E27FC236}">
                <a16:creationId xmlns:a16="http://schemas.microsoft.com/office/drawing/2014/main" id="{1CACB2C1-A4D2-4727-B467-F1B1E9CDA4E7}"/>
              </a:ext>
            </a:extLst>
          </p:cNvPr>
          <p:cNvSpPr>
            <a:spLocks xmlns:a="http://schemas.openxmlformats.org/drawingml/2006/main" noGrp="1"/>
          </p:cNvSpPr>
          <p:nvPr/>
        </p:nvSpPr>
        <p:spPr>
          <a:xfrm xmlns:a="http://schemas.openxmlformats.org/drawingml/2006/main">
            <a:off x="4857750" y="4800600"/>
            <a:ext cx="4095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75" b="0" i="0">
                <a:solidFill>
                  <a:srgbClr val="536876"/>
                </a:solidFill>
                <a:latin typeface="Aptos"/>
                <a:ea typeface="Aptos"/>
                <a:cs typeface="Aptos"/>
              </a:defRPr>
            </a:defPPr>
          </a:lstStyle>
          <a:p xmlns:a="http://schemas.openxmlformats.org/drawingml/2006/main">
            <a:pPr algn="l">
              <a:lnSpc>
                <a:spcPct val="100000"/>
              </a:lnSpc>
              <a:buNone/>
              <a:defRPr sz="1275" b="0" i="0">
                <a:solidFill>
                  <a:srgbClr val="536876"/>
                </a:solidFill>
                <a:latin typeface="Aptos"/>
                <a:ea typeface="Aptos"/>
                <a:cs typeface="Aptos"/>
              </a:defRPr>
            </a:pPr>
            <a:r>
              <a:rPr sz="1275" b="0" i="0">
                <a:solidFill>
                  <a:srgbClr val="536876"/>
                </a:solidFill>
                <a:latin typeface="Aptos"/>
                <a:ea typeface="Aptos"/>
                <a:cs typeface="Aptos"/>
              </a:rPr>
              <a:t>Remove one task</a:t>
            </a:r>
          </a:p>
        </p:txBody>
      </p:sp>
      <p:sp>
        <p:nvSpPr>
          <p:cNvPr id="35" name="">
            <a:extLst xmlns:a="http://schemas.openxmlformats.org/drawingml/2006/main">
              <a:ext uri="{FF2B5EF4-FFF2-40B4-BE49-F238E27FC236}">
                <a16:creationId xmlns:a16="http://schemas.microsoft.com/office/drawing/2014/main" id="{1FF6FD76-0A31-48B9-9C76-130A4B8AF2EA}"/>
              </a:ext>
            </a:extLst>
          </p:cNvPr>
          <p:cNvSpPr>
            <a:spLocks xmlns:a="http://schemas.openxmlformats.org/drawingml/2006/main" noGrp="1"/>
          </p:cNvSpPr>
          <p:nvPr/>
        </p:nvSpPr>
        <p:spPr>
          <a:xfrm xmlns:a="http://schemas.openxmlformats.org/drawingml/2006/main">
            <a:off x="9334500" y="4800600"/>
            <a:ext cx="1809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r">
              <a:defRPr sz="1275" b="1" i="0">
                <a:solidFill>
                  <a:srgbClr val="102333"/>
                </a:solidFill>
                <a:latin typeface="Aptos"/>
                <a:ea typeface="Aptos"/>
                <a:cs typeface="Aptos"/>
              </a:defRPr>
            </a:defPPr>
          </a:lstStyle>
          <a:p xmlns:a="http://schemas.openxmlformats.org/drawingml/2006/main">
            <a:pPr algn="r">
              <a:lnSpc>
                <a:spcPct val="100000"/>
              </a:lnSpc>
              <a:buNone/>
              <a:defRPr sz="1275" b="1" i="0">
                <a:solidFill>
                  <a:srgbClr val="102333"/>
                </a:solidFill>
                <a:latin typeface="Aptos"/>
                <a:ea typeface="Aptos"/>
                <a:cs typeface="Aptos"/>
              </a:defRPr>
            </a:pPr>
            <a:r>
              <a:rPr sz="1275" b="1" i="0">
                <a:solidFill>
                  <a:srgbClr val="102333"/>
                </a:solidFill>
                <a:latin typeface="Aptos"/>
                <a:ea typeface="Aptos"/>
                <a:cs typeface="Aptos"/>
              </a:rPr>
              <a:t>204 No Content</a:t>
            </a:r>
          </a:p>
        </p:txBody>
      </p:sp>
      <p:sp>
        <p:nvSpPr>
          <p:cNvPr id="36" name="">
            <a:extLst xmlns:a="http://schemas.openxmlformats.org/drawingml/2006/main">
              <a:ext uri="{FF2B5EF4-FFF2-40B4-BE49-F238E27FC236}">
                <a16:creationId xmlns:a16="http://schemas.microsoft.com/office/drawing/2014/main" id="{F9BD6315-32AE-4789-92F6-6104BC1192CB}"/>
              </a:ext>
            </a:extLst>
          </p:cNvPr>
          <p:cNvSpPr>
            <a:spLocks xmlns:a="http://schemas.openxmlformats.org/drawingml/2006/main" noGrp="1"/>
          </p:cNvSpPr>
          <p:nvPr/>
        </p:nvSpPr>
        <p:spPr>
          <a:xfrm xmlns:a="http://schemas.openxmlformats.org/drawingml/2006/main">
            <a:off x="723900" y="5476875"/>
            <a:ext cx="10725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ctr">
              <a:defRPr sz="1350" b="1" i="0">
                <a:solidFill>
                  <a:srgbClr val="055A52"/>
                </a:solidFill>
                <a:latin typeface="Aptos"/>
                <a:ea typeface="Aptos"/>
                <a:cs typeface="Aptos"/>
              </a:defRPr>
            </a:defPPr>
          </a:lstStyle>
          <a:p xmlns:a="http://schemas.openxmlformats.org/drawingml/2006/main">
            <a:pPr algn="ctr">
              <a:lnSpc>
                <a:spcPct val="100000"/>
              </a:lnSpc>
              <a:buNone/>
              <a:defRPr sz="1350" b="1" i="0">
                <a:solidFill>
                  <a:srgbClr val="055A52"/>
                </a:solidFill>
                <a:latin typeface="Aptos"/>
                <a:ea typeface="Aptos"/>
                <a:cs typeface="Aptos"/>
              </a:defRPr>
            </a:pPr>
            <a:r>
              <a:rPr sz="1350" b="1" i="0">
                <a:solidFill>
                  <a:srgbClr val="055A52"/>
                </a:solidFill>
                <a:latin typeface="Aptos"/>
                <a:ea typeface="Aptos"/>
                <a:cs typeface="Aptos"/>
              </a:rPr>
              <a:t>Errors are part of the contract: 404 for a missing task and 422 for invalid input.</a:t>
            </a:r>
          </a:p>
        </p:txBody>
      </p:sp>
    </p:spTree>
    <p:extLst>
      <p:ext uri="{BB962C8B-B14F-4D97-AF65-F5344CB8AC3E}">
        <p14:creationId xmlns:p14="http://schemas.microsoft.com/office/powerpoint/2010/main" val="104056706"/>
      </p:ext>
    </p:extLst>
  </p:cSld>
</p:sld>
</file>

<file path=ppt/slides/slide6.xml><?xml version="1.0" encoding="utf-8"?>
<p:sld xmlns:p="http://schemas.openxmlformats.org/presentationml/2006/main">
  <p:cSld>
    <p:bg>
      <p:bgPr>
        <a:solidFill xmlns:a="http://schemas.openxmlformats.org/drawingml/2006/main">
          <a:srgbClr val="FFFD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7EB410F0-882E-41C5-84B7-D74A57A3C336}"/>
              </a:ext>
            </a:extLst>
          </p:cNvPr>
          <p:cNvSpPr>
            <a:spLocks xmlns:a="http://schemas.openxmlformats.org/drawingml/2006/main" noGrp="1"/>
          </p:cNvSpPr>
          <p:nvPr/>
        </p:nvSpPr>
        <p:spPr>
          <a:xfrm xmlns:a="http://schemas.openxmlformats.org/drawingml/2006/main">
            <a:off x="609600" y="45720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75" b="1" i="0">
                <a:solidFill>
                  <a:srgbClr val="055A52"/>
                </a:solidFill>
                <a:latin typeface="Aptos"/>
                <a:ea typeface="Aptos"/>
                <a:cs typeface="Aptos"/>
              </a:defRPr>
            </a:defPPr>
          </a:lstStyle>
          <a:p xmlns:a="http://schemas.openxmlformats.org/drawingml/2006/main">
            <a:pPr algn="l">
              <a:lnSpc>
                <a:spcPct val="100000"/>
              </a:lnSpc>
              <a:buNone/>
              <a:defRPr sz="975" b="1" i="0">
                <a:solidFill>
                  <a:srgbClr val="055A52"/>
                </a:solidFill>
                <a:latin typeface="Aptos"/>
                <a:ea typeface="Aptos"/>
                <a:cs typeface="Aptos"/>
              </a:defRPr>
            </a:pPr>
            <a:r>
              <a:rPr sz="975" b="1" i="0">
                <a:solidFill>
                  <a:srgbClr val="055A52"/>
                </a:solidFill>
                <a:latin typeface="Aptos"/>
                <a:ea typeface="Aptos"/>
                <a:cs typeface="Aptos"/>
              </a:rPr>
              <a:t>CODE EXAMPLES</a:t>
            </a:r>
          </a:p>
        </p:txBody>
      </p:sp>
      <p:sp>
        <p:nvSpPr>
          <p:cNvPr id="2" name="">
            <a:extLst xmlns:a="http://schemas.openxmlformats.org/drawingml/2006/main">
              <a:ext uri="{FF2B5EF4-FFF2-40B4-BE49-F238E27FC236}">
                <a16:creationId xmlns:a16="http://schemas.microsoft.com/office/drawing/2014/main" id="{D63ABFE5-0711-44E2-BCCD-E2B122880C22}"/>
              </a:ext>
            </a:extLst>
          </p:cNvPr>
          <p:cNvSpPr>
            <a:spLocks xmlns:a="http://schemas.openxmlformats.org/drawingml/2006/main" noGrp="1"/>
          </p:cNvSpPr>
          <p:nvPr/>
        </p:nvSpPr>
        <p:spPr>
          <a:xfrm xmlns:a="http://schemas.openxmlformats.org/drawingml/2006/main">
            <a:off x="609600" y="781050"/>
            <a:ext cx="10668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850" b="1" i="0">
                <a:solidFill>
                  <a:srgbClr val="102333"/>
                </a:solidFill>
                <a:latin typeface="Aptos"/>
                <a:ea typeface="Aptos"/>
                <a:cs typeface="Aptos"/>
              </a:defRPr>
            </a:defPPr>
          </a:lstStyle>
          <a:p xmlns:a="http://schemas.openxmlformats.org/drawingml/2006/main">
            <a:pPr algn="l">
              <a:lnSpc>
                <a:spcPct val="95000"/>
              </a:lnSpc>
              <a:buNone/>
              <a:defRPr sz="2850" b="1" i="0">
                <a:solidFill>
                  <a:srgbClr val="102333"/>
                </a:solidFill>
                <a:latin typeface="Aptos"/>
                <a:ea typeface="Aptos"/>
                <a:cs typeface="Aptos"/>
              </a:defRPr>
            </a:pPr>
            <a:r>
              <a:rPr sz="2850" b="1" i="0">
                <a:solidFill>
                  <a:srgbClr val="102333"/>
                </a:solidFill>
                <a:latin typeface="Aptos"/>
                <a:ea typeface="Aptos"/>
                <a:cs typeface="Aptos"/>
              </a:rPr>
              <a:t>The same idea grows from two lines to a useful route</a:t>
            </a:r>
          </a:p>
        </p:txBody>
      </p:sp>
      <p:sp>
        <p:nvSpPr>
          <p:cNvPr id="3" name="">
            <a:extLst xmlns:a="http://schemas.openxmlformats.org/drawingml/2006/main">
              <a:ext uri="{FF2B5EF4-FFF2-40B4-BE49-F238E27FC236}">
                <a16:creationId xmlns:a16="http://schemas.microsoft.com/office/drawing/2014/main" id="{8DC04CC1-5E39-41C0-8FB3-A654EAB8D334}"/>
              </a:ext>
            </a:extLst>
          </p:cNvPr>
          <p:cNvSpPr>
            <a:spLocks xmlns:a="http://schemas.openxmlformats.org/drawingml/2006/main" noGrp="1"/>
          </p:cNvSpPr>
          <p:nvPr/>
        </p:nvSpPr>
        <p:spPr>
          <a:xfrm xmlns:a="http://schemas.openxmlformats.org/drawingml/2006/main">
            <a:off x="628650" y="1466850"/>
            <a:ext cx="1000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350" b="0" i="0">
                <a:solidFill>
                  <a:srgbClr val="536876"/>
                </a:solidFill>
                <a:latin typeface="Aptos"/>
                <a:ea typeface="Aptos"/>
                <a:cs typeface="Aptos"/>
              </a:defRPr>
            </a:defPPr>
          </a:lstStyle>
          <a:p xmlns:a="http://schemas.openxmlformats.org/drawingml/2006/main">
            <a:pPr algn="l">
              <a:lnSpc>
                <a:spcPct val="100000"/>
              </a:lnSpc>
              <a:buNone/>
              <a:defRPr sz="1350" b="0" i="0">
                <a:solidFill>
                  <a:srgbClr val="536876"/>
                </a:solidFill>
                <a:latin typeface="Aptos"/>
                <a:ea typeface="Aptos"/>
                <a:cs typeface="Aptos"/>
              </a:defRPr>
            </a:pPr>
            <a:r>
              <a:rPr sz="1350" b="0" i="0">
                <a:solidFill>
                  <a:srgbClr val="536876"/>
                </a:solidFill>
                <a:latin typeface="Aptos"/>
                <a:ea typeface="Aptos"/>
                <a:cs typeface="Aptos"/>
              </a:rPr>
              <a:t>FastAPI keeps the route declaration close to the Python function.</a:t>
            </a:r>
          </a:p>
        </p:txBody>
      </p:sp>
      <p:sp>
        <p:nvSpPr>
          <p:cNvPr id="4" name="">
            <a:extLst xmlns:a="http://schemas.openxmlformats.org/drawingml/2006/main">
              <a:ext uri="{FF2B5EF4-FFF2-40B4-BE49-F238E27FC236}">
                <a16:creationId xmlns:a16="http://schemas.microsoft.com/office/drawing/2014/main" id="{C1989758-0607-481C-A906-AB4A17C2FF3C}"/>
              </a:ext>
            </a:extLst>
          </p:cNvPr>
          <p:cNvSpPr>
            <a:spLocks xmlns:a="http://schemas.openxmlformats.org/drawingml/2006/main" noGrp="1"/>
          </p:cNvSpPr>
          <p:nvPr/>
        </p:nvSpPr>
        <p:spPr>
          <a:xfrm xmlns:a="http://schemas.openxmlformats.org/drawingml/2006/main">
            <a:off x="609600" y="6477000"/>
            <a:ext cx="10972800" cy="14288"/>
          </a:xfrm>
          <a:prstGeom xmlns:a="http://schemas.openxmlformats.org/drawingml/2006/main" prst="rect">
            <a:avLst/>
          </a:prstGeom>
          <a:solidFill xmlns:a="http://schemas.openxmlformats.org/drawingml/2006/main">
            <a:srgbClr val="CCD9D5"/>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3B8E2AE9-BD0D-4CF2-A2CE-31786D7CDD97}"/>
              </a:ext>
            </a:extLst>
          </p:cNvPr>
          <p:cNvSpPr>
            <a:spLocks xmlns:a="http://schemas.openxmlformats.org/drawingml/2006/main" noGrp="1"/>
          </p:cNvSpPr>
          <p:nvPr/>
        </p:nvSpPr>
        <p:spPr>
          <a:xfrm xmlns:a="http://schemas.openxmlformats.org/drawingml/2006/main">
            <a:off x="609600" y="655320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825" b="1" i="0">
                <a:solidFill>
                  <a:srgbClr val="536876"/>
                </a:solidFill>
                <a:latin typeface="Aptos"/>
                <a:ea typeface="Aptos"/>
                <a:cs typeface="Aptos"/>
              </a:defRPr>
            </a:defPPr>
          </a:lstStyle>
          <a:p xmlns:a="http://schemas.openxmlformats.org/drawingml/2006/main">
            <a:pPr algn="l">
              <a:lnSpc>
                <a:spcPct val="100000"/>
              </a:lnSpc>
              <a:buNone/>
              <a:defRPr sz="825" b="1" i="0">
                <a:solidFill>
                  <a:srgbClr val="536876"/>
                </a:solidFill>
                <a:latin typeface="Aptos"/>
                <a:ea typeface="Aptos"/>
                <a:cs typeface="Aptos"/>
              </a:defRPr>
            </a:pPr>
            <a:r>
              <a:rPr sz="825" b="1" i="0">
                <a:solidFill>
                  <a:srgbClr val="536876"/>
                </a:solidFill>
                <a:latin typeface="Aptos"/>
                <a:ea typeface="Aptos"/>
                <a:cs typeface="Aptos"/>
              </a:rPr>
              <a:t>COMP10020 · FASTAPI</a:t>
            </a:r>
          </a:p>
        </p:txBody>
      </p:sp>
      <p:sp>
        <p:nvSpPr>
          <p:cNvPr id="6" name="">
            <a:extLst xmlns:a="http://schemas.openxmlformats.org/drawingml/2006/main">
              <a:ext uri="{FF2B5EF4-FFF2-40B4-BE49-F238E27FC236}">
                <a16:creationId xmlns:a16="http://schemas.microsoft.com/office/drawing/2014/main" id="{E06A6753-17D8-4806-9CEF-12A3E86AAA74}"/>
              </a:ext>
            </a:extLst>
          </p:cNvPr>
          <p:cNvSpPr>
            <a:spLocks xmlns:a="http://schemas.openxmlformats.org/drawingml/2006/main" noGrp="1"/>
          </p:cNvSpPr>
          <p:nvPr/>
        </p:nvSpPr>
        <p:spPr>
          <a:xfrm xmlns:a="http://schemas.openxmlformats.org/drawingml/2006/main">
            <a:off x="11049000" y="6543675"/>
            <a:ext cx="533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r">
              <a:defRPr sz="825" b="1" i="0">
                <a:solidFill>
                  <a:srgbClr val="536876"/>
                </a:solidFill>
                <a:latin typeface="Aptos"/>
                <a:ea typeface="Aptos"/>
                <a:cs typeface="Aptos"/>
              </a:defRPr>
            </a:defPPr>
          </a:lstStyle>
          <a:p xmlns:a="http://schemas.openxmlformats.org/drawingml/2006/main">
            <a:pPr algn="r">
              <a:lnSpc>
                <a:spcPct val="100000"/>
              </a:lnSpc>
              <a:buNone/>
              <a:defRPr sz="825" b="1" i="0">
                <a:solidFill>
                  <a:srgbClr val="536876"/>
                </a:solidFill>
                <a:latin typeface="Aptos"/>
                <a:ea typeface="Aptos"/>
                <a:cs typeface="Aptos"/>
              </a:defRPr>
            </a:pPr>
            <a:r>
              <a:rPr sz="825" b="1" i="0">
                <a:solidFill>
                  <a:srgbClr val="536876"/>
                </a:solidFill>
                <a:latin typeface="Aptos"/>
                <a:ea typeface="Aptos"/>
                <a:cs typeface="Aptos"/>
              </a:rPr>
              <a:t>06</a:t>
            </a:r>
          </a:p>
        </p:txBody>
      </p:sp>
      <p:sp>
        <p:nvSpPr>
          <p:cNvPr id="7" name="">
            <a:extLst xmlns:a="http://schemas.openxmlformats.org/drawingml/2006/main">
              <a:ext uri="{FF2B5EF4-FFF2-40B4-BE49-F238E27FC236}">
                <a16:creationId xmlns:a16="http://schemas.microsoft.com/office/drawing/2014/main" id="{2192A11C-6527-4BFA-934A-A7ADC48961A8}"/>
              </a:ext>
            </a:extLst>
          </p:cNvPr>
          <p:cNvSpPr>
            <a:spLocks xmlns:a="http://schemas.openxmlformats.org/drawingml/2006/main" noGrp="1"/>
          </p:cNvSpPr>
          <p:nvPr/>
        </p:nvSpPr>
        <p:spPr>
          <a:xfrm xmlns:a="http://schemas.openxmlformats.org/drawingml/2006/main">
            <a:off x="666750" y="2266950"/>
            <a:ext cx="4762500" cy="2724150"/>
          </a:xfrm>
          <a:prstGeom xmlns:a="http://schemas.openxmlformats.org/drawingml/2006/main" prst="roundRect">
            <a:avLst>
              <a:gd name="adj" fmla="val 4196"/>
            </a:avLst>
          </a:prstGeom>
          <a:solidFill xmlns:a="http://schemas.openxmlformats.org/drawingml/2006/main">
            <a:srgbClr val="0E1C27"/>
          </a:solidFill>
          <a:ln xmlns:a="http://schemas.openxmlformats.org/drawingml/2006/main" w="9525">
            <a:solidFill>
              <a:srgbClr val="263B4B"/>
            </a:solidFill>
            <a:prstDash val="solid"/>
          </a:ln>
        </p:spPr>
      </p:sp>
      <p:sp>
        <p:nvSpPr>
          <p:cNvPr id="8" name="">
            <a:extLst xmlns:a="http://schemas.openxmlformats.org/drawingml/2006/main">
              <a:ext uri="{FF2B5EF4-FFF2-40B4-BE49-F238E27FC236}">
                <a16:creationId xmlns:a16="http://schemas.microsoft.com/office/drawing/2014/main" id="{1D9C20E0-0A81-44CE-99D6-4648D97C6969}"/>
              </a:ext>
            </a:extLst>
          </p:cNvPr>
          <p:cNvSpPr>
            <a:spLocks xmlns:a="http://schemas.openxmlformats.org/drawingml/2006/main" noGrp="1"/>
          </p:cNvSpPr>
          <p:nvPr/>
        </p:nvSpPr>
        <p:spPr>
          <a:xfrm xmlns:a="http://schemas.openxmlformats.org/drawingml/2006/main">
            <a:off x="666750" y="2667000"/>
            <a:ext cx="4762500" cy="9525"/>
          </a:xfrm>
          <a:prstGeom xmlns:a="http://schemas.openxmlformats.org/drawingml/2006/main" prst="rect">
            <a:avLst/>
          </a:prstGeom>
          <a:solidFill xmlns:a="http://schemas.openxmlformats.org/drawingml/2006/main">
            <a:srgbClr val="263B4B"/>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E4AC8CF1-D42C-4AEB-80F9-B5B77CB728BA}"/>
              </a:ext>
            </a:extLst>
          </p:cNvPr>
          <p:cNvSpPr>
            <a:spLocks xmlns:a="http://schemas.openxmlformats.org/drawingml/2006/main" noGrp="1"/>
          </p:cNvSpPr>
          <p:nvPr/>
        </p:nvSpPr>
        <p:spPr>
          <a:xfrm xmlns:a="http://schemas.openxmlformats.org/drawingml/2006/main">
            <a:off x="838200" y="2390775"/>
            <a:ext cx="4419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00" b="1" i="0">
                <a:solidFill>
                  <a:srgbClr val="A8BAC6"/>
                </a:solidFill>
                <a:latin typeface="Cascadia Mono"/>
                <a:ea typeface="Cascadia Mono"/>
                <a:cs typeface="Cascadia Mono"/>
              </a:defRPr>
            </a:defPPr>
          </a:lstStyle>
          <a:p xmlns:a="http://schemas.openxmlformats.org/drawingml/2006/main">
            <a:pPr algn="l">
              <a:lnSpc>
                <a:spcPct val="100000"/>
              </a:lnSpc>
              <a:buNone/>
              <a:defRPr sz="900" b="1" i="0">
                <a:solidFill>
                  <a:srgbClr val="A8BAC6"/>
                </a:solidFill>
                <a:latin typeface="Cascadia Mono"/>
                <a:ea typeface="Cascadia Mono"/>
                <a:cs typeface="Cascadia Mono"/>
              </a:defRPr>
            </a:pPr>
            <a:r>
              <a:rPr sz="900" b="1" i="0">
                <a:solidFill>
                  <a:srgbClr val="A8BAC6"/>
                </a:solidFill>
                <a:latin typeface="Cascadia Mono"/>
                <a:ea typeface="Cascadia Mono"/>
                <a:cs typeface="Cascadia Mono"/>
              </a:rPr>
              <a:t>Step 1 · list tasks</a:t>
            </a:r>
          </a:p>
        </p:txBody>
      </p:sp>
      <p:sp>
        <p:nvSpPr>
          <p:cNvPr id="10" name="">
            <a:extLst xmlns:a="http://schemas.openxmlformats.org/drawingml/2006/main">
              <a:ext uri="{FF2B5EF4-FFF2-40B4-BE49-F238E27FC236}">
                <a16:creationId xmlns:a16="http://schemas.microsoft.com/office/drawing/2014/main" id="{47E1E178-B599-420F-8ECE-6913A7B29CA1}"/>
              </a:ext>
            </a:extLst>
          </p:cNvPr>
          <p:cNvSpPr>
            <a:spLocks xmlns:a="http://schemas.openxmlformats.org/drawingml/2006/main" noGrp="1"/>
          </p:cNvSpPr>
          <p:nvPr/>
        </p:nvSpPr>
        <p:spPr>
          <a:xfrm xmlns:a="http://schemas.openxmlformats.org/drawingml/2006/main">
            <a:off x="876300" y="2819400"/>
            <a:ext cx="4343400" cy="2019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500" b="0" i="0">
                <a:solidFill>
                  <a:srgbClr val="D6E6EF"/>
                </a:solidFill>
                <a:latin typeface="Cascadia Mono"/>
                <a:ea typeface="Cascadia Mono"/>
                <a:cs typeface="Cascadia Mono"/>
              </a:defRPr>
            </a:defPPr>
          </a:lstStyle>
          <a:p xmlns:a="http://schemas.openxmlformats.org/drawingml/2006/main">
            <a:pPr algn="l">
              <a:lnSpc>
                <a:spcPct val="120000"/>
              </a:lnSpc>
              <a:buNone/>
              <a:defRPr sz="1500" b="0" i="0">
                <a:solidFill>
                  <a:srgbClr val="D6E6EF"/>
                </a:solidFill>
                <a:latin typeface="Cascadia Mono"/>
                <a:ea typeface="Cascadia Mono"/>
                <a:cs typeface="Cascadia Mono"/>
              </a:defRPr>
            </a:pPr>
            <a:r>
              <a:rPr sz="1500" b="0" i="0">
                <a:solidFill>
                  <a:srgbClr val="D6E6EF"/>
                </a:solidFill>
                <a:latin typeface="Cascadia Mono"/>
                <a:ea typeface="Cascadia Mono"/>
                <a:cs typeface="Cascadia Mono"/>
              </a:rPr>
              <a:t>@app.get("/tasks")</a:t>
            </a:r>
          </a:p>
          <a:p xmlns:a="http://schemas.openxmlformats.org/drawingml/2006/main">
            <a:pPr algn="l">
              <a:lnSpc>
                <a:spcPct val="120000"/>
              </a:lnSpc>
              <a:buNone/>
              <a:defRPr sz="1500" b="0" i="0">
                <a:solidFill>
                  <a:srgbClr val="D6E6EF"/>
                </a:solidFill>
                <a:latin typeface="Cascadia Mono"/>
                <a:ea typeface="Cascadia Mono"/>
                <a:cs typeface="Cascadia Mono"/>
              </a:defRPr>
            </a:pPr>
            <a:r>
              <a:rPr sz="1500" b="0" i="0">
                <a:solidFill>
                  <a:srgbClr val="D6E6EF"/>
                </a:solidFill>
                <a:latin typeface="Cascadia Mono"/>
                <a:ea typeface="Cascadia Mono"/>
                <a:cs typeface="Cascadia Mono"/>
              </a:rPr>
              <a:t>def list_tasks():</a:t>
            </a:r>
          </a:p>
          <a:p xmlns:a="http://schemas.openxmlformats.org/drawingml/2006/main">
            <a:pPr algn="l">
              <a:lnSpc>
                <a:spcPct val="120000"/>
              </a:lnSpc>
              <a:buNone/>
              <a:defRPr sz="1500" b="0" i="0">
                <a:solidFill>
                  <a:srgbClr val="D6E6EF"/>
                </a:solidFill>
                <a:latin typeface="Cascadia Mono"/>
                <a:ea typeface="Cascadia Mono"/>
                <a:cs typeface="Cascadia Mono"/>
              </a:defRPr>
            </a:pPr>
            <a:r>
              <a:rPr sz="1500" b="0" i="0">
                <a:solidFill>
                  <a:srgbClr val="D6E6EF"/>
                </a:solidFill>
                <a:latin typeface="Cascadia Mono"/>
                <a:ea typeface="Cascadia Mono"/>
                <a:cs typeface="Cascadia Mono"/>
              </a:rPr>
              <a:t>    return repository.list_all()</a:t>
            </a:r>
          </a:p>
        </p:txBody>
      </p:sp>
      <p:sp>
        <p:nvSpPr>
          <p:cNvPr id="11" name="">
            <a:extLst xmlns:a="http://schemas.openxmlformats.org/drawingml/2006/main">
              <a:ext uri="{FF2B5EF4-FFF2-40B4-BE49-F238E27FC236}">
                <a16:creationId xmlns:a16="http://schemas.microsoft.com/office/drawing/2014/main" id="{64CA49C1-6886-450B-BE04-CF4B0695C307}"/>
              </a:ext>
            </a:extLst>
          </p:cNvPr>
          <p:cNvSpPr>
            <a:spLocks xmlns:a="http://schemas.openxmlformats.org/drawingml/2006/main" noGrp="1"/>
          </p:cNvSpPr>
          <p:nvPr/>
        </p:nvSpPr>
        <p:spPr>
          <a:xfrm xmlns:a="http://schemas.openxmlformats.org/drawingml/2006/main">
            <a:off x="6762750" y="2266950"/>
            <a:ext cx="4762500" cy="2724150"/>
          </a:xfrm>
          <a:prstGeom xmlns:a="http://schemas.openxmlformats.org/drawingml/2006/main" prst="roundRect">
            <a:avLst>
              <a:gd name="adj" fmla="val 4196"/>
            </a:avLst>
          </a:prstGeom>
          <a:solidFill xmlns:a="http://schemas.openxmlformats.org/drawingml/2006/main">
            <a:srgbClr val="0E1C27"/>
          </a:solidFill>
          <a:ln xmlns:a="http://schemas.openxmlformats.org/drawingml/2006/main" w="9525">
            <a:solidFill>
              <a:srgbClr val="263B4B"/>
            </a:solidFill>
            <a:prstDash val="solid"/>
          </a:ln>
        </p:spPr>
      </p:sp>
      <p:sp>
        <p:nvSpPr>
          <p:cNvPr id="12" name="">
            <a:extLst xmlns:a="http://schemas.openxmlformats.org/drawingml/2006/main">
              <a:ext uri="{FF2B5EF4-FFF2-40B4-BE49-F238E27FC236}">
                <a16:creationId xmlns:a16="http://schemas.microsoft.com/office/drawing/2014/main" id="{DF8E519F-A3D4-46DF-B01A-53472A9057AE}"/>
              </a:ext>
            </a:extLst>
          </p:cNvPr>
          <p:cNvSpPr>
            <a:spLocks xmlns:a="http://schemas.openxmlformats.org/drawingml/2006/main" noGrp="1"/>
          </p:cNvSpPr>
          <p:nvPr/>
        </p:nvSpPr>
        <p:spPr>
          <a:xfrm xmlns:a="http://schemas.openxmlformats.org/drawingml/2006/main">
            <a:off x="6762750" y="2667000"/>
            <a:ext cx="4762500" cy="9525"/>
          </a:xfrm>
          <a:prstGeom xmlns:a="http://schemas.openxmlformats.org/drawingml/2006/main" prst="rect">
            <a:avLst/>
          </a:prstGeom>
          <a:solidFill xmlns:a="http://schemas.openxmlformats.org/drawingml/2006/main">
            <a:srgbClr val="263B4B"/>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3BEA8747-08B5-4B8D-AE41-1E3D3E3463A0}"/>
              </a:ext>
            </a:extLst>
          </p:cNvPr>
          <p:cNvSpPr>
            <a:spLocks xmlns:a="http://schemas.openxmlformats.org/drawingml/2006/main" noGrp="1"/>
          </p:cNvSpPr>
          <p:nvPr/>
        </p:nvSpPr>
        <p:spPr>
          <a:xfrm xmlns:a="http://schemas.openxmlformats.org/drawingml/2006/main">
            <a:off x="6934200" y="2390775"/>
            <a:ext cx="4419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00" b="1" i="0">
                <a:solidFill>
                  <a:srgbClr val="A8BAC6"/>
                </a:solidFill>
                <a:latin typeface="Cascadia Mono"/>
                <a:ea typeface="Cascadia Mono"/>
                <a:cs typeface="Cascadia Mono"/>
              </a:defRPr>
            </a:defPPr>
          </a:lstStyle>
          <a:p xmlns:a="http://schemas.openxmlformats.org/drawingml/2006/main">
            <a:pPr algn="l">
              <a:lnSpc>
                <a:spcPct val="100000"/>
              </a:lnSpc>
              <a:buNone/>
              <a:defRPr sz="900" b="1" i="0">
                <a:solidFill>
                  <a:srgbClr val="A8BAC6"/>
                </a:solidFill>
                <a:latin typeface="Cascadia Mono"/>
                <a:ea typeface="Cascadia Mono"/>
                <a:cs typeface="Cascadia Mono"/>
              </a:defRPr>
            </a:pPr>
            <a:r>
              <a:rPr sz="900" b="1" i="0">
                <a:solidFill>
                  <a:srgbClr val="A8BAC6"/>
                </a:solidFill>
                <a:latin typeface="Cascadia Mono"/>
                <a:ea typeface="Cascadia Mono"/>
                <a:cs typeface="Cascadia Mono"/>
              </a:rPr>
              <a:t>Step 2 · create a task</a:t>
            </a:r>
          </a:p>
        </p:txBody>
      </p:sp>
      <p:sp>
        <p:nvSpPr>
          <p:cNvPr id="14" name="">
            <a:extLst xmlns:a="http://schemas.openxmlformats.org/drawingml/2006/main">
              <a:ext uri="{FF2B5EF4-FFF2-40B4-BE49-F238E27FC236}">
                <a16:creationId xmlns:a16="http://schemas.microsoft.com/office/drawing/2014/main" id="{D73D29FE-27DE-4080-A6B4-6387FC903EFB}"/>
              </a:ext>
            </a:extLst>
          </p:cNvPr>
          <p:cNvSpPr>
            <a:spLocks xmlns:a="http://schemas.openxmlformats.org/drawingml/2006/main" noGrp="1"/>
          </p:cNvSpPr>
          <p:nvPr/>
        </p:nvSpPr>
        <p:spPr>
          <a:xfrm xmlns:a="http://schemas.openxmlformats.org/drawingml/2006/main">
            <a:off x="6972300" y="2819400"/>
            <a:ext cx="4343400" cy="2019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350" b="0" i="0">
                <a:solidFill>
                  <a:srgbClr val="D6E6EF"/>
                </a:solidFill>
                <a:latin typeface="Cascadia Mono"/>
                <a:ea typeface="Cascadia Mono"/>
                <a:cs typeface="Cascadia Mono"/>
              </a:defRPr>
            </a:defPPr>
          </a:lstStyle>
          <a:p xmlns:a="http://schemas.openxmlformats.org/drawingml/2006/main">
            <a:pPr algn="l">
              <a:lnSpc>
                <a:spcPct val="114000"/>
              </a:lnSpc>
              <a:buNone/>
              <a:defRPr sz="1350" b="0" i="0">
                <a:solidFill>
                  <a:srgbClr val="D6E6EF"/>
                </a:solidFill>
                <a:latin typeface="Cascadia Mono"/>
                <a:ea typeface="Cascadia Mono"/>
                <a:cs typeface="Cascadia Mono"/>
              </a:defRPr>
            </a:pPr>
            <a:r>
              <a:rPr sz="1350" b="0" i="0">
                <a:solidFill>
                  <a:srgbClr val="D6E6EF"/>
                </a:solidFill>
                <a:latin typeface="Cascadia Mono"/>
                <a:ea typeface="Cascadia Mono"/>
                <a:cs typeface="Cascadia Mono"/>
              </a:rPr>
              <a:t>@app.post(</a:t>
            </a:r>
          </a:p>
          <a:p xmlns:a="http://schemas.openxmlformats.org/drawingml/2006/main">
            <a:pPr algn="l">
              <a:lnSpc>
                <a:spcPct val="114000"/>
              </a:lnSpc>
              <a:buNone/>
              <a:defRPr sz="1350" b="0" i="0">
                <a:solidFill>
                  <a:srgbClr val="D6E6EF"/>
                </a:solidFill>
                <a:latin typeface="Cascadia Mono"/>
                <a:ea typeface="Cascadia Mono"/>
                <a:cs typeface="Cascadia Mono"/>
              </a:defRPr>
            </a:pPr>
            <a:r>
              <a:rPr sz="1350" b="0" i="0">
                <a:solidFill>
                  <a:srgbClr val="D6E6EF"/>
                </a:solidFill>
                <a:latin typeface="Cascadia Mono"/>
                <a:ea typeface="Cascadia Mono"/>
                <a:cs typeface="Cascadia Mono"/>
              </a:rPr>
              <a:t>    "/tasks",</a:t>
            </a:r>
          </a:p>
          <a:p xmlns:a="http://schemas.openxmlformats.org/drawingml/2006/main">
            <a:pPr algn="l">
              <a:lnSpc>
                <a:spcPct val="114000"/>
              </a:lnSpc>
              <a:buNone/>
              <a:defRPr sz="1350" b="0" i="0">
                <a:solidFill>
                  <a:srgbClr val="D6E6EF"/>
                </a:solidFill>
                <a:latin typeface="Cascadia Mono"/>
                <a:ea typeface="Cascadia Mono"/>
                <a:cs typeface="Cascadia Mono"/>
              </a:defRPr>
            </a:pPr>
            <a:r>
              <a:rPr sz="1350" b="0" i="0">
                <a:solidFill>
                  <a:srgbClr val="D6E6EF"/>
                </a:solidFill>
                <a:latin typeface="Cascadia Mono"/>
                <a:ea typeface="Cascadia Mono"/>
                <a:cs typeface="Cascadia Mono"/>
              </a:rPr>
              <a:t>    response_model=TaskRead,</a:t>
            </a:r>
          </a:p>
          <a:p xmlns:a="http://schemas.openxmlformats.org/drawingml/2006/main">
            <a:pPr algn="l">
              <a:lnSpc>
                <a:spcPct val="114000"/>
              </a:lnSpc>
              <a:buNone/>
              <a:defRPr sz="1350" b="0" i="0">
                <a:solidFill>
                  <a:srgbClr val="D6E6EF"/>
                </a:solidFill>
                <a:latin typeface="Cascadia Mono"/>
                <a:ea typeface="Cascadia Mono"/>
                <a:cs typeface="Cascadia Mono"/>
              </a:defRPr>
            </a:pPr>
            <a:r>
              <a:rPr sz="1350" b="0" i="0">
                <a:solidFill>
                  <a:srgbClr val="D6E6EF"/>
                </a:solidFill>
                <a:latin typeface="Cascadia Mono"/>
                <a:ea typeface="Cascadia Mono"/>
                <a:cs typeface="Cascadia Mono"/>
              </a:rPr>
              <a:t>    status_code=201,</a:t>
            </a:r>
          </a:p>
          <a:p xmlns:a="http://schemas.openxmlformats.org/drawingml/2006/main">
            <a:pPr algn="l">
              <a:lnSpc>
                <a:spcPct val="114000"/>
              </a:lnSpc>
              <a:buNone/>
              <a:defRPr sz="1350" b="0" i="0">
                <a:solidFill>
                  <a:srgbClr val="D6E6EF"/>
                </a:solidFill>
                <a:latin typeface="Cascadia Mono"/>
                <a:ea typeface="Cascadia Mono"/>
                <a:cs typeface="Cascadia Mono"/>
              </a:defRPr>
            </a:pPr>
            <a:r>
              <a:rPr sz="1350" b="0" i="0">
                <a:solidFill>
                  <a:srgbClr val="D6E6EF"/>
                </a:solidFill>
                <a:latin typeface="Cascadia Mono"/>
                <a:ea typeface="Cascadia Mono"/>
                <a:cs typeface="Cascadia Mono"/>
              </a:rPr>
              <a:t>)</a:t>
            </a:r>
          </a:p>
          <a:p xmlns:a="http://schemas.openxmlformats.org/drawingml/2006/main">
            <a:pPr algn="l">
              <a:lnSpc>
                <a:spcPct val="114000"/>
              </a:lnSpc>
              <a:buNone/>
              <a:defRPr sz="1350" b="0" i="0">
                <a:solidFill>
                  <a:srgbClr val="D6E6EF"/>
                </a:solidFill>
                <a:latin typeface="Cascadia Mono"/>
                <a:ea typeface="Cascadia Mono"/>
                <a:cs typeface="Cascadia Mono"/>
              </a:defRPr>
            </a:pPr>
            <a:r>
              <a:rPr sz="1350" b="0" i="0">
                <a:solidFill>
                  <a:srgbClr val="D6E6EF"/>
                </a:solidFill>
                <a:latin typeface="Cascadia Mono"/>
                <a:ea typeface="Cascadia Mono"/>
                <a:cs typeface="Cascadia Mono"/>
              </a:rPr>
              <a:t>def create_task(data: TaskCreate):</a:t>
            </a:r>
          </a:p>
          <a:p xmlns:a="http://schemas.openxmlformats.org/drawingml/2006/main">
            <a:pPr algn="l">
              <a:lnSpc>
                <a:spcPct val="114000"/>
              </a:lnSpc>
              <a:buNone/>
              <a:defRPr sz="1350" b="0" i="0">
                <a:solidFill>
                  <a:srgbClr val="D6E6EF"/>
                </a:solidFill>
                <a:latin typeface="Cascadia Mono"/>
                <a:ea typeface="Cascadia Mono"/>
                <a:cs typeface="Cascadia Mono"/>
              </a:defRPr>
            </a:pPr>
            <a:r>
              <a:rPr sz="1350" b="0" i="0">
                <a:solidFill>
                  <a:srgbClr val="D6E6EF"/>
                </a:solidFill>
                <a:latin typeface="Cascadia Mono"/>
                <a:ea typeface="Cascadia Mono"/>
                <a:cs typeface="Cascadia Mono"/>
              </a:rPr>
              <a:t>    return repository.create(data)</a:t>
            </a:r>
          </a:p>
        </p:txBody>
      </p:sp>
      <p:sp>
        <p:nvSpPr>
          <p:cNvPr id="15" name="">
            <a:extLst xmlns:a="http://schemas.openxmlformats.org/drawingml/2006/main">
              <a:ext uri="{FF2B5EF4-FFF2-40B4-BE49-F238E27FC236}">
                <a16:creationId xmlns:a16="http://schemas.microsoft.com/office/drawing/2014/main" id="{3D66E3E3-BE26-4070-9AD0-66210B36181F}"/>
              </a:ext>
            </a:extLst>
          </p:cNvPr>
          <p:cNvSpPr>
            <a:spLocks xmlns:a="http://schemas.openxmlformats.org/drawingml/2006/main" noGrp="1"/>
          </p:cNvSpPr>
          <p:nvPr/>
        </p:nvSpPr>
        <p:spPr>
          <a:xfrm xmlns:a="http://schemas.openxmlformats.org/drawingml/2006/main">
            <a:off x="5619750" y="3143250"/>
            <a:ext cx="952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ctr">
              <a:defRPr sz="3450" b="1" i="0">
                <a:solidFill>
                  <a:srgbClr val="EF765E"/>
                </a:solidFill>
                <a:latin typeface="Aptos"/>
                <a:ea typeface="Aptos"/>
                <a:cs typeface="Aptos"/>
              </a:defRPr>
            </a:defPPr>
          </a:lstStyle>
          <a:p xmlns:a="http://schemas.openxmlformats.org/drawingml/2006/main">
            <a:pPr algn="ctr">
              <a:lnSpc>
                <a:spcPct val="100000"/>
              </a:lnSpc>
              <a:buNone/>
              <a:defRPr sz="3450" b="1" i="0">
                <a:solidFill>
                  <a:srgbClr val="EF765E"/>
                </a:solidFill>
                <a:latin typeface="Aptos"/>
                <a:ea typeface="Aptos"/>
                <a:cs typeface="Aptos"/>
              </a:defRPr>
            </a:pPr>
            <a:r>
              <a:rPr sz="3450" b="1" i="0">
                <a:solidFill>
                  <a:srgbClr val="EF765E"/>
                </a:solidFill>
                <a:latin typeface="Aptos"/>
                <a:ea typeface="Aptos"/>
                <a:cs typeface="Aptos"/>
              </a:rPr>
              <a:t>→</a:t>
            </a:r>
          </a:p>
        </p:txBody>
      </p:sp>
      <p:sp>
        <p:nvSpPr>
          <p:cNvPr id="16" name="">
            <a:extLst xmlns:a="http://schemas.openxmlformats.org/drawingml/2006/main">
              <a:ext uri="{FF2B5EF4-FFF2-40B4-BE49-F238E27FC236}">
                <a16:creationId xmlns:a16="http://schemas.microsoft.com/office/drawing/2014/main" id="{AA86C05A-0055-4767-95AE-9D2B88ACE9B7}"/>
              </a:ext>
            </a:extLst>
          </p:cNvPr>
          <p:cNvSpPr>
            <a:spLocks xmlns:a="http://schemas.openxmlformats.org/drawingml/2006/main" noGrp="1"/>
          </p:cNvSpPr>
          <p:nvPr/>
        </p:nvSpPr>
        <p:spPr>
          <a:xfrm xmlns:a="http://schemas.openxmlformats.org/drawingml/2006/main">
            <a:off x="1028700" y="5238750"/>
            <a:ext cx="1619250" cy="361950"/>
          </a:xfrm>
          <a:prstGeom xmlns:a="http://schemas.openxmlformats.org/drawingml/2006/main" prst="roundRect">
            <a:avLst>
              <a:gd name="adj" fmla="val 31579"/>
            </a:avLst>
          </a:prstGeom>
          <a:solidFill xmlns:a="http://schemas.openxmlformats.org/drawingml/2006/main">
            <a:srgbClr val="055A52"/>
          </a:solidFill>
          <a:ln xmlns:a="http://schemas.openxmlformats.org/drawingml/2006/main" w="0">
            <a:noFill/>
            <a:prstDash val="solid"/>
          </a:ln>
        </p:spPr>
        <p:txBody>
          <a:bodyPr xmlns:a="http://schemas.openxmlformats.org/drawingml/2006/main" lIns="38100" tIns="38100" rIns="38100" bIns="38100" anchor="ctr">
            <a:normAutofit fontScale="100000"/>
          </a:bodyPr>
          <a:lstStyle xmlns:a="http://schemas.openxmlformats.org/drawingml/2006/main">
            <a:defPPr algn="ctr">
              <a:defRPr sz="1050" b="1">
                <a:solidFill>
                  <a:srgbClr val="FFFFFF"/>
                </a:solidFill>
                <a:latin typeface="Aptos"/>
                <a:ea typeface="Aptos"/>
                <a:cs typeface="Aptos"/>
              </a:defRPr>
            </a:defPPr>
          </a:lstStyle>
          <a:p xmlns:a="http://schemas.openxmlformats.org/drawingml/2006/main">
            <a:pPr algn="ctr">
              <a:defRPr sz="1050" b="1">
                <a:solidFill>
                  <a:srgbClr val="FFFFFF"/>
                </a:solidFill>
                <a:latin typeface="Aptos"/>
                <a:ea typeface="Aptos"/>
                <a:cs typeface="Aptos"/>
              </a:defRPr>
            </a:pPr>
            <a:r>
              <a:rPr sz="1050" b="1">
                <a:solidFill>
                  <a:srgbClr val="FFFFFF"/>
                </a:solidFill>
                <a:latin typeface="Aptos"/>
                <a:ea typeface="Aptos"/>
                <a:cs typeface="Aptos"/>
              </a:rPr>
              <a:t>PATH + METHOD</a:t>
            </a:r>
          </a:p>
        </p:txBody>
      </p:sp>
      <p:sp>
        <p:nvSpPr>
          <p:cNvPr id="17" name="">
            <a:extLst xmlns:a="http://schemas.openxmlformats.org/drawingml/2006/main">
              <a:ext uri="{FF2B5EF4-FFF2-40B4-BE49-F238E27FC236}">
                <a16:creationId xmlns:a16="http://schemas.microsoft.com/office/drawing/2014/main" id="{69CDAC28-451C-46AF-A1D5-BACC3DE36B52}"/>
              </a:ext>
            </a:extLst>
          </p:cNvPr>
          <p:cNvSpPr>
            <a:spLocks xmlns:a="http://schemas.openxmlformats.org/drawingml/2006/main" noGrp="1"/>
          </p:cNvSpPr>
          <p:nvPr/>
        </p:nvSpPr>
        <p:spPr>
          <a:xfrm xmlns:a="http://schemas.openxmlformats.org/drawingml/2006/main">
            <a:off x="8305800" y="5238750"/>
            <a:ext cx="1695450" cy="361950"/>
          </a:xfrm>
          <a:prstGeom xmlns:a="http://schemas.openxmlformats.org/drawingml/2006/main" prst="roundRect">
            <a:avLst>
              <a:gd name="adj" fmla="val 31579"/>
            </a:avLst>
          </a:prstGeom>
          <a:solidFill xmlns:a="http://schemas.openxmlformats.org/drawingml/2006/main">
            <a:srgbClr val="EF765E"/>
          </a:solidFill>
          <a:ln xmlns:a="http://schemas.openxmlformats.org/drawingml/2006/main" w="0">
            <a:noFill/>
            <a:prstDash val="solid"/>
          </a:ln>
        </p:spPr>
        <p:txBody>
          <a:bodyPr xmlns:a="http://schemas.openxmlformats.org/drawingml/2006/main" lIns="38100" tIns="38100" rIns="38100" bIns="38100" anchor="ctr">
            <a:normAutofit fontScale="100000"/>
          </a:bodyPr>
          <a:lstStyle xmlns:a="http://schemas.openxmlformats.org/drawingml/2006/main">
            <a:defPPr algn="ctr">
              <a:defRPr sz="1050" b="1">
                <a:solidFill>
                  <a:srgbClr val="FFFFFF"/>
                </a:solidFill>
                <a:latin typeface="Aptos"/>
                <a:ea typeface="Aptos"/>
                <a:cs typeface="Aptos"/>
              </a:defRPr>
            </a:defPPr>
          </a:lstStyle>
          <a:p xmlns:a="http://schemas.openxmlformats.org/drawingml/2006/main">
            <a:pPr algn="ctr">
              <a:defRPr sz="1050" b="1">
                <a:solidFill>
                  <a:srgbClr val="FFFFFF"/>
                </a:solidFill>
                <a:latin typeface="Aptos"/>
                <a:ea typeface="Aptos"/>
                <a:cs typeface="Aptos"/>
              </a:defRPr>
            </a:pPr>
            <a:r>
              <a:rPr sz="1050" b="1">
                <a:solidFill>
                  <a:srgbClr val="FFFFFF"/>
                </a:solidFill>
                <a:latin typeface="Aptos"/>
                <a:ea typeface="Aptos"/>
                <a:cs typeface="Aptos"/>
              </a:rPr>
              <a:t>MODEL + STATUS</a:t>
            </a:r>
          </a:p>
        </p:txBody>
      </p:sp>
    </p:spTree>
    <p:extLst>
      <p:ext uri="{BB962C8B-B14F-4D97-AF65-F5344CB8AC3E}">
        <p14:creationId xmlns:p14="http://schemas.microsoft.com/office/powerpoint/2010/main" val="980976531"/>
      </p:ext>
    </p:extLst>
  </p:cSld>
</p:sld>
</file>

<file path=ppt/slides/slide7.xml><?xml version="1.0" encoding="utf-8"?>
<p:sld xmlns:p="http://schemas.openxmlformats.org/presentationml/2006/main">
  <p:cSld>
    <p:bg>
      <p:bgPr>
        <a:solidFill xmlns:a="http://schemas.openxmlformats.org/drawingml/2006/main">
          <a:srgbClr val="FFFD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837049B1-569B-4485-95AD-46F4B303C701}"/>
              </a:ext>
            </a:extLst>
          </p:cNvPr>
          <p:cNvSpPr>
            <a:spLocks xmlns:a="http://schemas.openxmlformats.org/drawingml/2006/main" noGrp="1"/>
          </p:cNvSpPr>
          <p:nvPr/>
        </p:nvSpPr>
        <p:spPr>
          <a:xfrm xmlns:a="http://schemas.openxmlformats.org/drawingml/2006/main">
            <a:off x="609600" y="45720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75" b="1" i="0">
                <a:solidFill>
                  <a:srgbClr val="055A52"/>
                </a:solidFill>
                <a:latin typeface="Aptos"/>
                <a:ea typeface="Aptos"/>
                <a:cs typeface="Aptos"/>
              </a:defRPr>
            </a:defPPr>
          </a:lstStyle>
          <a:p xmlns:a="http://schemas.openxmlformats.org/drawingml/2006/main">
            <a:pPr algn="l">
              <a:lnSpc>
                <a:spcPct val="100000"/>
              </a:lnSpc>
              <a:buNone/>
              <a:defRPr sz="975" b="1" i="0">
                <a:solidFill>
                  <a:srgbClr val="055A52"/>
                </a:solidFill>
                <a:latin typeface="Aptos"/>
                <a:ea typeface="Aptos"/>
                <a:cs typeface="Aptos"/>
              </a:defRPr>
            </a:pPr>
            <a:r>
              <a:rPr sz="975" b="1" i="0">
                <a:solidFill>
                  <a:srgbClr val="055A52"/>
                </a:solidFill>
                <a:latin typeface="Aptos"/>
                <a:ea typeface="Aptos"/>
                <a:cs typeface="Aptos"/>
              </a:rPr>
              <a:t>PYDANTIC VALIDATION</a:t>
            </a:r>
          </a:p>
        </p:txBody>
      </p:sp>
      <p:sp>
        <p:nvSpPr>
          <p:cNvPr id="2" name="">
            <a:extLst xmlns:a="http://schemas.openxmlformats.org/drawingml/2006/main">
              <a:ext uri="{FF2B5EF4-FFF2-40B4-BE49-F238E27FC236}">
                <a16:creationId xmlns:a16="http://schemas.microsoft.com/office/drawing/2014/main" id="{22FA2D9D-7BC2-4E4F-9C02-B5B3ADC44634}"/>
              </a:ext>
            </a:extLst>
          </p:cNvPr>
          <p:cNvSpPr>
            <a:spLocks xmlns:a="http://schemas.openxmlformats.org/drawingml/2006/main" noGrp="1"/>
          </p:cNvSpPr>
          <p:nvPr/>
        </p:nvSpPr>
        <p:spPr>
          <a:xfrm xmlns:a="http://schemas.openxmlformats.org/drawingml/2006/main">
            <a:off x="609600" y="781050"/>
            <a:ext cx="10668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850" b="1" i="0">
                <a:solidFill>
                  <a:srgbClr val="102333"/>
                </a:solidFill>
                <a:latin typeface="Aptos"/>
                <a:ea typeface="Aptos"/>
                <a:cs typeface="Aptos"/>
              </a:defRPr>
            </a:defPPr>
          </a:lstStyle>
          <a:p xmlns:a="http://schemas.openxmlformats.org/drawingml/2006/main">
            <a:pPr algn="l">
              <a:lnSpc>
                <a:spcPct val="95000"/>
              </a:lnSpc>
              <a:buNone/>
              <a:defRPr sz="2850" b="1" i="0">
                <a:solidFill>
                  <a:srgbClr val="102333"/>
                </a:solidFill>
                <a:latin typeface="Aptos"/>
                <a:ea typeface="Aptos"/>
                <a:cs typeface="Aptos"/>
              </a:defRPr>
            </a:pPr>
            <a:r>
              <a:rPr sz="2850" b="1" i="0">
                <a:solidFill>
                  <a:srgbClr val="102333"/>
                </a:solidFill>
                <a:latin typeface="Aptos"/>
                <a:ea typeface="Aptos"/>
                <a:cs typeface="Aptos"/>
              </a:rPr>
              <a:t>Invalid input is rejected before repository code runs</a:t>
            </a:r>
          </a:p>
        </p:txBody>
      </p:sp>
      <p:sp>
        <p:nvSpPr>
          <p:cNvPr id="3" name="">
            <a:extLst xmlns:a="http://schemas.openxmlformats.org/drawingml/2006/main">
              <a:ext uri="{FF2B5EF4-FFF2-40B4-BE49-F238E27FC236}">
                <a16:creationId xmlns:a16="http://schemas.microsoft.com/office/drawing/2014/main" id="{4D4EBB5C-C64E-4428-8004-D57D7A25C86E}"/>
              </a:ext>
            </a:extLst>
          </p:cNvPr>
          <p:cNvSpPr>
            <a:spLocks xmlns:a="http://schemas.openxmlformats.org/drawingml/2006/main" noGrp="1"/>
          </p:cNvSpPr>
          <p:nvPr/>
        </p:nvSpPr>
        <p:spPr>
          <a:xfrm xmlns:a="http://schemas.openxmlformats.org/drawingml/2006/main">
            <a:off x="628650" y="1466850"/>
            <a:ext cx="1000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350" b="0" i="0">
                <a:solidFill>
                  <a:srgbClr val="536876"/>
                </a:solidFill>
                <a:latin typeface="Aptos"/>
                <a:ea typeface="Aptos"/>
                <a:cs typeface="Aptos"/>
              </a:defRPr>
            </a:defPPr>
          </a:lstStyle>
          <a:p xmlns:a="http://schemas.openxmlformats.org/drawingml/2006/main">
            <a:pPr algn="l">
              <a:lnSpc>
                <a:spcPct val="100000"/>
              </a:lnSpc>
              <a:buNone/>
              <a:defRPr sz="1350" b="0" i="0">
                <a:solidFill>
                  <a:srgbClr val="536876"/>
                </a:solidFill>
                <a:latin typeface="Aptos"/>
                <a:ea typeface="Aptos"/>
                <a:cs typeface="Aptos"/>
              </a:defRPr>
            </a:pPr>
            <a:r>
              <a:rPr sz="1350" b="0" i="0">
                <a:solidFill>
                  <a:srgbClr val="536876"/>
                </a:solidFill>
                <a:latin typeface="Aptos"/>
                <a:ea typeface="Aptos"/>
                <a:cs typeface="Aptos"/>
              </a:rPr>
              <a:t>One model supplies field rules and a machine-readable schema.</a:t>
            </a:r>
          </a:p>
        </p:txBody>
      </p:sp>
      <p:sp>
        <p:nvSpPr>
          <p:cNvPr id="4" name="">
            <a:extLst xmlns:a="http://schemas.openxmlformats.org/drawingml/2006/main">
              <a:ext uri="{FF2B5EF4-FFF2-40B4-BE49-F238E27FC236}">
                <a16:creationId xmlns:a16="http://schemas.microsoft.com/office/drawing/2014/main" id="{81011477-0CA0-4795-A8E2-6672EA1C7013}"/>
              </a:ext>
            </a:extLst>
          </p:cNvPr>
          <p:cNvSpPr>
            <a:spLocks xmlns:a="http://schemas.openxmlformats.org/drawingml/2006/main" noGrp="1"/>
          </p:cNvSpPr>
          <p:nvPr/>
        </p:nvSpPr>
        <p:spPr>
          <a:xfrm xmlns:a="http://schemas.openxmlformats.org/drawingml/2006/main">
            <a:off x="609600" y="6477000"/>
            <a:ext cx="10972800" cy="14288"/>
          </a:xfrm>
          <a:prstGeom xmlns:a="http://schemas.openxmlformats.org/drawingml/2006/main" prst="rect">
            <a:avLst/>
          </a:prstGeom>
          <a:solidFill xmlns:a="http://schemas.openxmlformats.org/drawingml/2006/main">
            <a:srgbClr val="CCD9D5"/>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03A7ED50-9442-49F2-BA75-C71D4C76D65A}"/>
              </a:ext>
            </a:extLst>
          </p:cNvPr>
          <p:cNvSpPr>
            <a:spLocks xmlns:a="http://schemas.openxmlformats.org/drawingml/2006/main" noGrp="1"/>
          </p:cNvSpPr>
          <p:nvPr/>
        </p:nvSpPr>
        <p:spPr>
          <a:xfrm xmlns:a="http://schemas.openxmlformats.org/drawingml/2006/main">
            <a:off x="609600" y="655320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825" b="1" i="0">
                <a:solidFill>
                  <a:srgbClr val="536876"/>
                </a:solidFill>
                <a:latin typeface="Aptos"/>
                <a:ea typeface="Aptos"/>
                <a:cs typeface="Aptos"/>
              </a:defRPr>
            </a:defPPr>
          </a:lstStyle>
          <a:p xmlns:a="http://schemas.openxmlformats.org/drawingml/2006/main">
            <a:pPr algn="l">
              <a:lnSpc>
                <a:spcPct val="100000"/>
              </a:lnSpc>
              <a:buNone/>
              <a:defRPr sz="825" b="1" i="0">
                <a:solidFill>
                  <a:srgbClr val="536876"/>
                </a:solidFill>
                <a:latin typeface="Aptos"/>
                <a:ea typeface="Aptos"/>
                <a:cs typeface="Aptos"/>
              </a:defRPr>
            </a:pPr>
            <a:r>
              <a:rPr sz="825" b="1" i="0">
                <a:solidFill>
                  <a:srgbClr val="536876"/>
                </a:solidFill>
                <a:latin typeface="Aptos"/>
                <a:ea typeface="Aptos"/>
                <a:cs typeface="Aptos"/>
              </a:rPr>
              <a:t>COMP10020 · FASTAPI</a:t>
            </a:r>
          </a:p>
        </p:txBody>
      </p:sp>
      <p:sp>
        <p:nvSpPr>
          <p:cNvPr id="6" name="">
            <a:extLst xmlns:a="http://schemas.openxmlformats.org/drawingml/2006/main">
              <a:ext uri="{FF2B5EF4-FFF2-40B4-BE49-F238E27FC236}">
                <a16:creationId xmlns:a16="http://schemas.microsoft.com/office/drawing/2014/main" id="{9562A15A-0ACB-4F83-B916-3FE977411A1D}"/>
              </a:ext>
            </a:extLst>
          </p:cNvPr>
          <p:cNvSpPr>
            <a:spLocks xmlns:a="http://schemas.openxmlformats.org/drawingml/2006/main" noGrp="1"/>
          </p:cNvSpPr>
          <p:nvPr/>
        </p:nvSpPr>
        <p:spPr>
          <a:xfrm xmlns:a="http://schemas.openxmlformats.org/drawingml/2006/main">
            <a:off x="11049000" y="6543675"/>
            <a:ext cx="533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r">
              <a:defRPr sz="825" b="1" i="0">
                <a:solidFill>
                  <a:srgbClr val="536876"/>
                </a:solidFill>
                <a:latin typeface="Aptos"/>
                <a:ea typeface="Aptos"/>
                <a:cs typeface="Aptos"/>
              </a:defRPr>
            </a:defPPr>
          </a:lstStyle>
          <a:p xmlns:a="http://schemas.openxmlformats.org/drawingml/2006/main">
            <a:pPr algn="r">
              <a:lnSpc>
                <a:spcPct val="100000"/>
              </a:lnSpc>
              <a:buNone/>
              <a:defRPr sz="825" b="1" i="0">
                <a:solidFill>
                  <a:srgbClr val="536876"/>
                </a:solidFill>
                <a:latin typeface="Aptos"/>
                <a:ea typeface="Aptos"/>
                <a:cs typeface="Aptos"/>
              </a:defRPr>
            </a:pPr>
            <a:r>
              <a:rPr sz="825" b="1" i="0">
                <a:solidFill>
                  <a:srgbClr val="536876"/>
                </a:solidFill>
                <a:latin typeface="Aptos"/>
                <a:ea typeface="Aptos"/>
                <a:cs typeface="Aptos"/>
              </a:rPr>
              <a:t>07</a:t>
            </a:r>
          </a:p>
        </p:txBody>
      </p:sp>
      <p:sp>
        <p:nvSpPr>
          <p:cNvPr id="7" name="">
            <a:extLst xmlns:a="http://schemas.openxmlformats.org/drawingml/2006/main">
              <a:ext uri="{FF2B5EF4-FFF2-40B4-BE49-F238E27FC236}">
                <a16:creationId xmlns:a16="http://schemas.microsoft.com/office/drawing/2014/main" id="{AF2A03CF-F374-48F7-81D4-8213D16E5B56}"/>
              </a:ext>
            </a:extLst>
          </p:cNvPr>
          <p:cNvSpPr>
            <a:spLocks xmlns:a="http://schemas.openxmlformats.org/drawingml/2006/main" noGrp="1"/>
          </p:cNvSpPr>
          <p:nvPr/>
        </p:nvSpPr>
        <p:spPr>
          <a:xfrm xmlns:a="http://schemas.openxmlformats.org/drawingml/2006/main">
            <a:off x="666750" y="2209800"/>
            <a:ext cx="5429250" cy="3333750"/>
          </a:xfrm>
          <a:prstGeom xmlns:a="http://schemas.openxmlformats.org/drawingml/2006/main" prst="roundRect">
            <a:avLst>
              <a:gd name="adj" fmla="val 3429"/>
            </a:avLst>
          </a:prstGeom>
          <a:solidFill xmlns:a="http://schemas.openxmlformats.org/drawingml/2006/main">
            <a:srgbClr val="0E1C27"/>
          </a:solidFill>
          <a:ln xmlns:a="http://schemas.openxmlformats.org/drawingml/2006/main" w="9525">
            <a:solidFill>
              <a:srgbClr val="263B4B"/>
            </a:solidFill>
            <a:prstDash val="solid"/>
          </a:ln>
        </p:spPr>
      </p:sp>
      <p:sp>
        <p:nvSpPr>
          <p:cNvPr id="8" name="">
            <a:extLst xmlns:a="http://schemas.openxmlformats.org/drawingml/2006/main">
              <a:ext uri="{FF2B5EF4-FFF2-40B4-BE49-F238E27FC236}">
                <a16:creationId xmlns:a16="http://schemas.microsoft.com/office/drawing/2014/main" id="{C9BAEEB8-3207-4887-A3A6-D355216B7D30}"/>
              </a:ext>
            </a:extLst>
          </p:cNvPr>
          <p:cNvSpPr>
            <a:spLocks xmlns:a="http://schemas.openxmlformats.org/drawingml/2006/main" noGrp="1"/>
          </p:cNvSpPr>
          <p:nvPr/>
        </p:nvSpPr>
        <p:spPr>
          <a:xfrm xmlns:a="http://schemas.openxmlformats.org/drawingml/2006/main">
            <a:off x="666750" y="2609850"/>
            <a:ext cx="5429250" cy="9525"/>
          </a:xfrm>
          <a:prstGeom xmlns:a="http://schemas.openxmlformats.org/drawingml/2006/main" prst="rect">
            <a:avLst/>
          </a:prstGeom>
          <a:solidFill xmlns:a="http://schemas.openxmlformats.org/drawingml/2006/main">
            <a:srgbClr val="263B4B"/>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67B4CF61-9918-4293-B643-750F4D191698}"/>
              </a:ext>
            </a:extLst>
          </p:cNvPr>
          <p:cNvSpPr>
            <a:spLocks xmlns:a="http://schemas.openxmlformats.org/drawingml/2006/main" noGrp="1"/>
          </p:cNvSpPr>
          <p:nvPr/>
        </p:nvSpPr>
        <p:spPr>
          <a:xfrm xmlns:a="http://schemas.openxmlformats.org/drawingml/2006/main">
            <a:off x="838200" y="2333625"/>
            <a:ext cx="50863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00" b="1" i="0">
                <a:solidFill>
                  <a:srgbClr val="A8BAC6"/>
                </a:solidFill>
                <a:latin typeface="Cascadia Mono"/>
                <a:ea typeface="Cascadia Mono"/>
                <a:cs typeface="Cascadia Mono"/>
              </a:defRPr>
            </a:defPPr>
          </a:lstStyle>
          <a:p xmlns:a="http://schemas.openxmlformats.org/drawingml/2006/main">
            <a:pPr algn="l">
              <a:lnSpc>
                <a:spcPct val="100000"/>
              </a:lnSpc>
              <a:buNone/>
              <a:defRPr sz="900" b="1" i="0">
                <a:solidFill>
                  <a:srgbClr val="A8BAC6"/>
                </a:solidFill>
                <a:latin typeface="Cascadia Mono"/>
                <a:ea typeface="Cascadia Mono"/>
                <a:cs typeface="Cascadia Mono"/>
              </a:defRPr>
            </a:pPr>
            <a:r>
              <a:rPr sz="900" b="1" i="0">
                <a:solidFill>
                  <a:srgbClr val="A8BAC6"/>
                </a:solidFill>
                <a:latin typeface="Cascadia Mono"/>
                <a:ea typeface="Cascadia Mono"/>
                <a:cs typeface="Cascadia Mono"/>
              </a:rPr>
              <a:t>app/models.py</a:t>
            </a:r>
          </a:p>
        </p:txBody>
      </p:sp>
      <p:sp>
        <p:nvSpPr>
          <p:cNvPr id="10" name="">
            <a:extLst xmlns:a="http://schemas.openxmlformats.org/drawingml/2006/main">
              <a:ext uri="{FF2B5EF4-FFF2-40B4-BE49-F238E27FC236}">
                <a16:creationId xmlns:a16="http://schemas.microsoft.com/office/drawing/2014/main" id="{DC98680A-EF2A-445F-B661-3E974B1C6F23}"/>
              </a:ext>
            </a:extLst>
          </p:cNvPr>
          <p:cNvSpPr>
            <a:spLocks xmlns:a="http://schemas.openxmlformats.org/drawingml/2006/main" noGrp="1"/>
          </p:cNvSpPr>
          <p:nvPr/>
        </p:nvSpPr>
        <p:spPr>
          <a:xfrm xmlns:a="http://schemas.openxmlformats.org/drawingml/2006/main">
            <a:off x="876300" y="2762250"/>
            <a:ext cx="5010150" cy="2628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350" b="0" i="0">
                <a:solidFill>
                  <a:srgbClr val="D6E6EF"/>
                </a:solidFill>
                <a:latin typeface="Cascadia Mono"/>
                <a:ea typeface="Cascadia Mono"/>
                <a:cs typeface="Cascadia Mono"/>
              </a:defRPr>
            </a:defPPr>
          </a:lstStyle>
          <a:p xmlns:a="http://schemas.openxmlformats.org/drawingml/2006/main">
            <a:pPr algn="l">
              <a:lnSpc>
                <a:spcPct val="117000"/>
              </a:lnSpc>
              <a:buNone/>
              <a:defRPr sz="1350" b="0" i="0">
                <a:solidFill>
                  <a:srgbClr val="D6E6EF"/>
                </a:solidFill>
                <a:latin typeface="Cascadia Mono"/>
                <a:ea typeface="Cascadia Mono"/>
                <a:cs typeface="Cascadia Mono"/>
              </a:defRPr>
            </a:pPr>
            <a:r>
              <a:rPr sz="1350" b="0" i="0">
                <a:solidFill>
                  <a:srgbClr val="D6E6EF"/>
                </a:solidFill>
                <a:latin typeface="Cascadia Mono"/>
                <a:ea typeface="Cascadia Mono"/>
                <a:cs typeface="Cascadia Mono"/>
              </a:rPr>
              <a:t>class TaskData(BaseModel):</a:t>
            </a:r>
          </a:p>
          <a:p xmlns:a="http://schemas.openxmlformats.org/drawingml/2006/main">
            <a:pPr algn="l">
              <a:lnSpc>
                <a:spcPct val="117000"/>
              </a:lnSpc>
              <a:buNone/>
              <a:defRPr sz="1350" b="0" i="0">
                <a:solidFill>
                  <a:srgbClr val="D6E6EF"/>
                </a:solidFill>
                <a:latin typeface="Cascadia Mono"/>
                <a:ea typeface="Cascadia Mono"/>
                <a:cs typeface="Cascadia Mono"/>
              </a:defRPr>
            </a:pPr>
            <a:r>
              <a:rPr sz="1350" b="0" i="0">
                <a:solidFill>
                  <a:srgbClr val="D6E6EF"/>
                </a:solidFill>
                <a:latin typeface="Cascadia Mono"/>
                <a:ea typeface="Cascadia Mono"/>
                <a:cs typeface="Cascadia Mono"/>
              </a:rPr>
              <a:t>    title: str = Field(</a:t>
            </a:r>
          </a:p>
          <a:p xmlns:a="http://schemas.openxmlformats.org/drawingml/2006/main">
            <a:pPr algn="l">
              <a:lnSpc>
                <a:spcPct val="117000"/>
              </a:lnSpc>
              <a:buNone/>
              <a:defRPr sz="1350" b="0" i="0">
                <a:solidFill>
                  <a:srgbClr val="D6E6EF"/>
                </a:solidFill>
                <a:latin typeface="Cascadia Mono"/>
                <a:ea typeface="Cascadia Mono"/>
                <a:cs typeface="Cascadia Mono"/>
              </a:defRPr>
            </a:pPr>
            <a:r>
              <a:rPr sz="1350" b="0" i="0">
                <a:solidFill>
                  <a:srgbClr val="D6E6EF"/>
                </a:solidFill>
                <a:latin typeface="Cascadia Mono"/>
                <a:ea typeface="Cascadia Mono"/>
                <a:cs typeface="Cascadia Mono"/>
              </a:rPr>
              <a:t>        min_length=1, max_length=120</a:t>
            </a:r>
          </a:p>
          <a:p xmlns:a="http://schemas.openxmlformats.org/drawingml/2006/main">
            <a:pPr algn="l">
              <a:lnSpc>
                <a:spcPct val="117000"/>
              </a:lnSpc>
              <a:buNone/>
              <a:defRPr sz="1350" b="0" i="0">
                <a:solidFill>
                  <a:srgbClr val="D6E6EF"/>
                </a:solidFill>
                <a:latin typeface="Cascadia Mono"/>
                <a:ea typeface="Cascadia Mono"/>
                <a:cs typeface="Cascadia Mono"/>
              </a:defRPr>
            </a:pPr>
            <a:r>
              <a:rPr sz="1350" b="0" i="0">
                <a:solidFill>
                  <a:srgbClr val="D6E6EF"/>
                </a:solidFill>
                <a:latin typeface="Cascadia Mono"/>
                <a:ea typeface="Cascadia Mono"/>
                <a:cs typeface="Cascadia Mono"/>
              </a:rPr>
              <a:t>    )</a:t>
            </a:r>
          </a:p>
          <a:p xmlns:a="http://schemas.openxmlformats.org/drawingml/2006/main">
            <a:pPr algn="l">
              <a:lnSpc>
                <a:spcPct val="117000"/>
              </a:lnSpc>
              <a:buNone/>
              <a:defRPr sz="1350" b="0" i="0">
                <a:solidFill>
                  <a:srgbClr val="D6E6EF"/>
                </a:solidFill>
                <a:latin typeface="Cascadia Mono"/>
                <a:ea typeface="Cascadia Mono"/>
                <a:cs typeface="Cascadia Mono"/>
              </a:defRPr>
            </a:pPr>
            <a:r>
              <a:rPr sz="1350" b="0" i="0">
                <a:solidFill>
                  <a:srgbClr val="D6E6EF"/>
                </a:solidFill>
                <a:latin typeface="Cascadia Mono"/>
                <a:ea typeface="Cascadia Mono"/>
                <a:cs typeface="Cascadia Mono"/>
              </a:rPr>
              <a:t>    status: TaskStatus = TaskStatus.TODO</a:t>
            </a:r>
          </a:p>
          <a:p xmlns:a="http://schemas.openxmlformats.org/drawingml/2006/main">
            <a:pPr algn="l">
              <a:lnSpc>
                <a:spcPct val="117000"/>
              </a:lnSpc>
              <a:buNone/>
              <a:defRPr sz="1350" b="0" i="0">
                <a:solidFill>
                  <a:srgbClr val="D6E6EF"/>
                </a:solidFill>
                <a:latin typeface="Cascadia Mono"/>
                <a:ea typeface="Cascadia Mono"/>
                <a:cs typeface="Cascadia Mono"/>
              </a:defRPr>
            </a:pPr>
            <a:r>
              <a:rPr sz="1350" b="0" i="0">
                <a:solidFill>
                  <a:srgbClr val="D6E6EF"/>
                </a:solidFill>
                <a:latin typeface="Cascadia Mono"/>
                <a:ea typeface="Cascadia Mono"/>
                <a:cs typeface="Cascadia Mono"/>
              </a:rPr>
              <a:t>    priority: int = Field(</a:t>
            </a:r>
          </a:p>
          <a:p xmlns:a="http://schemas.openxmlformats.org/drawingml/2006/main">
            <a:pPr algn="l">
              <a:lnSpc>
                <a:spcPct val="117000"/>
              </a:lnSpc>
              <a:buNone/>
              <a:defRPr sz="1350" b="0" i="0">
                <a:solidFill>
                  <a:srgbClr val="D6E6EF"/>
                </a:solidFill>
                <a:latin typeface="Cascadia Mono"/>
                <a:ea typeface="Cascadia Mono"/>
                <a:cs typeface="Cascadia Mono"/>
              </a:defRPr>
            </a:pPr>
            <a:r>
              <a:rPr sz="1350" b="0" i="0">
                <a:solidFill>
                  <a:srgbClr val="D6E6EF"/>
                </a:solidFill>
                <a:latin typeface="Cascadia Mono"/>
                <a:ea typeface="Cascadia Mono"/>
                <a:cs typeface="Cascadia Mono"/>
              </a:rPr>
              <a:t>        default=3, ge=1, le=5</a:t>
            </a:r>
          </a:p>
          <a:p xmlns:a="http://schemas.openxmlformats.org/drawingml/2006/main">
            <a:pPr algn="l">
              <a:lnSpc>
                <a:spcPct val="117000"/>
              </a:lnSpc>
              <a:buNone/>
              <a:defRPr sz="1350" b="0" i="0">
                <a:solidFill>
                  <a:srgbClr val="D6E6EF"/>
                </a:solidFill>
                <a:latin typeface="Cascadia Mono"/>
                <a:ea typeface="Cascadia Mono"/>
                <a:cs typeface="Cascadia Mono"/>
              </a:defRPr>
            </a:pPr>
            <a:r>
              <a:rPr sz="1350" b="0" i="0">
                <a:solidFill>
                  <a:srgbClr val="D6E6EF"/>
                </a:solidFill>
                <a:latin typeface="Cascadia Mono"/>
                <a:ea typeface="Cascadia Mono"/>
                <a:cs typeface="Cascadia Mono"/>
              </a:rPr>
              <a:t>    )</a:t>
            </a:r>
          </a:p>
        </p:txBody>
      </p:sp>
      <p:sp>
        <p:nvSpPr>
          <p:cNvPr id="11" name="">
            <a:extLst xmlns:a="http://schemas.openxmlformats.org/drawingml/2006/main">
              <a:ext uri="{FF2B5EF4-FFF2-40B4-BE49-F238E27FC236}">
                <a16:creationId xmlns:a16="http://schemas.microsoft.com/office/drawing/2014/main" id="{0A6B4BDF-DF39-41FC-8F86-727E840E2C36}"/>
              </a:ext>
            </a:extLst>
          </p:cNvPr>
          <p:cNvSpPr>
            <a:spLocks xmlns:a="http://schemas.openxmlformats.org/drawingml/2006/main" noGrp="1"/>
          </p:cNvSpPr>
          <p:nvPr/>
        </p:nvSpPr>
        <p:spPr>
          <a:xfrm xmlns:a="http://schemas.openxmlformats.org/drawingml/2006/main">
            <a:off x="6858000" y="2381250"/>
            <a:ext cx="4381500" cy="1200150"/>
          </a:xfrm>
          <a:prstGeom xmlns:a="http://schemas.openxmlformats.org/drawingml/2006/main" prst="roundRect">
            <a:avLst>
              <a:gd name="adj" fmla="val 9524"/>
            </a:avLst>
          </a:prstGeom>
          <a:solidFill xmlns:a="http://schemas.openxmlformats.org/drawingml/2006/main">
            <a:srgbClr val="FFF1EC"/>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75B5624-EF6C-41D7-BA2B-55039A330589}"/>
              </a:ext>
            </a:extLst>
          </p:cNvPr>
          <p:cNvSpPr>
            <a:spLocks xmlns:a="http://schemas.openxmlformats.org/drawingml/2006/main" noGrp="1"/>
          </p:cNvSpPr>
          <p:nvPr/>
        </p:nvSpPr>
        <p:spPr>
          <a:xfrm xmlns:a="http://schemas.openxmlformats.org/drawingml/2006/main">
            <a:off x="7086600" y="2609850"/>
            <a:ext cx="876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75" b="1" i="0">
                <a:solidFill>
                  <a:srgbClr val="EF765E"/>
                </a:solidFill>
                <a:latin typeface="Aptos"/>
                <a:ea typeface="Aptos"/>
                <a:cs typeface="Aptos"/>
              </a:defRPr>
            </a:defPPr>
          </a:lstStyle>
          <a:p xmlns:a="http://schemas.openxmlformats.org/drawingml/2006/main">
            <a:pPr algn="l">
              <a:lnSpc>
                <a:spcPct val="100000"/>
              </a:lnSpc>
              <a:buNone/>
              <a:defRPr sz="975" b="1" i="0">
                <a:solidFill>
                  <a:srgbClr val="EF765E"/>
                </a:solidFill>
                <a:latin typeface="Aptos"/>
                <a:ea typeface="Aptos"/>
                <a:cs typeface="Aptos"/>
              </a:defRPr>
            </a:pPr>
            <a:r>
              <a:rPr sz="975" b="1" i="0">
                <a:solidFill>
                  <a:srgbClr val="EF765E"/>
                </a:solidFill>
                <a:latin typeface="Aptos"/>
                <a:ea typeface="Aptos"/>
                <a:cs typeface="Aptos"/>
              </a:rPr>
              <a:t>INPUT</a:t>
            </a:r>
          </a:p>
        </p:txBody>
      </p:sp>
      <p:sp>
        <p:nvSpPr>
          <p:cNvPr id="13" name="">
            <a:extLst xmlns:a="http://schemas.openxmlformats.org/drawingml/2006/main">
              <a:ext uri="{FF2B5EF4-FFF2-40B4-BE49-F238E27FC236}">
                <a16:creationId xmlns:a16="http://schemas.microsoft.com/office/drawing/2014/main" id="{7804C019-C1CD-4BF7-BBD9-0A02A7960B30}"/>
              </a:ext>
            </a:extLst>
          </p:cNvPr>
          <p:cNvSpPr>
            <a:spLocks xmlns:a="http://schemas.openxmlformats.org/drawingml/2006/main" noGrp="1"/>
          </p:cNvSpPr>
          <p:nvPr/>
        </p:nvSpPr>
        <p:spPr>
          <a:xfrm xmlns:a="http://schemas.openxmlformats.org/drawingml/2006/main">
            <a:off x="7086600" y="2952750"/>
            <a:ext cx="285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800" b="1" i="0">
                <a:solidFill>
                  <a:srgbClr val="102333"/>
                </a:solidFill>
                <a:latin typeface="Cascadia Mono"/>
                <a:ea typeface="Cascadia Mono"/>
                <a:cs typeface="Cascadia Mono"/>
              </a:defRPr>
            </a:defPPr>
          </a:lstStyle>
          <a:p xmlns:a="http://schemas.openxmlformats.org/drawingml/2006/main">
            <a:pPr algn="l">
              <a:lnSpc>
                <a:spcPct val="100000"/>
              </a:lnSpc>
              <a:buNone/>
              <a:defRPr sz="1800" b="1" i="0">
                <a:solidFill>
                  <a:srgbClr val="102333"/>
                </a:solidFill>
                <a:latin typeface="Cascadia Mono"/>
                <a:ea typeface="Cascadia Mono"/>
                <a:cs typeface="Cascadia Mono"/>
              </a:defRPr>
            </a:pPr>
            <a:r>
              <a:rPr sz="1800" b="1" i="0">
                <a:solidFill>
                  <a:srgbClr val="102333"/>
                </a:solidFill>
                <a:latin typeface="Cascadia Mono"/>
                <a:ea typeface="Cascadia Mono"/>
                <a:cs typeface="Cascadia Mono"/>
              </a:rPr>
              <a:t>"priority": 9</a:t>
            </a:r>
          </a:p>
        </p:txBody>
      </p:sp>
      <p:sp>
        <p:nvSpPr>
          <p:cNvPr id="14" name="">
            <a:extLst xmlns:a="http://schemas.openxmlformats.org/drawingml/2006/main">
              <a:ext uri="{FF2B5EF4-FFF2-40B4-BE49-F238E27FC236}">
                <a16:creationId xmlns:a16="http://schemas.microsoft.com/office/drawing/2014/main" id="{5DF8FE42-DA96-4136-A359-696AF18D806E}"/>
              </a:ext>
            </a:extLst>
          </p:cNvPr>
          <p:cNvSpPr>
            <a:spLocks xmlns:a="http://schemas.openxmlformats.org/drawingml/2006/main" noGrp="1"/>
          </p:cNvSpPr>
          <p:nvPr/>
        </p:nvSpPr>
        <p:spPr>
          <a:xfrm xmlns:a="http://schemas.openxmlformats.org/drawingml/2006/main">
            <a:off x="8572500" y="3695700"/>
            <a:ext cx="762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ctr">
              <a:defRPr sz="2400" b="1" i="0">
                <a:solidFill>
                  <a:srgbClr val="EF765E"/>
                </a:solidFill>
                <a:latin typeface="Aptos"/>
                <a:ea typeface="Aptos"/>
                <a:cs typeface="Aptos"/>
              </a:defRPr>
            </a:defPPr>
          </a:lstStyle>
          <a:p xmlns:a="http://schemas.openxmlformats.org/drawingml/2006/main">
            <a:pPr algn="ctr">
              <a:lnSpc>
                <a:spcPct val="100000"/>
              </a:lnSpc>
              <a:buNone/>
              <a:defRPr sz="2400" b="1" i="0">
                <a:solidFill>
                  <a:srgbClr val="EF765E"/>
                </a:solidFill>
                <a:latin typeface="Aptos"/>
                <a:ea typeface="Aptos"/>
                <a:cs typeface="Aptos"/>
              </a:defRPr>
            </a:pPr>
            <a:r>
              <a:rPr sz="2400" b="1" i="0">
                <a:solidFill>
                  <a:srgbClr val="EF765E"/>
                </a:solidFill>
                <a:latin typeface="Aptos"/>
                <a:ea typeface="Aptos"/>
                <a:cs typeface="Aptos"/>
              </a:rPr>
              <a:t>↓</a:t>
            </a:r>
          </a:p>
        </p:txBody>
      </p:sp>
      <p:sp>
        <p:nvSpPr>
          <p:cNvPr id="15" name="">
            <a:extLst xmlns:a="http://schemas.openxmlformats.org/drawingml/2006/main">
              <a:ext uri="{FF2B5EF4-FFF2-40B4-BE49-F238E27FC236}">
                <a16:creationId xmlns:a16="http://schemas.microsoft.com/office/drawing/2014/main" id="{85D3D6CD-0197-4A54-BE76-1E35D4257D09}"/>
              </a:ext>
            </a:extLst>
          </p:cNvPr>
          <p:cNvSpPr>
            <a:spLocks xmlns:a="http://schemas.openxmlformats.org/drawingml/2006/main" noGrp="1"/>
          </p:cNvSpPr>
          <p:nvPr/>
        </p:nvSpPr>
        <p:spPr>
          <a:xfrm xmlns:a="http://schemas.openxmlformats.org/drawingml/2006/main">
            <a:off x="6858000" y="4248150"/>
            <a:ext cx="4381500" cy="1295400"/>
          </a:xfrm>
          <a:prstGeom xmlns:a="http://schemas.openxmlformats.org/drawingml/2006/main" prst="roundRect">
            <a:avLst>
              <a:gd name="adj" fmla="val 8824"/>
            </a:avLst>
          </a:prstGeom>
          <a:solidFill xmlns:a="http://schemas.openxmlformats.org/drawingml/2006/main">
            <a:srgbClr val="0E1C27"/>
          </a:solidFill>
          <a:ln xmlns:a="http://schemas.openxmlformats.org/drawingml/2006/main" w="9525">
            <a:solidFill>
              <a:srgbClr val="263B4B"/>
            </a:solidFill>
            <a:prstDash val="solid"/>
          </a:ln>
        </p:spPr>
      </p:sp>
      <p:sp>
        <p:nvSpPr>
          <p:cNvPr id="16" name="">
            <a:extLst xmlns:a="http://schemas.openxmlformats.org/drawingml/2006/main">
              <a:ext uri="{FF2B5EF4-FFF2-40B4-BE49-F238E27FC236}">
                <a16:creationId xmlns:a16="http://schemas.microsoft.com/office/drawing/2014/main" id="{62960596-11F4-461E-9E02-4EC5D786E711}"/>
              </a:ext>
            </a:extLst>
          </p:cNvPr>
          <p:cNvSpPr>
            <a:spLocks xmlns:a="http://schemas.openxmlformats.org/drawingml/2006/main" noGrp="1"/>
          </p:cNvSpPr>
          <p:nvPr/>
        </p:nvSpPr>
        <p:spPr>
          <a:xfrm xmlns:a="http://schemas.openxmlformats.org/drawingml/2006/main">
            <a:off x="7086600" y="4476750"/>
            <a:ext cx="381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75" b="1" i="0">
                <a:solidFill>
                  <a:srgbClr val="8DE2BD"/>
                </a:solidFill>
                <a:latin typeface="Aptos"/>
                <a:ea typeface="Aptos"/>
                <a:cs typeface="Aptos"/>
              </a:defRPr>
            </a:defPPr>
          </a:lstStyle>
          <a:p xmlns:a="http://schemas.openxmlformats.org/drawingml/2006/main">
            <a:pPr algn="l">
              <a:lnSpc>
                <a:spcPct val="100000"/>
              </a:lnSpc>
              <a:buNone/>
              <a:defRPr sz="1275" b="1" i="0">
                <a:solidFill>
                  <a:srgbClr val="8DE2BD"/>
                </a:solidFill>
                <a:latin typeface="Aptos"/>
                <a:ea typeface="Aptos"/>
                <a:cs typeface="Aptos"/>
              </a:defRPr>
            </a:pPr>
            <a:r>
              <a:rPr sz="1275" b="1" i="0">
                <a:solidFill>
                  <a:srgbClr val="8DE2BD"/>
                </a:solidFill>
                <a:latin typeface="Aptos"/>
                <a:ea typeface="Aptos"/>
                <a:cs typeface="Aptos"/>
              </a:rPr>
              <a:t>422 · VALIDATION ERROR</a:t>
            </a:r>
          </a:p>
        </p:txBody>
      </p:sp>
      <p:sp>
        <p:nvSpPr>
          <p:cNvPr id="17" name="">
            <a:extLst xmlns:a="http://schemas.openxmlformats.org/drawingml/2006/main">
              <a:ext uri="{FF2B5EF4-FFF2-40B4-BE49-F238E27FC236}">
                <a16:creationId xmlns:a16="http://schemas.microsoft.com/office/drawing/2014/main" id="{DD631078-2DE3-4E7C-9B6B-189700BF1B84}"/>
              </a:ext>
            </a:extLst>
          </p:cNvPr>
          <p:cNvSpPr>
            <a:spLocks xmlns:a="http://schemas.openxmlformats.org/drawingml/2006/main" noGrp="1"/>
          </p:cNvSpPr>
          <p:nvPr/>
        </p:nvSpPr>
        <p:spPr>
          <a:xfrm xmlns:a="http://schemas.openxmlformats.org/drawingml/2006/main">
            <a:off x="7086600" y="4914900"/>
            <a:ext cx="3714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125" b="0" i="0">
                <a:solidFill>
                  <a:srgbClr val="D6E6EF"/>
                </a:solidFill>
                <a:latin typeface="Cascadia Mono"/>
                <a:ea typeface="Cascadia Mono"/>
                <a:cs typeface="Cascadia Mono"/>
              </a:defRPr>
            </a:defPPr>
          </a:lstStyle>
          <a:p xmlns:a="http://schemas.openxmlformats.org/drawingml/2006/main">
            <a:pPr algn="l">
              <a:lnSpc>
                <a:spcPct val="100000"/>
              </a:lnSpc>
              <a:buNone/>
              <a:defRPr sz="1125" b="0" i="0">
                <a:solidFill>
                  <a:srgbClr val="D6E6EF"/>
                </a:solidFill>
                <a:latin typeface="Cascadia Mono"/>
                <a:ea typeface="Cascadia Mono"/>
                <a:cs typeface="Cascadia Mono"/>
              </a:defRPr>
            </a:pPr>
            <a:r>
              <a:rPr sz="1125" b="0" i="0">
                <a:solidFill>
                  <a:srgbClr val="D6E6EF"/>
                </a:solidFill>
                <a:latin typeface="Cascadia Mono"/>
                <a:ea typeface="Cascadia Mono"/>
                <a:cs typeface="Cascadia Mono"/>
              </a:rPr>
              <a:t>priority must be less than or equal to 5</a:t>
            </a:r>
          </a:p>
        </p:txBody>
      </p:sp>
    </p:spTree>
    <p:extLst>
      <p:ext uri="{BB962C8B-B14F-4D97-AF65-F5344CB8AC3E}">
        <p14:creationId xmlns:p14="http://schemas.microsoft.com/office/powerpoint/2010/main" val="1423975632"/>
      </p:ext>
    </p:extLst>
  </p:cSld>
</p:sld>
</file>

<file path=ppt/slides/slide8.xml><?xml version="1.0" encoding="utf-8"?>
<p:sld xmlns:p="http://schemas.openxmlformats.org/presentationml/2006/main">
  <p:cSld>
    <p:bg>
      <p:bgPr>
        <a:solidFill xmlns:a="http://schemas.openxmlformats.org/drawingml/2006/main">
          <a:srgbClr val="102333"/>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A5B41387-4AAE-46C7-BE1C-0780B105D0CD}"/>
              </a:ext>
            </a:extLst>
          </p:cNvPr>
          <p:cNvSpPr>
            <a:spLocks xmlns:a="http://schemas.openxmlformats.org/drawingml/2006/main" noGrp="1"/>
          </p:cNvSpPr>
          <p:nvPr/>
        </p:nvSpPr>
        <p:spPr>
          <a:xfrm xmlns:a="http://schemas.openxmlformats.org/drawingml/2006/main">
            <a:off x="609600" y="45720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75" b="1" i="0">
                <a:solidFill>
                  <a:srgbClr val="8DE2BD"/>
                </a:solidFill>
                <a:latin typeface="Aptos"/>
                <a:ea typeface="Aptos"/>
                <a:cs typeface="Aptos"/>
              </a:defRPr>
            </a:defPPr>
          </a:lstStyle>
          <a:p xmlns:a="http://schemas.openxmlformats.org/drawingml/2006/main">
            <a:pPr algn="l">
              <a:lnSpc>
                <a:spcPct val="100000"/>
              </a:lnSpc>
              <a:buNone/>
              <a:defRPr sz="975" b="1" i="0">
                <a:solidFill>
                  <a:srgbClr val="8DE2BD"/>
                </a:solidFill>
                <a:latin typeface="Aptos"/>
                <a:ea typeface="Aptos"/>
                <a:cs typeface="Aptos"/>
              </a:defRPr>
            </a:pPr>
            <a:r>
              <a:rPr sz="975" b="1" i="0">
                <a:solidFill>
                  <a:srgbClr val="8DE2BD"/>
                </a:solidFill>
                <a:latin typeface="Aptos"/>
                <a:ea typeface="Aptos"/>
                <a:cs typeface="Aptos"/>
              </a:rPr>
              <a:t>LIVE DEMONSTRATION</a:t>
            </a:r>
          </a:p>
        </p:txBody>
      </p:sp>
      <p:sp>
        <p:nvSpPr>
          <p:cNvPr id="2" name="">
            <a:extLst xmlns:a="http://schemas.openxmlformats.org/drawingml/2006/main">
              <a:ext uri="{FF2B5EF4-FFF2-40B4-BE49-F238E27FC236}">
                <a16:creationId xmlns:a16="http://schemas.microsoft.com/office/drawing/2014/main" id="{22696913-537E-4246-BFAE-1412B99FFF0A}"/>
              </a:ext>
            </a:extLst>
          </p:cNvPr>
          <p:cNvSpPr>
            <a:spLocks xmlns:a="http://schemas.openxmlformats.org/drawingml/2006/main" noGrp="1"/>
          </p:cNvSpPr>
          <p:nvPr/>
        </p:nvSpPr>
        <p:spPr>
          <a:xfrm xmlns:a="http://schemas.openxmlformats.org/drawingml/2006/main">
            <a:off x="609600" y="781050"/>
            <a:ext cx="10668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850" b="1" i="0">
                <a:solidFill>
                  <a:srgbClr val="FFFFFF"/>
                </a:solidFill>
                <a:latin typeface="Aptos"/>
                <a:ea typeface="Aptos"/>
                <a:cs typeface="Aptos"/>
              </a:defRPr>
            </a:defPPr>
          </a:lstStyle>
          <a:p xmlns:a="http://schemas.openxmlformats.org/drawingml/2006/main">
            <a:pPr algn="l">
              <a:lnSpc>
                <a:spcPct val="95000"/>
              </a:lnSpc>
              <a:buNone/>
              <a:defRPr sz="2850" b="1" i="0">
                <a:solidFill>
                  <a:srgbClr val="FFFFFF"/>
                </a:solidFill>
                <a:latin typeface="Aptos"/>
                <a:ea typeface="Aptos"/>
                <a:cs typeface="Aptos"/>
              </a:defRPr>
            </a:pPr>
            <a:r>
              <a:rPr sz="2850" b="1" i="0">
                <a:solidFill>
                  <a:srgbClr val="FFFFFF"/>
                </a:solidFill>
                <a:latin typeface="Aptos"/>
                <a:ea typeface="Aptos"/>
                <a:cs typeface="Aptos"/>
              </a:rPr>
              <a:t>Three actions. Two minutes. No live coding.</a:t>
            </a:r>
          </a:p>
        </p:txBody>
      </p:sp>
      <p:sp>
        <p:nvSpPr>
          <p:cNvPr id="3" name="">
            <a:extLst xmlns:a="http://schemas.openxmlformats.org/drawingml/2006/main">
              <a:ext uri="{FF2B5EF4-FFF2-40B4-BE49-F238E27FC236}">
                <a16:creationId xmlns:a16="http://schemas.microsoft.com/office/drawing/2014/main" id="{6E91B9F3-2DAC-400F-9B1E-658C5E487A2B}"/>
              </a:ext>
            </a:extLst>
          </p:cNvPr>
          <p:cNvSpPr>
            <a:spLocks xmlns:a="http://schemas.openxmlformats.org/drawingml/2006/main" noGrp="1"/>
          </p:cNvSpPr>
          <p:nvPr/>
        </p:nvSpPr>
        <p:spPr>
          <a:xfrm xmlns:a="http://schemas.openxmlformats.org/drawingml/2006/main">
            <a:off x="628650" y="1466850"/>
            <a:ext cx="1000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350" b="0" i="0">
                <a:solidFill>
                  <a:srgbClr val="C6D2DA"/>
                </a:solidFill>
                <a:latin typeface="Aptos"/>
                <a:ea typeface="Aptos"/>
                <a:cs typeface="Aptos"/>
              </a:defRPr>
            </a:defPPr>
          </a:lstStyle>
          <a:p xmlns:a="http://schemas.openxmlformats.org/drawingml/2006/main">
            <a:pPr algn="l">
              <a:lnSpc>
                <a:spcPct val="100000"/>
              </a:lnSpc>
              <a:buNone/>
              <a:defRPr sz="1350" b="0" i="0">
                <a:solidFill>
                  <a:srgbClr val="C6D2DA"/>
                </a:solidFill>
                <a:latin typeface="Aptos"/>
                <a:ea typeface="Aptos"/>
                <a:cs typeface="Aptos"/>
              </a:defRPr>
            </a:pPr>
            <a:r>
              <a:rPr sz="1350" b="0" i="0">
                <a:solidFill>
                  <a:srgbClr val="C6D2DA"/>
                </a:solidFill>
                <a:latin typeface="Aptos"/>
                <a:ea typeface="Aptos"/>
                <a:cs typeface="Aptos"/>
              </a:rPr>
              <a:t>The server is started before the presentation; Swagger UI sends the requests.</a:t>
            </a:r>
          </a:p>
        </p:txBody>
      </p:sp>
      <p:sp>
        <p:nvSpPr>
          <p:cNvPr id="4" name="">
            <a:extLst xmlns:a="http://schemas.openxmlformats.org/drawingml/2006/main">
              <a:ext uri="{FF2B5EF4-FFF2-40B4-BE49-F238E27FC236}">
                <a16:creationId xmlns:a16="http://schemas.microsoft.com/office/drawing/2014/main" id="{DD4D6817-CE90-4DF4-9A1C-97D1ED397E64}"/>
              </a:ext>
            </a:extLst>
          </p:cNvPr>
          <p:cNvSpPr>
            <a:spLocks xmlns:a="http://schemas.openxmlformats.org/drawingml/2006/main" noGrp="1"/>
          </p:cNvSpPr>
          <p:nvPr/>
        </p:nvSpPr>
        <p:spPr>
          <a:xfrm xmlns:a="http://schemas.openxmlformats.org/drawingml/2006/main">
            <a:off x="609600" y="6477000"/>
            <a:ext cx="10972800" cy="14288"/>
          </a:xfrm>
          <a:prstGeom xmlns:a="http://schemas.openxmlformats.org/drawingml/2006/main" prst="rect">
            <a:avLst/>
          </a:prstGeom>
          <a:solidFill xmlns:a="http://schemas.openxmlformats.org/drawingml/2006/main">
            <a:srgbClr val="49606E"/>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838DB181-B915-4C17-9F6F-D67BC2B2DD47}"/>
              </a:ext>
            </a:extLst>
          </p:cNvPr>
          <p:cNvSpPr>
            <a:spLocks xmlns:a="http://schemas.openxmlformats.org/drawingml/2006/main" noGrp="1"/>
          </p:cNvSpPr>
          <p:nvPr/>
        </p:nvSpPr>
        <p:spPr>
          <a:xfrm xmlns:a="http://schemas.openxmlformats.org/drawingml/2006/main">
            <a:off x="609600" y="655320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825" b="1" i="0">
                <a:solidFill>
                  <a:srgbClr val="AFC0C9"/>
                </a:solidFill>
                <a:latin typeface="Aptos"/>
                <a:ea typeface="Aptos"/>
                <a:cs typeface="Aptos"/>
              </a:defRPr>
            </a:defPPr>
          </a:lstStyle>
          <a:p xmlns:a="http://schemas.openxmlformats.org/drawingml/2006/main">
            <a:pPr algn="l">
              <a:lnSpc>
                <a:spcPct val="100000"/>
              </a:lnSpc>
              <a:buNone/>
              <a:defRPr sz="825" b="1" i="0">
                <a:solidFill>
                  <a:srgbClr val="AFC0C9"/>
                </a:solidFill>
                <a:latin typeface="Aptos"/>
                <a:ea typeface="Aptos"/>
                <a:cs typeface="Aptos"/>
              </a:defRPr>
            </a:pPr>
            <a:r>
              <a:rPr sz="825" b="1" i="0">
                <a:solidFill>
                  <a:srgbClr val="AFC0C9"/>
                </a:solidFill>
                <a:latin typeface="Aptos"/>
                <a:ea typeface="Aptos"/>
                <a:cs typeface="Aptos"/>
              </a:rPr>
              <a:t>COMP10020 · FASTAPI</a:t>
            </a:r>
          </a:p>
        </p:txBody>
      </p:sp>
      <p:sp>
        <p:nvSpPr>
          <p:cNvPr id="6" name="">
            <a:extLst xmlns:a="http://schemas.openxmlformats.org/drawingml/2006/main">
              <a:ext uri="{FF2B5EF4-FFF2-40B4-BE49-F238E27FC236}">
                <a16:creationId xmlns:a16="http://schemas.microsoft.com/office/drawing/2014/main" id="{5862A157-FE8F-45CD-9F47-B7B210947E32}"/>
              </a:ext>
            </a:extLst>
          </p:cNvPr>
          <p:cNvSpPr>
            <a:spLocks xmlns:a="http://schemas.openxmlformats.org/drawingml/2006/main" noGrp="1"/>
          </p:cNvSpPr>
          <p:nvPr/>
        </p:nvSpPr>
        <p:spPr>
          <a:xfrm xmlns:a="http://schemas.openxmlformats.org/drawingml/2006/main">
            <a:off x="11049000" y="6543675"/>
            <a:ext cx="533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r">
              <a:defRPr sz="825" b="1" i="0">
                <a:solidFill>
                  <a:srgbClr val="AFC0C9"/>
                </a:solidFill>
                <a:latin typeface="Aptos"/>
                <a:ea typeface="Aptos"/>
                <a:cs typeface="Aptos"/>
              </a:defRPr>
            </a:defPPr>
          </a:lstStyle>
          <a:p xmlns:a="http://schemas.openxmlformats.org/drawingml/2006/main">
            <a:pPr algn="r">
              <a:lnSpc>
                <a:spcPct val="100000"/>
              </a:lnSpc>
              <a:buNone/>
              <a:defRPr sz="825" b="1" i="0">
                <a:solidFill>
                  <a:srgbClr val="AFC0C9"/>
                </a:solidFill>
                <a:latin typeface="Aptos"/>
                <a:ea typeface="Aptos"/>
                <a:cs typeface="Aptos"/>
              </a:defRPr>
            </a:pPr>
            <a:r>
              <a:rPr sz="825" b="1" i="0">
                <a:solidFill>
                  <a:srgbClr val="AFC0C9"/>
                </a:solidFill>
                <a:latin typeface="Aptos"/>
                <a:ea typeface="Aptos"/>
                <a:cs typeface="Aptos"/>
              </a:rPr>
              <a:t>08</a:t>
            </a:r>
          </a:p>
        </p:txBody>
      </p:sp>
      <p:sp>
        <p:nvSpPr>
          <p:cNvPr id="7" name="">
            <a:extLst xmlns:a="http://schemas.openxmlformats.org/drawingml/2006/main">
              <a:ext uri="{FF2B5EF4-FFF2-40B4-BE49-F238E27FC236}">
                <a16:creationId xmlns:a16="http://schemas.microsoft.com/office/drawing/2014/main" id="{AA8D67AF-9B30-4368-84B2-6D81903A2FAA}"/>
              </a:ext>
            </a:extLst>
          </p:cNvPr>
          <p:cNvSpPr>
            <a:spLocks xmlns:a="http://schemas.openxmlformats.org/drawingml/2006/main" noGrp="1"/>
          </p:cNvSpPr>
          <p:nvPr/>
        </p:nvSpPr>
        <p:spPr>
          <a:xfrm xmlns:a="http://schemas.openxmlformats.org/drawingml/2006/main">
            <a:off x="838200" y="2209800"/>
            <a:ext cx="609600" cy="609600"/>
          </a:xfrm>
          <a:prstGeom xmlns:a="http://schemas.openxmlformats.org/drawingml/2006/main" prst="ellipse">
            <a:avLst/>
          </a:prstGeom>
          <a:solidFill xmlns:a="http://schemas.openxmlformats.org/drawingml/2006/main">
            <a:srgbClr val="087F72"/>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242C75E-0A81-4E94-A9EC-9E4334AB72E1}"/>
              </a:ext>
            </a:extLst>
          </p:cNvPr>
          <p:cNvSpPr>
            <a:spLocks xmlns:a="http://schemas.openxmlformats.org/drawingml/2006/main" noGrp="1"/>
          </p:cNvSpPr>
          <p:nvPr/>
        </p:nvSpPr>
        <p:spPr>
          <a:xfrm xmlns:a="http://schemas.openxmlformats.org/drawingml/2006/main">
            <a:off x="838200" y="2324100"/>
            <a:ext cx="609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950" b="1" i="0">
                <a:solidFill>
                  <a:srgbClr val="FFFFFF"/>
                </a:solidFill>
                <a:latin typeface="Aptos"/>
                <a:ea typeface="Aptos"/>
                <a:cs typeface="Aptos"/>
              </a:defRPr>
            </a:defPPr>
          </a:lstStyle>
          <a:p xmlns:a="http://schemas.openxmlformats.org/drawingml/2006/main">
            <a:pPr algn="ctr">
              <a:lnSpc>
                <a:spcPct val="100000"/>
              </a:lnSpc>
              <a:buNone/>
              <a:defRPr sz="1950" b="1" i="0">
                <a:solidFill>
                  <a:srgbClr val="FFFFFF"/>
                </a:solidFill>
                <a:latin typeface="Aptos"/>
                <a:ea typeface="Aptos"/>
                <a:cs typeface="Aptos"/>
              </a:defRPr>
            </a:pPr>
            <a:r>
              <a:rPr sz="1950" b="1" i="0">
                <a:solidFill>
                  <a:srgbClr val="FFFFFF"/>
                </a:solidFill>
                <a:latin typeface="Aptos"/>
                <a:ea typeface="Aptos"/>
                <a:cs typeface="Aptos"/>
              </a:rPr>
              <a:t>1</a:t>
            </a:r>
          </a:p>
        </p:txBody>
      </p:sp>
      <p:sp>
        <p:nvSpPr>
          <p:cNvPr id="9" name="">
            <a:extLst xmlns:a="http://schemas.openxmlformats.org/drawingml/2006/main">
              <a:ext uri="{FF2B5EF4-FFF2-40B4-BE49-F238E27FC236}">
                <a16:creationId xmlns:a16="http://schemas.microsoft.com/office/drawing/2014/main" id="{FD73003B-07C2-4678-8B6A-C360D17D6170}"/>
              </a:ext>
            </a:extLst>
          </p:cNvPr>
          <p:cNvSpPr>
            <a:spLocks xmlns:a="http://schemas.openxmlformats.org/drawingml/2006/main" noGrp="1"/>
          </p:cNvSpPr>
          <p:nvPr/>
        </p:nvSpPr>
        <p:spPr>
          <a:xfrm xmlns:a="http://schemas.openxmlformats.org/drawingml/2006/main">
            <a:off x="1752600" y="2190750"/>
            <a:ext cx="4191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800" b="1" i="0">
                <a:solidFill>
                  <a:srgbClr val="FFFFFF"/>
                </a:solidFill>
                <a:latin typeface="Aptos"/>
                <a:ea typeface="Aptos"/>
                <a:cs typeface="Aptos"/>
              </a:defRPr>
            </a:defPPr>
          </a:lstStyle>
          <a:p xmlns:a="http://schemas.openxmlformats.org/drawingml/2006/main">
            <a:pPr algn="l">
              <a:lnSpc>
                <a:spcPct val="100000"/>
              </a:lnSpc>
              <a:buNone/>
              <a:defRPr sz="1800" b="1" i="0">
                <a:solidFill>
                  <a:srgbClr val="FFFFFF"/>
                </a:solidFill>
                <a:latin typeface="Aptos"/>
                <a:ea typeface="Aptos"/>
                <a:cs typeface="Aptos"/>
              </a:defRPr>
            </a:pPr>
            <a:r>
              <a:rPr sz="1800" b="1" i="0">
                <a:solidFill>
                  <a:srgbClr val="FFFFFF"/>
                </a:solidFill>
                <a:latin typeface="Aptos"/>
                <a:ea typeface="Aptos"/>
                <a:cs typeface="Aptos"/>
              </a:rPr>
              <a:t>GET /tasks</a:t>
            </a:r>
          </a:p>
        </p:txBody>
      </p:sp>
      <p:sp>
        <p:nvSpPr>
          <p:cNvPr id="10" name="">
            <a:extLst xmlns:a="http://schemas.openxmlformats.org/drawingml/2006/main">
              <a:ext uri="{FF2B5EF4-FFF2-40B4-BE49-F238E27FC236}">
                <a16:creationId xmlns:a16="http://schemas.microsoft.com/office/drawing/2014/main" id="{6B57D380-E89B-47F4-8EAF-894589534E42}"/>
              </a:ext>
            </a:extLst>
          </p:cNvPr>
          <p:cNvSpPr>
            <a:spLocks xmlns:a="http://schemas.openxmlformats.org/drawingml/2006/main" noGrp="1"/>
          </p:cNvSpPr>
          <p:nvPr/>
        </p:nvSpPr>
        <p:spPr>
          <a:xfrm xmlns:a="http://schemas.openxmlformats.org/drawingml/2006/main">
            <a:off x="1752600" y="2571750"/>
            <a:ext cx="5143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00" b="0" i="0">
                <a:solidFill>
                  <a:srgbClr val="C6D2DA"/>
                </a:solidFill>
                <a:latin typeface="Aptos"/>
                <a:ea typeface="Aptos"/>
                <a:cs typeface="Aptos"/>
              </a:defRPr>
            </a:defPPr>
          </a:lstStyle>
          <a:p xmlns:a="http://schemas.openxmlformats.org/drawingml/2006/main">
            <a:pPr algn="l">
              <a:lnSpc>
                <a:spcPct val="110000"/>
              </a:lnSpc>
              <a:buNone/>
              <a:defRPr sz="1200" b="0" i="0">
                <a:solidFill>
                  <a:srgbClr val="C6D2DA"/>
                </a:solidFill>
                <a:latin typeface="Aptos"/>
                <a:ea typeface="Aptos"/>
                <a:cs typeface="Aptos"/>
              </a:defRPr>
            </a:pPr>
            <a:r>
              <a:rPr sz="1200" b="0" i="0">
                <a:solidFill>
                  <a:srgbClr val="C6D2DA"/>
                </a:solidFill>
                <a:latin typeface="Aptos"/>
                <a:ea typeface="Aptos"/>
                <a:cs typeface="Aptos"/>
              </a:rPr>
              <a:t>Execute once and confirm 200 with an empty list.</a:t>
            </a:r>
          </a:p>
        </p:txBody>
      </p:sp>
      <p:sp>
        <p:nvSpPr>
          <p:cNvPr id="11" name="">
            <a:extLst xmlns:a="http://schemas.openxmlformats.org/drawingml/2006/main">
              <a:ext uri="{FF2B5EF4-FFF2-40B4-BE49-F238E27FC236}">
                <a16:creationId xmlns:a16="http://schemas.microsoft.com/office/drawing/2014/main" id="{E6ED63EC-7479-4067-BA86-C5431103C292}"/>
              </a:ext>
            </a:extLst>
          </p:cNvPr>
          <p:cNvSpPr>
            <a:spLocks xmlns:a="http://schemas.openxmlformats.org/drawingml/2006/main" noGrp="1"/>
          </p:cNvSpPr>
          <p:nvPr/>
        </p:nvSpPr>
        <p:spPr>
          <a:xfrm xmlns:a="http://schemas.openxmlformats.org/drawingml/2006/main">
            <a:off x="838200" y="3371850"/>
            <a:ext cx="609600" cy="609600"/>
          </a:xfrm>
          <a:prstGeom xmlns:a="http://schemas.openxmlformats.org/drawingml/2006/main" prst="ellipse">
            <a:avLst/>
          </a:prstGeom>
          <a:solidFill xmlns:a="http://schemas.openxmlformats.org/drawingml/2006/main">
            <a:srgbClr val="087F72"/>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23265F2-00C6-41F4-BC30-9FF1351BC8ED}"/>
              </a:ext>
            </a:extLst>
          </p:cNvPr>
          <p:cNvSpPr>
            <a:spLocks xmlns:a="http://schemas.openxmlformats.org/drawingml/2006/main" noGrp="1"/>
          </p:cNvSpPr>
          <p:nvPr/>
        </p:nvSpPr>
        <p:spPr>
          <a:xfrm xmlns:a="http://schemas.openxmlformats.org/drawingml/2006/main">
            <a:off x="838200" y="3486150"/>
            <a:ext cx="609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950" b="1" i="0">
                <a:solidFill>
                  <a:srgbClr val="FFFFFF"/>
                </a:solidFill>
                <a:latin typeface="Aptos"/>
                <a:ea typeface="Aptos"/>
                <a:cs typeface="Aptos"/>
              </a:defRPr>
            </a:defPPr>
          </a:lstStyle>
          <a:p xmlns:a="http://schemas.openxmlformats.org/drawingml/2006/main">
            <a:pPr algn="ctr">
              <a:lnSpc>
                <a:spcPct val="100000"/>
              </a:lnSpc>
              <a:buNone/>
              <a:defRPr sz="1950" b="1" i="0">
                <a:solidFill>
                  <a:srgbClr val="FFFFFF"/>
                </a:solidFill>
                <a:latin typeface="Aptos"/>
                <a:ea typeface="Aptos"/>
                <a:cs typeface="Aptos"/>
              </a:defRPr>
            </a:pPr>
            <a:r>
              <a:rPr sz="1950" b="1" i="0">
                <a:solidFill>
                  <a:srgbClr val="FFFFFF"/>
                </a:solidFill>
                <a:latin typeface="Aptos"/>
                <a:ea typeface="Aptos"/>
                <a:cs typeface="Aptos"/>
              </a:rPr>
              <a:t>2</a:t>
            </a:r>
          </a:p>
        </p:txBody>
      </p:sp>
      <p:sp>
        <p:nvSpPr>
          <p:cNvPr id="13" name="">
            <a:extLst xmlns:a="http://schemas.openxmlformats.org/drawingml/2006/main">
              <a:ext uri="{FF2B5EF4-FFF2-40B4-BE49-F238E27FC236}">
                <a16:creationId xmlns:a16="http://schemas.microsoft.com/office/drawing/2014/main" id="{D6172659-F4A0-46F0-ACD1-31D7BB64CD9D}"/>
              </a:ext>
            </a:extLst>
          </p:cNvPr>
          <p:cNvSpPr>
            <a:spLocks xmlns:a="http://schemas.openxmlformats.org/drawingml/2006/main" noGrp="1"/>
          </p:cNvSpPr>
          <p:nvPr/>
        </p:nvSpPr>
        <p:spPr>
          <a:xfrm xmlns:a="http://schemas.openxmlformats.org/drawingml/2006/main">
            <a:off x="1752600" y="3352800"/>
            <a:ext cx="4191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800" b="1" i="0">
                <a:solidFill>
                  <a:srgbClr val="FFFFFF"/>
                </a:solidFill>
                <a:latin typeface="Aptos"/>
                <a:ea typeface="Aptos"/>
                <a:cs typeface="Aptos"/>
              </a:defRPr>
            </a:defPPr>
          </a:lstStyle>
          <a:p xmlns:a="http://schemas.openxmlformats.org/drawingml/2006/main">
            <a:pPr algn="l">
              <a:lnSpc>
                <a:spcPct val="100000"/>
              </a:lnSpc>
              <a:buNone/>
              <a:defRPr sz="1800" b="1" i="0">
                <a:solidFill>
                  <a:srgbClr val="FFFFFF"/>
                </a:solidFill>
                <a:latin typeface="Aptos"/>
                <a:ea typeface="Aptos"/>
                <a:cs typeface="Aptos"/>
              </a:defRPr>
            </a:pPr>
            <a:r>
              <a:rPr sz="1800" b="1" i="0">
                <a:solidFill>
                  <a:srgbClr val="FFFFFF"/>
                </a:solidFill>
                <a:latin typeface="Aptos"/>
                <a:ea typeface="Aptos"/>
                <a:cs typeface="Aptos"/>
              </a:rPr>
              <a:t>POST /tasks</a:t>
            </a:r>
          </a:p>
        </p:txBody>
      </p:sp>
      <p:sp>
        <p:nvSpPr>
          <p:cNvPr id="14" name="">
            <a:extLst xmlns:a="http://schemas.openxmlformats.org/drawingml/2006/main">
              <a:ext uri="{FF2B5EF4-FFF2-40B4-BE49-F238E27FC236}">
                <a16:creationId xmlns:a16="http://schemas.microsoft.com/office/drawing/2014/main" id="{6D947232-9B35-4547-81DC-00E507634E72}"/>
              </a:ext>
            </a:extLst>
          </p:cNvPr>
          <p:cNvSpPr>
            <a:spLocks xmlns:a="http://schemas.openxmlformats.org/drawingml/2006/main" noGrp="1"/>
          </p:cNvSpPr>
          <p:nvPr/>
        </p:nvSpPr>
        <p:spPr>
          <a:xfrm xmlns:a="http://schemas.openxmlformats.org/drawingml/2006/main">
            <a:off x="1752600" y="3733800"/>
            <a:ext cx="5143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00" b="0" i="0">
                <a:solidFill>
                  <a:srgbClr val="C6D2DA"/>
                </a:solidFill>
                <a:latin typeface="Aptos"/>
                <a:ea typeface="Aptos"/>
                <a:cs typeface="Aptos"/>
              </a:defRPr>
            </a:defPPr>
          </a:lstStyle>
          <a:p xmlns:a="http://schemas.openxmlformats.org/drawingml/2006/main">
            <a:pPr algn="l">
              <a:lnSpc>
                <a:spcPct val="110000"/>
              </a:lnSpc>
              <a:buNone/>
              <a:defRPr sz="1200" b="0" i="0">
                <a:solidFill>
                  <a:srgbClr val="C6D2DA"/>
                </a:solidFill>
                <a:latin typeface="Aptos"/>
                <a:ea typeface="Aptos"/>
                <a:cs typeface="Aptos"/>
              </a:defRPr>
            </a:pPr>
            <a:r>
              <a:rPr sz="1200" b="0" i="0">
                <a:solidFill>
                  <a:srgbClr val="C6D2DA"/>
                </a:solidFill>
                <a:latin typeface="Aptos"/>
                <a:ea typeface="Aptos"/>
                <a:cs typeface="Aptos"/>
              </a:rPr>
              <a:t>Create “Rehearse the demo” with priority 5; confirm 201.</a:t>
            </a:r>
          </a:p>
        </p:txBody>
      </p:sp>
      <p:sp>
        <p:nvSpPr>
          <p:cNvPr id="15" name="">
            <a:extLst xmlns:a="http://schemas.openxmlformats.org/drawingml/2006/main">
              <a:ext uri="{FF2B5EF4-FFF2-40B4-BE49-F238E27FC236}">
                <a16:creationId xmlns:a16="http://schemas.microsoft.com/office/drawing/2014/main" id="{F3D658B8-0CF2-4084-BBB7-86D77A654436}"/>
              </a:ext>
            </a:extLst>
          </p:cNvPr>
          <p:cNvSpPr>
            <a:spLocks xmlns:a="http://schemas.openxmlformats.org/drawingml/2006/main" noGrp="1"/>
          </p:cNvSpPr>
          <p:nvPr/>
        </p:nvSpPr>
        <p:spPr>
          <a:xfrm xmlns:a="http://schemas.openxmlformats.org/drawingml/2006/main">
            <a:off x="838200" y="4533900"/>
            <a:ext cx="609600" cy="609600"/>
          </a:xfrm>
          <a:prstGeom xmlns:a="http://schemas.openxmlformats.org/drawingml/2006/main" prst="ellipse">
            <a:avLst/>
          </a:prstGeom>
          <a:solidFill xmlns:a="http://schemas.openxmlformats.org/drawingml/2006/main">
            <a:srgbClr val="EF765E"/>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38627CCC-897A-4061-B5F2-4034E725AA46}"/>
              </a:ext>
            </a:extLst>
          </p:cNvPr>
          <p:cNvSpPr>
            <a:spLocks xmlns:a="http://schemas.openxmlformats.org/drawingml/2006/main" noGrp="1"/>
          </p:cNvSpPr>
          <p:nvPr/>
        </p:nvSpPr>
        <p:spPr>
          <a:xfrm xmlns:a="http://schemas.openxmlformats.org/drawingml/2006/main">
            <a:off x="838200" y="4648200"/>
            <a:ext cx="609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950" b="1" i="0">
                <a:solidFill>
                  <a:srgbClr val="FFFFFF"/>
                </a:solidFill>
                <a:latin typeface="Aptos"/>
                <a:ea typeface="Aptos"/>
                <a:cs typeface="Aptos"/>
              </a:defRPr>
            </a:defPPr>
          </a:lstStyle>
          <a:p xmlns:a="http://schemas.openxmlformats.org/drawingml/2006/main">
            <a:pPr algn="ctr">
              <a:lnSpc>
                <a:spcPct val="100000"/>
              </a:lnSpc>
              <a:buNone/>
              <a:defRPr sz="1950" b="1" i="0">
                <a:solidFill>
                  <a:srgbClr val="FFFFFF"/>
                </a:solidFill>
                <a:latin typeface="Aptos"/>
                <a:ea typeface="Aptos"/>
                <a:cs typeface="Aptos"/>
              </a:defRPr>
            </a:pPr>
            <a:r>
              <a:rPr sz="1950" b="1" i="0">
                <a:solidFill>
                  <a:srgbClr val="FFFFFF"/>
                </a:solidFill>
                <a:latin typeface="Aptos"/>
                <a:ea typeface="Aptos"/>
                <a:cs typeface="Aptos"/>
              </a:rPr>
              <a:t>3</a:t>
            </a:r>
          </a:p>
        </p:txBody>
      </p:sp>
      <p:sp>
        <p:nvSpPr>
          <p:cNvPr id="17" name="">
            <a:extLst xmlns:a="http://schemas.openxmlformats.org/drawingml/2006/main">
              <a:ext uri="{FF2B5EF4-FFF2-40B4-BE49-F238E27FC236}">
                <a16:creationId xmlns:a16="http://schemas.microsoft.com/office/drawing/2014/main" id="{DE368996-EED1-4D2C-B5C3-006E27ED3B06}"/>
              </a:ext>
            </a:extLst>
          </p:cNvPr>
          <p:cNvSpPr>
            <a:spLocks xmlns:a="http://schemas.openxmlformats.org/drawingml/2006/main" noGrp="1"/>
          </p:cNvSpPr>
          <p:nvPr/>
        </p:nvSpPr>
        <p:spPr>
          <a:xfrm xmlns:a="http://schemas.openxmlformats.org/drawingml/2006/main">
            <a:off x="1752600" y="4514850"/>
            <a:ext cx="4191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800" b="1" i="0">
                <a:solidFill>
                  <a:srgbClr val="FFFFFF"/>
                </a:solidFill>
                <a:latin typeface="Aptos"/>
                <a:ea typeface="Aptos"/>
                <a:cs typeface="Aptos"/>
              </a:defRPr>
            </a:defPPr>
          </a:lstStyle>
          <a:p xmlns:a="http://schemas.openxmlformats.org/drawingml/2006/main">
            <a:pPr algn="l">
              <a:lnSpc>
                <a:spcPct val="100000"/>
              </a:lnSpc>
              <a:buNone/>
              <a:defRPr sz="1800" b="1" i="0">
                <a:solidFill>
                  <a:srgbClr val="FFFFFF"/>
                </a:solidFill>
                <a:latin typeface="Aptos"/>
                <a:ea typeface="Aptos"/>
                <a:cs typeface="Aptos"/>
              </a:defRPr>
            </a:pPr>
            <a:r>
              <a:rPr sz="1800" b="1" i="0">
                <a:solidFill>
                  <a:srgbClr val="FFFFFF"/>
                </a:solidFill>
                <a:latin typeface="Aptos"/>
                <a:ea typeface="Aptos"/>
                <a:cs typeface="Aptos"/>
              </a:rPr>
              <a:t>POST invalid data</a:t>
            </a:r>
          </a:p>
        </p:txBody>
      </p:sp>
      <p:sp>
        <p:nvSpPr>
          <p:cNvPr id="18" name="">
            <a:extLst xmlns:a="http://schemas.openxmlformats.org/drawingml/2006/main">
              <a:ext uri="{FF2B5EF4-FFF2-40B4-BE49-F238E27FC236}">
                <a16:creationId xmlns:a16="http://schemas.microsoft.com/office/drawing/2014/main" id="{00247C82-4450-47BE-95F7-171BF48FA1CF}"/>
              </a:ext>
            </a:extLst>
          </p:cNvPr>
          <p:cNvSpPr>
            <a:spLocks xmlns:a="http://schemas.openxmlformats.org/drawingml/2006/main" noGrp="1"/>
          </p:cNvSpPr>
          <p:nvPr/>
        </p:nvSpPr>
        <p:spPr>
          <a:xfrm xmlns:a="http://schemas.openxmlformats.org/drawingml/2006/main">
            <a:off x="1752600" y="4895850"/>
            <a:ext cx="5143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00" b="0" i="0">
                <a:solidFill>
                  <a:srgbClr val="C6D2DA"/>
                </a:solidFill>
                <a:latin typeface="Aptos"/>
                <a:ea typeface="Aptos"/>
                <a:cs typeface="Aptos"/>
              </a:defRPr>
            </a:defPPr>
          </a:lstStyle>
          <a:p xmlns:a="http://schemas.openxmlformats.org/drawingml/2006/main">
            <a:pPr algn="l">
              <a:lnSpc>
                <a:spcPct val="110000"/>
              </a:lnSpc>
              <a:buNone/>
              <a:defRPr sz="1200" b="0" i="0">
                <a:solidFill>
                  <a:srgbClr val="C6D2DA"/>
                </a:solidFill>
                <a:latin typeface="Aptos"/>
                <a:ea typeface="Aptos"/>
                <a:cs typeface="Aptos"/>
              </a:defRPr>
            </a:pPr>
            <a:r>
              <a:rPr sz="1200" b="0" i="0">
                <a:solidFill>
                  <a:srgbClr val="C6D2DA"/>
                </a:solidFill>
                <a:latin typeface="Aptos"/>
                <a:ea typeface="Aptos"/>
                <a:cs typeface="Aptos"/>
              </a:rPr>
              <a:t>Change priority to 9; confirm the automatic 422 response.</a:t>
            </a:r>
          </a:p>
        </p:txBody>
      </p:sp>
      <p:sp>
        <p:nvSpPr>
          <p:cNvPr id="19" name="">
            <a:extLst xmlns:a="http://schemas.openxmlformats.org/drawingml/2006/main">
              <a:ext uri="{FF2B5EF4-FFF2-40B4-BE49-F238E27FC236}">
                <a16:creationId xmlns:a16="http://schemas.microsoft.com/office/drawing/2014/main" id="{DAFAA05C-1BB7-45B8-9BCE-48ABAE69B474}"/>
              </a:ext>
            </a:extLst>
          </p:cNvPr>
          <p:cNvSpPr>
            <a:spLocks xmlns:a="http://schemas.openxmlformats.org/drawingml/2006/main" noGrp="1"/>
          </p:cNvSpPr>
          <p:nvPr/>
        </p:nvSpPr>
        <p:spPr>
          <a:xfrm xmlns:a="http://schemas.openxmlformats.org/drawingml/2006/main">
            <a:off x="7810500" y="2152650"/>
            <a:ext cx="3390900" cy="3429000"/>
          </a:xfrm>
          <a:prstGeom xmlns:a="http://schemas.openxmlformats.org/drawingml/2006/main" prst="roundRect">
            <a:avLst>
              <a:gd name="adj" fmla="val 3371"/>
            </a:avLst>
          </a:prstGeom>
          <a:solidFill xmlns:a="http://schemas.openxmlformats.org/drawingml/2006/main">
            <a:srgbClr val="15394A"/>
          </a:solidFill>
          <a:ln xmlns:a="http://schemas.openxmlformats.org/drawingml/2006/main" w="9525">
            <a:solidFill>
              <a:srgbClr val="365367"/>
            </a:solidFill>
            <a:prstDash val="solid"/>
          </a:ln>
        </p:spPr>
      </p:sp>
      <p:sp>
        <p:nvSpPr>
          <p:cNvPr id="20" name="">
            <a:extLst xmlns:a="http://schemas.openxmlformats.org/drawingml/2006/main">
              <a:ext uri="{FF2B5EF4-FFF2-40B4-BE49-F238E27FC236}">
                <a16:creationId xmlns:a16="http://schemas.microsoft.com/office/drawing/2014/main" id="{DA7592BD-CFD0-4812-94FE-652C91FD3780}"/>
              </a:ext>
            </a:extLst>
          </p:cNvPr>
          <p:cNvSpPr>
            <a:spLocks xmlns:a="http://schemas.openxmlformats.org/drawingml/2006/main" noGrp="1"/>
          </p:cNvSpPr>
          <p:nvPr/>
        </p:nvSpPr>
        <p:spPr>
          <a:xfrm xmlns:a="http://schemas.openxmlformats.org/drawingml/2006/main">
            <a:off x="8096250" y="2457450"/>
            <a:ext cx="28194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ctr">
              <a:defRPr sz="1050" b="1" i="0">
                <a:solidFill>
                  <a:srgbClr val="8DE2BD"/>
                </a:solidFill>
                <a:latin typeface="Aptos"/>
                <a:ea typeface="Aptos"/>
                <a:cs typeface="Aptos"/>
              </a:defRPr>
            </a:defPPr>
          </a:lstStyle>
          <a:p xmlns:a="http://schemas.openxmlformats.org/drawingml/2006/main">
            <a:pPr algn="ctr">
              <a:lnSpc>
                <a:spcPct val="100000"/>
              </a:lnSpc>
              <a:buNone/>
              <a:defRPr sz="1050" b="1" i="0">
                <a:solidFill>
                  <a:srgbClr val="8DE2BD"/>
                </a:solidFill>
                <a:latin typeface="Aptos"/>
                <a:ea typeface="Aptos"/>
                <a:cs typeface="Aptos"/>
              </a:defRPr>
            </a:pPr>
            <a:r>
              <a:rPr sz="1050" b="1" i="0">
                <a:solidFill>
                  <a:srgbClr val="8DE2BD"/>
                </a:solidFill>
                <a:latin typeface="Aptos"/>
                <a:ea typeface="Aptos"/>
                <a:cs typeface="Aptos"/>
              </a:rPr>
              <a:t>DEMO CHECKLIST</a:t>
            </a:r>
          </a:p>
        </p:txBody>
      </p:sp>
      <p:sp>
        <p:nvSpPr>
          <p:cNvPr id="21" name="">
            <a:extLst xmlns:a="http://schemas.openxmlformats.org/drawingml/2006/main">
              <a:ext uri="{FF2B5EF4-FFF2-40B4-BE49-F238E27FC236}">
                <a16:creationId xmlns:a16="http://schemas.microsoft.com/office/drawing/2014/main" id="{9A30ABEF-0803-44F6-B77E-4FD7BBFF6A94}"/>
              </a:ext>
            </a:extLst>
          </p:cNvPr>
          <p:cNvSpPr>
            <a:spLocks xmlns:a="http://schemas.openxmlformats.org/drawingml/2006/main" noGrp="1"/>
          </p:cNvSpPr>
          <p:nvPr/>
        </p:nvSpPr>
        <p:spPr>
          <a:xfrm xmlns:a="http://schemas.openxmlformats.org/drawingml/2006/main">
            <a:off x="8172450" y="2990850"/>
            <a:ext cx="26670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350" b="0" i="0">
                <a:solidFill>
                  <a:srgbClr val="FFFFFF"/>
                </a:solidFill>
                <a:latin typeface="Aptos"/>
                <a:ea typeface="Aptos"/>
                <a:cs typeface="Aptos"/>
              </a:defRPr>
            </a:defPPr>
          </a:lstStyle>
          <a:p xmlns:a="http://schemas.openxmlformats.org/drawingml/2006/main">
            <a:pPr algn="l">
              <a:lnSpc>
                <a:spcPct val="145000"/>
              </a:lnSpc>
              <a:buNone/>
              <a:defRPr sz="1350" b="0" i="0">
                <a:solidFill>
                  <a:srgbClr val="FFFFFF"/>
                </a:solidFill>
                <a:latin typeface="Aptos"/>
                <a:ea typeface="Aptos"/>
                <a:cs typeface="Aptos"/>
              </a:defRPr>
            </a:pPr>
            <a:r>
              <a:rPr sz="1350" b="0" i="0">
                <a:solidFill>
                  <a:srgbClr val="FFFFFF"/>
                </a:solidFill>
                <a:latin typeface="Aptos"/>
                <a:ea typeface="Aptos"/>
                <a:cs typeface="Aptos"/>
              </a:rPr>
              <a:t>✓ Uvicorn already running</a:t>
            </a:r>
          </a:p>
          <a:p xmlns:a="http://schemas.openxmlformats.org/drawingml/2006/main">
            <a:pPr algn="l">
              <a:lnSpc>
                <a:spcPct val="145000"/>
              </a:lnSpc>
              <a:buNone/>
              <a:defRPr sz="1350" b="0" i="0">
                <a:solidFill>
                  <a:srgbClr val="FFFFFF"/>
                </a:solidFill>
                <a:latin typeface="Aptos"/>
                <a:ea typeface="Aptos"/>
                <a:cs typeface="Aptos"/>
              </a:defRPr>
            </a:pPr>
            <a:r>
              <a:rPr sz="1350" b="0" i="0">
                <a:solidFill>
                  <a:srgbClr val="FFFFFF"/>
                </a:solidFill>
                <a:latin typeface="Aptos"/>
                <a:ea typeface="Aptos"/>
                <a:cs typeface="Aptos"/>
              </a:rPr>
              <a:t>✓ Browser open at /docs</a:t>
            </a:r>
          </a:p>
          <a:p xmlns:a="http://schemas.openxmlformats.org/drawingml/2006/main">
            <a:pPr algn="l">
              <a:lnSpc>
                <a:spcPct val="145000"/>
              </a:lnSpc>
              <a:buNone/>
              <a:defRPr sz="1350" b="0" i="0">
                <a:solidFill>
                  <a:srgbClr val="FFFFFF"/>
                </a:solidFill>
                <a:latin typeface="Aptos"/>
                <a:ea typeface="Aptos"/>
                <a:cs typeface="Aptos"/>
              </a:defRPr>
            </a:pPr>
            <a:r>
              <a:rPr sz="1350" b="0" i="0">
                <a:solidFill>
                  <a:srgbClr val="FFFFFF"/>
                </a:solidFill>
                <a:latin typeface="Aptos"/>
                <a:ea typeface="Aptos"/>
                <a:cs typeface="Aptos"/>
              </a:rPr>
              <a:t>✓ Valid JSON copied</a:t>
            </a:r>
          </a:p>
          <a:p xmlns:a="http://schemas.openxmlformats.org/drawingml/2006/main">
            <a:pPr algn="l">
              <a:lnSpc>
                <a:spcPct val="145000"/>
              </a:lnSpc>
              <a:buNone/>
              <a:defRPr sz="1350" b="0" i="0">
                <a:solidFill>
                  <a:srgbClr val="FFFFFF"/>
                </a:solidFill>
                <a:latin typeface="Aptos"/>
                <a:ea typeface="Aptos"/>
                <a:cs typeface="Aptos"/>
              </a:defRPr>
            </a:pPr>
            <a:r>
              <a:rPr sz="1350" b="0" i="0">
                <a:solidFill>
                  <a:srgbClr val="FFFFFF"/>
                </a:solidFill>
                <a:latin typeface="Aptos"/>
                <a:ea typeface="Aptos"/>
                <a:cs typeface="Aptos"/>
              </a:rPr>
              <a:t>✓ Backup slide ready</a:t>
            </a:r>
          </a:p>
        </p:txBody>
      </p:sp>
      <p:sp>
        <p:nvSpPr>
          <p:cNvPr id="22" name="">
            <a:extLst xmlns:a="http://schemas.openxmlformats.org/drawingml/2006/main">
              <a:ext uri="{FF2B5EF4-FFF2-40B4-BE49-F238E27FC236}">
                <a16:creationId xmlns:a16="http://schemas.microsoft.com/office/drawing/2014/main" id="{36F33C47-FC4C-48CF-BCD5-A6382D6E06F4}"/>
              </a:ext>
            </a:extLst>
          </p:cNvPr>
          <p:cNvSpPr>
            <a:spLocks xmlns:a="http://schemas.openxmlformats.org/drawingml/2006/main" noGrp="1"/>
          </p:cNvSpPr>
          <p:nvPr/>
        </p:nvSpPr>
        <p:spPr>
          <a:xfrm xmlns:a="http://schemas.openxmlformats.org/drawingml/2006/main">
            <a:off x="8515350" y="4933950"/>
            <a:ext cx="2000250" cy="400050"/>
          </a:xfrm>
          <a:prstGeom xmlns:a="http://schemas.openxmlformats.org/drawingml/2006/main" prst="roundRect">
            <a:avLst>
              <a:gd name="adj" fmla="val 28571"/>
            </a:avLst>
          </a:prstGeom>
          <a:solidFill xmlns:a="http://schemas.openxmlformats.org/drawingml/2006/main">
            <a:srgbClr val="EF765E"/>
          </a:solidFill>
          <a:ln xmlns:a="http://schemas.openxmlformats.org/drawingml/2006/main" w="0">
            <a:noFill/>
            <a:prstDash val="solid"/>
          </a:ln>
        </p:spPr>
        <p:txBody>
          <a:bodyPr xmlns:a="http://schemas.openxmlformats.org/drawingml/2006/main" lIns="38100" tIns="38100" rIns="38100" bIns="38100" anchor="ctr">
            <a:normAutofit fontScale="100000"/>
          </a:bodyPr>
          <a:lstStyle xmlns:a="http://schemas.openxmlformats.org/drawingml/2006/main">
            <a:defPPr algn="ctr">
              <a:defRPr sz="1050" b="1">
                <a:solidFill>
                  <a:srgbClr val="FFFFFF"/>
                </a:solidFill>
                <a:latin typeface="Aptos"/>
                <a:ea typeface="Aptos"/>
                <a:cs typeface="Aptos"/>
              </a:defRPr>
            </a:defPPr>
          </a:lstStyle>
          <a:p xmlns:a="http://schemas.openxmlformats.org/drawingml/2006/main">
            <a:pPr algn="ctr">
              <a:defRPr sz="1050" b="1">
                <a:solidFill>
                  <a:srgbClr val="FFFFFF"/>
                </a:solidFill>
                <a:latin typeface="Aptos"/>
                <a:ea typeface="Aptos"/>
                <a:cs typeface="Aptos"/>
              </a:defRPr>
            </a:pPr>
            <a:r>
              <a:rPr sz="1050" b="1">
                <a:solidFill>
                  <a:srgbClr val="FFFFFF"/>
                </a:solidFill>
                <a:latin typeface="Aptos"/>
                <a:ea typeface="Aptos"/>
                <a:cs typeface="Aptos"/>
              </a:rPr>
              <a:t>STOP AFTER 422</a:t>
            </a:r>
          </a:p>
        </p:txBody>
      </p:sp>
    </p:spTree>
    <p:extLst>
      <p:ext uri="{BB962C8B-B14F-4D97-AF65-F5344CB8AC3E}">
        <p14:creationId xmlns:p14="http://schemas.microsoft.com/office/powerpoint/2010/main" val="1232319567"/>
      </p:ext>
    </p:extLst>
  </p:cSld>
</p:sld>
</file>

<file path=ppt/slides/slide9.xml><?xml version="1.0" encoding="utf-8"?>
<p:sld xmlns:p="http://schemas.openxmlformats.org/presentationml/2006/main">
  <p:cSld>
    <p:bg>
      <p:bgPr>
        <a:solidFill xmlns:a="http://schemas.openxmlformats.org/drawingml/2006/main">
          <a:srgbClr val="FFFDF8"/>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5F71C611-C593-4FF3-BF7E-49CAB47062C9}"/>
              </a:ext>
            </a:extLst>
          </p:cNvPr>
          <p:cNvSpPr>
            <a:spLocks xmlns:a="http://schemas.openxmlformats.org/drawingml/2006/main" noGrp="1"/>
          </p:cNvSpPr>
          <p:nvPr/>
        </p:nvSpPr>
        <p:spPr>
          <a:xfrm xmlns:a="http://schemas.openxmlformats.org/drawingml/2006/main">
            <a:off x="609600" y="45720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75" b="1" i="0">
                <a:solidFill>
                  <a:srgbClr val="055A52"/>
                </a:solidFill>
                <a:latin typeface="Aptos"/>
                <a:ea typeface="Aptos"/>
                <a:cs typeface="Aptos"/>
              </a:defRPr>
            </a:defPPr>
          </a:lstStyle>
          <a:p xmlns:a="http://schemas.openxmlformats.org/drawingml/2006/main">
            <a:pPr algn="l">
              <a:lnSpc>
                <a:spcPct val="100000"/>
              </a:lnSpc>
              <a:buNone/>
              <a:defRPr sz="975" b="1" i="0">
                <a:solidFill>
                  <a:srgbClr val="055A52"/>
                </a:solidFill>
                <a:latin typeface="Aptos"/>
                <a:ea typeface="Aptos"/>
                <a:cs typeface="Aptos"/>
              </a:defRPr>
            </a:pPr>
            <a:r>
              <a:rPr sz="975" b="1" i="0">
                <a:solidFill>
                  <a:srgbClr val="055A52"/>
                </a:solidFill>
                <a:latin typeface="Aptos"/>
                <a:ea typeface="Aptos"/>
                <a:cs typeface="Aptos"/>
              </a:rPr>
              <a:t>AUTOMATED VERIFICATION</a:t>
            </a:r>
          </a:p>
        </p:txBody>
      </p:sp>
      <p:sp>
        <p:nvSpPr>
          <p:cNvPr id="2" name="">
            <a:extLst xmlns:a="http://schemas.openxmlformats.org/drawingml/2006/main">
              <a:ext uri="{FF2B5EF4-FFF2-40B4-BE49-F238E27FC236}">
                <a16:creationId xmlns:a16="http://schemas.microsoft.com/office/drawing/2014/main" id="{94290E27-AE92-4547-AFCD-6E084DA74B06}"/>
              </a:ext>
            </a:extLst>
          </p:cNvPr>
          <p:cNvSpPr>
            <a:spLocks xmlns:a="http://schemas.openxmlformats.org/drawingml/2006/main" noGrp="1"/>
          </p:cNvSpPr>
          <p:nvPr/>
        </p:nvSpPr>
        <p:spPr>
          <a:xfrm xmlns:a="http://schemas.openxmlformats.org/drawingml/2006/main">
            <a:off x="609600" y="781050"/>
            <a:ext cx="10668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850" b="1" i="0">
                <a:solidFill>
                  <a:srgbClr val="102333"/>
                </a:solidFill>
                <a:latin typeface="Aptos"/>
                <a:ea typeface="Aptos"/>
                <a:cs typeface="Aptos"/>
              </a:defRPr>
            </a:defPPr>
          </a:lstStyle>
          <a:p xmlns:a="http://schemas.openxmlformats.org/drawingml/2006/main">
            <a:pPr algn="l">
              <a:lnSpc>
                <a:spcPct val="95000"/>
              </a:lnSpc>
              <a:buNone/>
              <a:defRPr sz="2850" b="1" i="0">
                <a:solidFill>
                  <a:srgbClr val="102333"/>
                </a:solidFill>
                <a:latin typeface="Aptos"/>
                <a:ea typeface="Aptos"/>
                <a:cs typeface="Aptos"/>
              </a:defRPr>
            </a:pPr>
            <a:r>
              <a:rPr sz="2850" b="1" i="0">
                <a:solidFill>
                  <a:srgbClr val="102333"/>
                </a:solidFill>
                <a:latin typeface="Aptos"/>
                <a:ea typeface="Aptos"/>
                <a:cs typeface="Aptos"/>
              </a:rPr>
              <a:t>Eight tests confirm the demo behaves as described</a:t>
            </a:r>
          </a:p>
        </p:txBody>
      </p:sp>
      <p:sp>
        <p:nvSpPr>
          <p:cNvPr id="3" name="">
            <a:extLst xmlns:a="http://schemas.openxmlformats.org/drawingml/2006/main">
              <a:ext uri="{FF2B5EF4-FFF2-40B4-BE49-F238E27FC236}">
                <a16:creationId xmlns:a16="http://schemas.microsoft.com/office/drawing/2014/main" id="{6EE06F50-742F-4793-8C66-3689C837A736}"/>
              </a:ext>
            </a:extLst>
          </p:cNvPr>
          <p:cNvSpPr>
            <a:spLocks xmlns:a="http://schemas.openxmlformats.org/drawingml/2006/main" noGrp="1"/>
          </p:cNvSpPr>
          <p:nvPr/>
        </p:nvSpPr>
        <p:spPr>
          <a:xfrm xmlns:a="http://schemas.openxmlformats.org/drawingml/2006/main">
            <a:off x="628650" y="1466850"/>
            <a:ext cx="1000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350" b="0" i="0">
                <a:solidFill>
                  <a:srgbClr val="536876"/>
                </a:solidFill>
                <a:latin typeface="Aptos"/>
                <a:ea typeface="Aptos"/>
                <a:cs typeface="Aptos"/>
              </a:defRPr>
            </a:defPPr>
          </a:lstStyle>
          <a:p xmlns:a="http://schemas.openxmlformats.org/drawingml/2006/main">
            <a:pPr algn="l">
              <a:lnSpc>
                <a:spcPct val="100000"/>
              </a:lnSpc>
              <a:buNone/>
              <a:defRPr sz="1350" b="0" i="0">
                <a:solidFill>
                  <a:srgbClr val="536876"/>
                </a:solidFill>
                <a:latin typeface="Aptos"/>
                <a:ea typeface="Aptos"/>
                <a:cs typeface="Aptos"/>
              </a:defRPr>
            </a:pPr>
            <a:r>
              <a:rPr sz="1350" b="0" i="0">
                <a:solidFill>
                  <a:srgbClr val="536876"/>
                </a:solidFill>
                <a:latin typeface="Aptos"/>
                <a:ea typeface="Aptos"/>
                <a:cs typeface="Aptos"/>
              </a:rPr>
              <a:t>The tests start with a fresh in-memory repository, so results are repeatable.</a:t>
            </a:r>
          </a:p>
        </p:txBody>
      </p:sp>
      <p:sp>
        <p:nvSpPr>
          <p:cNvPr id="4" name="">
            <a:extLst xmlns:a="http://schemas.openxmlformats.org/drawingml/2006/main">
              <a:ext uri="{FF2B5EF4-FFF2-40B4-BE49-F238E27FC236}">
                <a16:creationId xmlns:a16="http://schemas.microsoft.com/office/drawing/2014/main" id="{6857CE31-B440-43C6-87CA-D3749BFF74EE}"/>
              </a:ext>
            </a:extLst>
          </p:cNvPr>
          <p:cNvSpPr>
            <a:spLocks xmlns:a="http://schemas.openxmlformats.org/drawingml/2006/main" noGrp="1"/>
          </p:cNvSpPr>
          <p:nvPr/>
        </p:nvSpPr>
        <p:spPr>
          <a:xfrm xmlns:a="http://schemas.openxmlformats.org/drawingml/2006/main">
            <a:off x="609600" y="6477000"/>
            <a:ext cx="10972800" cy="14288"/>
          </a:xfrm>
          <a:prstGeom xmlns:a="http://schemas.openxmlformats.org/drawingml/2006/main" prst="rect">
            <a:avLst/>
          </a:prstGeom>
          <a:solidFill xmlns:a="http://schemas.openxmlformats.org/drawingml/2006/main">
            <a:srgbClr val="CCD9D5"/>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FA466A00-EA8B-406A-8C5A-49346F0761A4}"/>
              </a:ext>
            </a:extLst>
          </p:cNvPr>
          <p:cNvSpPr>
            <a:spLocks xmlns:a="http://schemas.openxmlformats.org/drawingml/2006/main" noGrp="1"/>
          </p:cNvSpPr>
          <p:nvPr/>
        </p:nvSpPr>
        <p:spPr>
          <a:xfrm xmlns:a="http://schemas.openxmlformats.org/drawingml/2006/main">
            <a:off x="609600" y="655320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825" b="1" i="0">
                <a:solidFill>
                  <a:srgbClr val="536876"/>
                </a:solidFill>
                <a:latin typeface="Aptos"/>
                <a:ea typeface="Aptos"/>
                <a:cs typeface="Aptos"/>
              </a:defRPr>
            </a:defPPr>
          </a:lstStyle>
          <a:p xmlns:a="http://schemas.openxmlformats.org/drawingml/2006/main">
            <a:pPr algn="l">
              <a:lnSpc>
                <a:spcPct val="100000"/>
              </a:lnSpc>
              <a:buNone/>
              <a:defRPr sz="825" b="1" i="0">
                <a:solidFill>
                  <a:srgbClr val="536876"/>
                </a:solidFill>
                <a:latin typeface="Aptos"/>
                <a:ea typeface="Aptos"/>
                <a:cs typeface="Aptos"/>
              </a:defRPr>
            </a:pPr>
            <a:r>
              <a:rPr sz="825" b="1" i="0">
                <a:solidFill>
                  <a:srgbClr val="536876"/>
                </a:solidFill>
                <a:latin typeface="Aptos"/>
                <a:ea typeface="Aptos"/>
                <a:cs typeface="Aptos"/>
              </a:rPr>
              <a:t>COMP10020 · FASTAPI</a:t>
            </a:r>
          </a:p>
        </p:txBody>
      </p:sp>
      <p:sp>
        <p:nvSpPr>
          <p:cNvPr id="6" name="">
            <a:extLst xmlns:a="http://schemas.openxmlformats.org/drawingml/2006/main">
              <a:ext uri="{FF2B5EF4-FFF2-40B4-BE49-F238E27FC236}">
                <a16:creationId xmlns:a16="http://schemas.microsoft.com/office/drawing/2014/main" id="{513CF1EE-7863-4F08-B3B8-FE73DDCBBB74}"/>
              </a:ext>
            </a:extLst>
          </p:cNvPr>
          <p:cNvSpPr>
            <a:spLocks xmlns:a="http://schemas.openxmlformats.org/drawingml/2006/main" noGrp="1"/>
          </p:cNvSpPr>
          <p:nvPr/>
        </p:nvSpPr>
        <p:spPr>
          <a:xfrm xmlns:a="http://schemas.openxmlformats.org/drawingml/2006/main">
            <a:off x="11049000" y="6543675"/>
            <a:ext cx="533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r">
              <a:defRPr sz="825" b="1" i="0">
                <a:solidFill>
                  <a:srgbClr val="536876"/>
                </a:solidFill>
                <a:latin typeface="Aptos"/>
                <a:ea typeface="Aptos"/>
                <a:cs typeface="Aptos"/>
              </a:defRPr>
            </a:defPPr>
          </a:lstStyle>
          <a:p xmlns:a="http://schemas.openxmlformats.org/drawingml/2006/main">
            <a:pPr algn="r">
              <a:lnSpc>
                <a:spcPct val="100000"/>
              </a:lnSpc>
              <a:buNone/>
              <a:defRPr sz="825" b="1" i="0">
                <a:solidFill>
                  <a:srgbClr val="536876"/>
                </a:solidFill>
                <a:latin typeface="Aptos"/>
                <a:ea typeface="Aptos"/>
                <a:cs typeface="Aptos"/>
              </a:defRPr>
            </a:pPr>
            <a:r>
              <a:rPr sz="825" b="1" i="0">
                <a:solidFill>
                  <a:srgbClr val="536876"/>
                </a:solidFill>
                <a:latin typeface="Aptos"/>
                <a:ea typeface="Aptos"/>
                <a:cs typeface="Aptos"/>
              </a:rPr>
              <a:t>09</a:t>
            </a:r>
          </a:p>
        </p:txBody>
      </p:sp>
      <p:sp>
        <p:nvSpPr>
          <p:cNvPr id="7" name="">
            <a:extLst xmlns:a="http://schemas.openxmlformats.org/drawingml/2006/main">
              <a:ext uri="{FF2B5EF4-FFF2-40B4-BE49-F238E27FC236}">
                <a16:creationId xmlns:a16="http://schemas.microsoft.com/office/drawing/2014/main" id="{49624078-E32B-4535-8331-5F9514BB245B}"/>
              </a:ext>
            </a:extLst>
          </p:cNvPr>
          <p:cNvSpPr>
            <a:spLocks xmlns:a="http://schemas.openxmlformats.org/drawingml/2006/main" noGrp="1"/>
          </p:cNvSpPr>
          <p:nvPr/>
        </p:nvSpPr>
        <p:spPr>
          <a:xfrm xmlns:a="http://schemas.openxmlformats.org/drawingml/2006/main">
            <a:off x="685800" y="2343150"/>
            <a:ext cx="4629150" cy="2133600"/>
          </a:xfrm>
          <a:prstGeom xmlns:a="http://schemas.openxmlformats.org/drawingml/2006/main" prst="roundRect">
            <a:avLst>
              <a:gd name="adj" fmla="val 5357"/>
            </a:avLst>
          </a:prstGeom>
          <a:solidFill xmlns:a="http://schemas.openxmlformats.org/drawingml/2006/main">
            <a:srgbClr val="0E1C27"/>
          </a:solidFill>
          <a:ln xmlns:a="http://schemas.openxmlformats.org/drawingml/2006/main" w="9525">
            <a:solidFill>
              <a:srgbClr val="263B4B"/>
            </a:solidFill>
            <a:prstDash val="solid"/>
          </a:ln>
        </p:spPr>
      </p:sp>
      <p:sp>
        <p:nvSpPr>
          <p:cNvPr id="8" name="">
            <a:extLst xmlns:a="http://schemas.openxmlformats.org/drawingml/2006/main">
              <a:ext uri="{FF2B5EF4-FFF2-40B4-BE49-F238E27FC236}">
                <a16:creationId xmlns:a16="http://schemas.microsoft.com/office/drawing/2014/main" id="{87A62F36-18B0-4425-9464-766EAA1DB0B3}"/>
              </a:ext>
            </a:extLst>
          </p:cNvPr>
          <p:cNvSpPr>
            <a:spLocks xmlns:a="http://schemas.openxmlformats.org/drawingml/2006/main" noGrp="1"/>
          </p:cNvSpPr>
          <p:nvPr/>
        </p:nvSpPr>
        <p:spPr>
          <a:xfrm xmlns:a="http://schemas.openxmlformats.org/drawingml/2006/main">
            <a:off x="685800" y="2743200"/>
            <a:ext cx="4629150" cy="9525"/>
          </a:xfrm>
          <a:prstGeom xmlns:a="http://schemas.openxmlformats.org/drawingml/2006/main" prst="rect">
            <a:avLst/>
          </a:prstGeom>
          <a:solidFill xmlns:a="http://schemas.openxmlformats.org/drawingml/2006/main">
            <a:srgbClr val="263B4B"/>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5ACC04-F9DD-4C39-9894-C95156836E7D}"/>
              </a:ext>
            </a:extLst>
          </p:cNvPr>
          <p:cNvSpPr>
            <a:spLocks xmlns:a="http://schemas.openxmlformats.org/drawingml/2006/main" noGrp="1"/>
          </p:cNvSpPr>
          <p:nvPr/>
        </p:nvSpPr>
        <p:spPr>
          <a:xfrm xmlns:a="http://schemas.openxmlformats.org/drawingml/2006/main">
            <a:off x="857250" y="2466975"/>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00" b="1" i="0">
                <a:solidFill>
                  <a:srgbClr val="A8BAC6"/>
                </a:solidFill>
                <a:latin typeface="Cascadia Mono"/>
                <a:ea typeface="Cascadia Mono"/>
                <a:cs typeface="Cascadia Mono"/>
              </a:defRPr>
            </a:defPPr>
          </a:lstStyle>
          <a:p xmlns:a="http://schemas.openxmlformats.org/drawingml/2006/main">
            <a:pPr algn="l">
              <a:lnSpc>
                <a:spcPct val="100000"/>
              </a:lnSpc>
              <a:buNone/>
              <a:defRPr sz="900" b="1" i="0">
                <a:solidFill>
                  <a:srgbClr val="A8BAC6"/>
                </a:solidFill>
                <a:latin typeface="Cascadia Mono"/>
                <a:ea typeface="Cascadia Mono"/>
                <a:cs typeface="Cascadia Mono"/>
              </a:defRPr>
            </a:pPr>
            <a:r>
              <a:rPr sz="900" b="1" i="0">
                <a:solidFill>
                  <a:srgbClr val="A8BAC6"/>
                </a:solidFill>
                <a:latin typeface="Cascadia Mono"/>
                <a:ea typeface="Cascadia Mono"/>
                <a:cs typeface="Cascadia Mono"/>
              </a:rPr>
              <a:t>PowerShell</a:t>
            </a:r>
          </a:p>
        </p:txBody>
      </p:sp>
      <p:sp>
        <p:nvSpPr>
          <p:cNvPr id="10" name="">
            <a:extLst xmlns:a="http://schemas.openxmlformats.org/drawingml/2006/main">
              <a:ext uri="{FF2B5EF4-FFF2-40B4-BE49-F238E27FC236}">
                <a16:creationId xmlns:a16="http://schemas.microsoft.com/office/drawing/2014/main" id="{7808DE34-A57A-41B5-80F7-D2328C2493B9}"/>
              </a:ext>
            </a:extLst>
          </p:cNvPr>
          <p:cNvSpPr>
            <a:spLocks xmlns:a="http://schemas.openxmlformats.org/drawingml/2006/main" noGrp="1"/>
          </p:cNvSpPr>
          <p:nvPr/>
        </p:nvSpPr>
        <p:spPr>
          <a:xfrm xmlns:a="http://schemas.openxmlformats.org/drawingml/2006/main">
            <a:off x="895350" y="2895600"/>
            <a:ext cx="42100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725" b="0" i="0">
                <a:solidFill>
                  <a:srgbClr val="8DE2BD"/>
                </a:solidFill>
                <a:latin typeface="Cascadia Mono"/>
                <a:ea typeface="Cascadia Mono"/>
                <a:cs typeface="Cascadia Mono"/>
              </a:defRPr>
            </a:defPPr>
          </a:lstStyle>
          <a:p xmlns:a="http://schemas.openxmlformats.org/drawingml/2006/main">
            <a:pPr algn="l">
              <a:lnSpc>
                <a:spcPct val="130000"/>
              </a:lnSpc>
              <a:buNone/>
              <a:defRPr sz="1725" b="0" i="0">
                <a:solidFill>
                  <a:srgbClr val="8DE2BD"/>
                </a:solidFill>
                <a:latin typeface="Cascadia Mono"/>
                <a:ea typeface="Cascadia Mono"/>
                <a:cs typeface="Cascadia Mono"/>
              </a:defRPr>
            </a:pPr>
            <a:r>
              <a:rPr sz="1725" b="0" i="0">
                <a:solidFill>
                  <a:srgbClr val="8DE2BD"/>
                </a:solidFill>
                <a:latin typeface="Cascadia Mono"/>
                <a:ea typeface="Cascadia Mono"/>
                <a:cs typeface="Cascadia Mono"/>
              </a:rPr>
              <a:t>&gt; python -m pytest -q</a:t>
            </a:r>
          </a:p>
          <a:p xmlns:a="http://schemas.openxmlformats.org/drawingml/2006/main">
            <a:pPr algn="l">
              <a:lnSpc>
                <a:spcPct val="130000"/>
              </a:lnSpc>
              <a:buNone/>
              <a:defRPr sz="1725" b="0" i="0">
                <a:solidFill>
                  <a:srgbClr val="8DE2BD"/>
                </a:solidFill>
                <a:latin typeface="Cascadia Mono"/>
                <a:ea typeface="Cascadia Mono"/>
                <a:cs typeface="Cascadia Mono"/>
              </a:defRPr>
            </a:pPr>
            <a:r>
              <a:rPr sz="1725" b="0" i="0">
                <a:solidFill>
                  <a:srgbClr val="8DE2BD"/>
                </a:solidFill>
                <a:latin typeface="Cascadia Mono"/>
                <a:ea typeface="Cascadia Mono"/>
                <a:cs typeface="Cascadia Mono"/>
              </a:rPr>
              <a:t>........                         [100%]</a:t>
            </a:r>
          </a:p>
          <a:p xmlns:a="http://schemas.openxmlformats.org/drawingml/2006/main">
            <a:pPr algn="l">
              <a:lnSpc>
                <a:spcPct val="130000"/>
              </a:lnSpc>
              <a:buNone/>
              <a:defRPr sz="1725" b="0" i="0">
                <a:solidFill>
                  <a:srgbClr val="8DE2BD"/>
                </a:solidFill>
                <a:latin typeface="Cascadia Mono"/>
                <a:ea typeface="Cascadia Mono"/>
                <a:cs typeface="Cascadia Mono"/>
              </a:defRPr>
            </a:pPr>
            <a:r>
              <a:rPr sz="1725" b="0" i="0">
                <a:solidFill>
                  <a:srgbClr val="8DE2BD"/>
                </a:solidFill>
                <a:latin typeface="Cascadia Mono"/>
                <a:ea typeface="Cascadia Mono"/>
                <a:cs typeface="Cascadia Mono"/>
              </a:rPr>
              <a:t>8 passed</a:t>
            </a:r>
          </a:p>
        </p:txBody>
      </p:sp>
      <p:sp>
        <p:nvSpPr>
          <p:cNvPr id="11" name="">
            <a:extLst xmlns:a="http://schemas.openxmlformats.org/drawingml/2006/main">
              <a:ext uri="{FF2B5EF4-FFF2-40B4-BE49-F238E27FC236}">
                <a16:creationId xmlns:a16="http://schemas.microsoft.com/office/drawing/2014/main" id="{B612616A-4BFC-4FF2-BAD3-2D99AB12AF69}"/>
              </a:ext>
            </a:extLst>
          </p:cNvPr>
          <p:cNvSpPr>
            <a:spLocks xmlns:a="http://schemas.openxmlformats.org/drawingml/2006/main" noGrp="1"/>
          </p:cNvSpPr>
          <p:nvPr/>
        </p:nvSpPr>
        <p:spPr>
          <a:xfrm xmlns:a="http://schemas.openxmlformats.org/drawingml/2006/main">
            <a:off x="6191250" y="2266950"/>
            <a:ext cx="2266950" cy="1181100"/>
          </a:xfrm>
          <a:prstGeom xmlns:a="http://schemas.openxmlformats.org/drawingml/2006/main" prst="rect">
            <a:avLst/>
          </a:prstGeom>
          <a:solidFill xmlns:a="http://schemas.openxmlformats.org/drawingml/2006/main">
            <a:srgbClr val="EDF4F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C624A89-ACF5-49C6-9C9B-FCE0E6BC9F43}"/>
              </a:ext>
            </a:extLst>
          </p:cNvPr>
          <p:cNvSpPr>
            <a:spLocks xmlns:a="http://schemas.openxmlformats.org/drawingml/2006/main" noGrp="1"/>
          </p:cNvSpPr>
          <p:nvPr/>
        </p:nvSpPr>
        <p:spPr>
          <a:xfrm xmlns:a="http://schemas.openxmlformats.org/drawingml/2006/main">
            <a:off x="6381750" y="243840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050" b="1" i="0">
                <a:solidFill>
                  <a:srgbClr val="055A52"/>
                </a:solidFill>
                <a:latin typeface="Aptos"/>
                <a:ea typeface="Aptos"/>
                <a:cs typeface="Aptos"/>
              </a:defRPr>
            </a:defPPr>
          </a:lstStyle>
          <a:p xmlns:a="http://schemas.openxmlformats.org/drawingml/2006/main">
            <a:pPr algn="l">
              <a:lnSpc>
                <a:spcPct val="100000"/>
              </a:lnSpc>
              <a:buNone/>
              <a:defRPr sz="1050" b="1" i="0">
                <a:solidFill>
                  <a:srgbClr val="055A52"/>
                </a:solidFill>
                <a:latin typeface="Aptos"/>
                <a:ea typeface="Aptos"/>
                <a:cs typeface="Aptos"/>
              </a:defRPr>
            </a:pPr>
            <a:r>
              <a:rPr sz="1050" b="1" i="0">
                <a:solidFill>
                  <a:srgbClr val="055A52"/>
                </a:solidFill>
                <a:latin typeface="Aptos"/>
                <a:ea typeface="Aptos"/>
                <a:cs typeface="Aptos"/>
              </a:rPr>
              <a:t>DOCS</a:t>
            </a:r>
          </a:p>
        </p:txBody>
      </p:sp>
      <p:sp>
        <p:nvSpPr>
          <p:cNvPr id="13" name="">
            <a:extLst xmlns:a="http://schemas.openxmlformats.org/drawingml/2006/main">
              <a:ext uri="{FF2B5EF4-FFF2-40B4-BE49-F238E27FC236}">
                <a16:creationId xmlns:a16="http://schemas.microsoft.com/office/drawing/2014/main" id="{2EEF0D88-82C3-4EB3-9E77-AA852FC2EA9F}"/>
              </a:ext>
            </a:extLst>
          </p:cNvPr>
          <p:cNvSpPr>
            <a:spLocks xmlns:a="http://schemas.openxmlformats.org/drawingml/2006/main" noGrp="1"/>
          </p:cNvSpPr>
          <p:nvPr/>
        </p:nvSpPr>
        <p:spPr>
          <a:xfrm xmlns:a="http://schemas.openxmlformats.org/drawingml/2006/main">
            <a:off x="6381750" y="2781300"/>
            <a:ext cx="1866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75" b="1" i="0">
                <a:solidFill>
                  <a:srgbClr val="102333"/>
                </a:solidFill>
                <a:latin typeface="Aptos"/>
                <a:ea typeface="Aptos"/>
                <a:cs typeface="Aptos"/>
              </a:defRPr>
            </a:defPPr>
          </a:lstStyle>
          <a:p xmlns:a="http://schemas.openxmlformats.org/drawingml/2006/main">
            <a:pPr algn="l">
              <a:lnSpc>
                <a:spcPct val="112000"/>
              </a:lnSpc>
              <a:buNone/>
              <a:defRPr sz="1275" b="1" i="0">
                <a:solidFill>
                  <a:srgbClr val="102333"/>
                </a:solidFill>
                <a:latin typeface="Aptos"/>
                <a:ea typeface="Aptos"/>
                <a:cs typeface="Aptos"/>
              </a:defRPr>
            </a:pPr>
            <a:r>
              <a:rPr sz="1275" b="1" i="0">
                <a:solidFill>
                  <a:srgbClr val="102333"/>
                </a:solidFill>
                <a:latin typeface="Aptos"/>
                <a:ea typeface="Aptos"/>
                <a:cs typeface="Aptos"/>
              </a:rPr>
              <a:t>/docs and OpenAPI schema</a:t>
            </a:r>
          </a:p>
        </p:txBody>
      </p:sp>
      <p:sp>
        <p:nvSpPr>
          <p:cNvPr id="14" name="">
            <a:extLst xmlns:a="http://schemas.openxmlformats.org/drawingml/2006/main">
              <a:ext uri="{FF2B5EF4-FFF2-40B4-BE49-F238E27FC236}">
                <a16:creationId xmlns:a16="http://schemas.microsoft.com/office/drawing/2014/main" id="{8349E6A3-EAFD-4C65-93CF-7D14E5A413C2}"/>
              </a:ext>
            </a:extLst>
          </p:cNvPr>
          <p:cNvSpPr>
            <a:spLocks xmlns:a="http://schemas.openxmlformats.org/drawingml/2006/main" noGrp="1"/>
          </p:cNvSpPr>
          <p:nvPr/>
        </p:nvSpPr>
        <p:spPr>
          <a:xfrm xmlns:a="http://schemas.openxmlformats.org/drawingml/2006/main">
            <a:off x="8763000" y="2266950"/>
            <a:ext cx="2266950" cy="1181100"/>
          </a:xfrm>
          <a:prstGeom xmlns:a="http://schemas.openxmlformats.org/drawingml/2006/main" prst="rect">
            <a:avLst/>
          </a:prstGeom>
          <a:solidFill xmlns:a="http://schemas.openxmlformats.org/drawingml/2006/main">
            <a:srgbClr val="EDF4F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F6B2A5E-D769-427C-932A-7EA5BEA8FB4E}"/>
              </a:ext>
            </a:extLst>
          </p:cNvPr>
          <p:cNvSpPr>
            <a:spLocks xmlns:a="http://schemas.openxmlformats.org/drawingml/2006/main" noGrp="1"/>
          </p:cNvSpPr>
          <p:nvPr/>
        </p:nvSpPr>
        <p:spPr>
          <a:xfrm xmlns:a="http://schemas.openxmlformats.org/drawingml/2006/main">
            <a:off x="8953500" y="243840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050" b="1" i="0">
                <a:solidFill>
                  <a:srgbClr val="055A52"/>
                </a:solidFill>
                <a:latin typeface="Aptos"/>
                <a:ea typeface="Aptos"/>
                <a:cs typeface="Aptos"/>
              </a:defRPr>
            </a:defPPr>
          </a:lstStyle>
          <a:p xmlns:a="http://schemas.openxmlformats.org/drawingml/2006/main">
            <a:pPr algn="l">
              <a:lnSpc>
                <a:spcPct val="100000"/>
              </a:lnSpc>
              <a:buNone/>
              <a:defRPr sz="1050" b="1" i="0">
                <a:solidFill>
                  <a:srgbClr val="055A52"/>
                </a:solidFill>
                <a:latin typeface="Aptos"/>
                <a:ea typeface="Aptos"/>
                <a:cs typeface="Aptos"/>
              </a:defRPr>
            </a:pPr>
            <a:r>
              <a:rPr sz="1050" b="1" i="0">
                <a:solidFill>
                  <a:srgbClr val="055A52"/>
                </a:solidFill>
                <a:latin typeface="Aptos"/>
                <a:ea typeface="Aptos"/>
                <a:cs typeface="Aptos"/>
              </a:rPr>
              <a:t>CRUD</a:t>
            </a:r>
          </a:p>
        </p:txBody>
      </p:sp>
      <p:sp>
        <p:nvSpPr>
          <p:cNvPr id="16" name="">
            <a:extLst xmlns:a="http://schemas.openxmlformats.org/drawingml/2006/main">
              <a:ext uri="{FF2B5EF4-FFF2-40B4-BE49-F238E27FC236}">
                <a16:creationId xmlns:a16="http://schemas.microsoft.com/office/drawing/2014/main" id="{D4EEF8EC-C7B6-4EE7-9377-905D2F75A579}"/>
              </a:ext>
            </a:extLst>
          </p:cNvPr>
          <p:cNvSpPr>
            <a:spLocks xmlns:a="http://schemas.openxmlformats.org/drawingml/2006/main" noGrp="1"/>
          </p:cNvSpPr>
          <p:nvPr/>
        </p:nvSpPr>
        <p:spPr>
          <a:xfrm xmlns:a="http://schemas.openxmlformats.org/drawingml/2006/main">
            <a:off x="8953500" y="2781300"/>
            <a:ext cx="1866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75" b="1" i="0">
                <a:solidFill>
                  <a:srgbClr val="102333"/>
                </a:solidFill>
                <a:latin typeface="Aptos"/>
                <a:ea typeface="Aptos"/>
                <a:cs typeface="Aptos"/>
              </a:defRPr>
            </a:defPPr>
          </a:lstStyle>
          <a:p xmlns:a="http://schemas.openxmlformats.org/drawingml/2006/main">
            <a:pPr algn="l">
              <a:lnSpc>
                <a:spcPct val="112000"/>
              </a:lnSpc>
              <a:buNone/>
              <a:defRPr sz="1275" b="1" i="0">
                <a:solidFill>
                  <a:srgbClr val="102333"/>
                </a:solidFill>
                <a:latin typeface="Aptos"/>
                <a:ea typeface="Aptos"/>
                <a:cs typeface="Aptos"/>
              </a:defRPr>
            </a:pPr>
            <a:r>
              <a:rPr sz="1275" b="1" i="0">
                <a:solidFill>
                  <a:srgbClr val="102333"/>
                </a:solidFill>
                <a:latin typeface="Aptos"/>
                <a:ea typeface="Aptos"/>
                <a:cs typeface="Aptos"/>
              </a:rPr>
              <a:t>Create, read, replace, delete</a:t>
            </a:r>
          </a:p>
        </p:txBody>
      </p:sp>
      <p:sp>
        <p:nvSpPr>
          <p:cNvPr id="17" name="">
            <a:extLst xmlns:a="http://schemas.openxmlformats.org/drawingml/2006/main">
              <a:ext uri="{FF2B5EF4-FFF2-40B4-BE49-F238E27FC236}">
                <a16:creationId xmlns:a16="http://schemas.microsoft.com/office/drawing/2014/main" id="{690F4B7A-4026-4357-B484-2A4E9E7E6E1D}"/>
              </a:ext>
            </a:extLst>
          </p:cNvPr>
          <p:cNvSpPr>
            <a:spLocks xmlns:a="http://schemas.openxmlformats.org/drawingml/2006/main" noGrp="1"/>
          </p:cNvSpPr>
          <p:nvPr/>
        </p:nvSpPr>
        <p:spPr>
          <a:xfrm xmlns:a="http://schemas.openxmlformats.org/drawingml/2006/main">
            <a:off x="6191250" y="3733800"/>
            <a:ext cx="2266950" cy="1181100"/>
          </a:xfrm>
          <a:prstGeom xmlns:a="http://schemas.openxmlformats.org/drawingml/2006/main" prst="rect">
            <a:avLst/>
          </a:prstGeom>
          <a:solidFill xmlns:a="http://schemas.openxmlformats.org/drawingml/2006/main">
            <a:srgbClr val="FFF1EC"/>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DBF96C28-705D-47B5-9F17-EB793717D9C4}"/>
              </a:ext>
            </a:extLst>
          </p:cNvPr>
          <p:cNvSpPr>
            <a:spLocks xmlns:a="http://schemas.openxmlformats.org/drawingml/2006/main" noGrp="1"/>
          </p:cNvSpPr>
          <p:nvPr/>
        </p:nvSpPr>
        <p:spPr>
          <a:xfrm xmlns:a="http://schemas.openxmlformats.org/drawingml/2006/main">
            <a:off x="6381750" y="3905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050" b="1" i="0">
                <a:solidFill>
                  <a:srgbClr val="EF765E"/>
                </a:solidFill>
                <a:latin typeface="Aptos"/>
                <a:ea typeface="Aptos"/>
                <a:cs typeface="Aptos"/>
              </a:defRPr>
            </a:defPPr>
          </a:lstStyle>
          <a:p xmlns:a="http://schemas.openxmlformats.org/drawingml/2006/main">
            <a:pPr algn="l">
              <a:lnSpc>
                <a:spcPct val="100000"/>
              </a:lnSpc>
              <a:buNone/>
              <a:defRPr sz="1050" b="1" i="0">
                <a:solidFill>
                  <a:srgbClr val="EF765E"/>
                </a:solidFill>
                <a:latin typeface="Aptos"/>
                <a:ea typeface="Aptos"/>
                <a:cs typeface="Aptos"/>
              </a:defRPr>
            </a:pPr>
            <a:r>
              <a:rPr sz="1050" b="1" i="0">
                <a:solidFill>
                  <a:srgbClr val="EF765E"/>
                </a:solidFill>
                <a:latin typeface="Aptos"/>
                <a:ea typeface="Aptos"/>
                <a:cs typeface="Aptos"/>
              </a:rPr>
              <a:t>ERRORS</a:t>
            </a:r>
          </a:p>
        </p:txBody>
      </p:sp>
      <p:sp>
        <p:nvSpPr>
          <p:cNvPr id="19" name="">
            <a:extLst xmlns:a="http://schemas.openxmlformats.org/drawingml/2006/main">
              <a:ext uri="{FF2B5EF4-FFF2-40B4-BE49-F238E27FC236}">
                <a16:creationId xmlns:a16="http://schemas.microsoft.com/office/drawing/2014/main" id="{59EDF870-0EFE-463C-8AD3-758836111579}"/>
              </a:ext>
            </a:extLst>
          </p:cNvPr>
          <p:cNvSpPr>
            <a:spLocks xmlns:a="http://schemas.openxmlformats.org/drawingml/2006/main" noGrp="1"/>
          </p:cNvSpPr>
          <p:nvPr/>
        </p:nvSpPr>
        <p:spPr>
          <a:xfrm xmlns:a="http://schemas.openxmlformats.org/drawingml/2006/main">
            <a:off x="6381750" y="4248150"/>
            <a:ext cx="1866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75" b="1" i="0">
                <a:solidFill>
                  <a:srgbClr val="102333"/>
                </a:solidFill>
                <a:latin typeface="Aptos"/>
                <a:ea typeface="Aptos"/>
                <a:cs typeface="Aptos"/>
              </a:defRPr>
            </a:defPPr>
          </a:lstStyle>
          <a:p xmlns:a="http://schemas.openxmlformats.org/drawingml/2006/main">
            <a:pPr algn="l">
              <a:lnSpc>
                <a:spcPct val="112000"/>
              </a:lnSpc>
              <a:buNone/>
              <a:defRPr sz="1275" b="1" i="0">
                <a:solidFill>
                  <a:srgbClr val="102333"/>
                </a:solidFill>
                <a:latin typeface="Aptos"/>
                <a:ea typeface="Aptos"/>
                <a:cs typeface="Aptos"/>
              </a:defRPr>
            </a:pPr>
            <a:r>
              <a:rPr sz="1275" b="1" i="0">
                <a:solidFill>
                  <a:srgbClr val="102333"/>
                </a:solidFill>
                <a:latin typeface="Aptos"/>
                <a:ea typeface="Aptos"/>
                <a:cs typeface="Aptos"/>
              </a:rPr>
              <a:t>404 and 422 responses</a:t>
            </a:r>
          </a:p>
        </p:txBody>
      </p:sp>
      <p:sp>
        <p:nvSpPr>
          <p:cNvPr id="20" name="">
            <a:extLst xmlns:a="http://schemas.openxmlformats.org/drawingml/2006/main">
              <a:ext uri="{FF2B5EF4-FFF2-40B4-BE49-F238E27FC236}">
                <a16:creationId xmlns:a16="http://schemas.microsoft.com/office/drawing/2014/main" id="{47AE9853-3689-412D-9C36-EC0B8640DD4B}"/>
              </a:ext>
            </a:extLst>
          </p:cNvPr>
          <p:cNvSpPr>
            <a:spLocks xmlns:a="http://schemas.openxmlformats.org/drawingml/2006/main" noGrp="1"/>
          </p:cNvSpPr>
          <p:nvPr/>
        </p:nvSpPr>
        <p:spPr>
          <a:xfrm xmlns:a="http://schemas.openxmlformats.org/drawingml/2006/main">
            <a:off x="8763000" y="3733800"/>
            <a:ext cx="2266950" cy="1181100"/>
          </a:xfrm>
          <a:prstGeom xmlns:a="http://schemas.openxmlformats.org/drawingml/2006/main" prst="rect">
            <a:avLst/>
          </a:prstGeom>
          <a:solidFill xmlns:a="http://schemas.openxmlformats.org/drawingml/2006/main">
            <a:srgbClr val="EDF4F1"/>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178B6A97-5365-47DE-A9BB-EF0E91F4B2C9}"/>
              </a:ext>
            </a:extLst>
          </p:cNvPr>
          <p:cNvSpPr>
            <a:spLocks xmlns:a="http://schemas.openxmlformats.org/drawingml/2006/main" noGrp="1"/>
          </p:cNvSpPr>
          <p:nvPr/>
        </p:nvSpPr>
        <p:spPr>
          <a:xfrm xmlns:a="http://schemas.openxmlformats.org/drawingml/2006/main">
            <a:off x="8953500" y="3905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050" b="1" i="0">
                <a:solidFill>
                  <a:srgbClr val="055A52"/>
                </a:solidFill>
                <a:latin typeface="Aptos"/>
                <a:ea typeface="Aptos"/>
                <a:cs typeface="Aptos"/>
              </a:defRPr>
            </a:defPPr>
          </a:lstStyle>
          <a:p xmlns:a="http://schemas.openxmlformats.org/drawingml/2006/main">
            <a:pPr algn="l">
              <a:lnSpc>
                <a:spcPct val="100000"/>
              </a:lnSpc>
              <a:buNone/>
              <a:defRPr sz="1050" b="1" i="0">
                <a:solidFill>
                  <a:srgbClr val="055A52"/>
                </a:solidFill>
                <a:latin typeface="Aptos"/>
                <a:ea typeface="Aptos"/>
                <a:cs typeface="Aptos"/>
              </a:defRPr>
            </a:pPr>
            <a:r>
              <a:rPr sz="1050" b="1" i="0">
                <a:solidFill>
                  <a:srgbClr val="055A52"/>
                </a:solidFill>
                <a:latin typeface="Aptos"/>
                <a:ea typeface="Aptos"/>
                <a:cs typeface="Aptos"/>
              </a:rPr>
              <a:t>FILTERS</a:t>
            </a:r>
          </a:p>
        </p:txBody>
      </p:sp>
      <p:sp>
        <p:nvSpPr>
          <p:cNvPr id="22" name="">
            <a:extLst xmlns:a="http://schemas.openxmlformats.org/drawingml/2006/main">
              <a:ext uri="{FF2B5EF4-FFF2-40B4-BE49-F238E27FC236}">
                <a16:creationId xmlns:a16="http://schemas.microsoft.com/office/drawing/2014/main" id="{4B7A3118-434B-4356-96F0-37C1DB5C4929}"/>
              </a:ext>
            </a:extLst>
          </p:cNvPr>
          <p:cNvSpPr>
            <a:spLocks xmlns:a="http://schemas.openxmlformats.org/drawingml/2006/main" noGrp="1"/>
          </p:cNvSpPr>
          <p:nvPr/>
        </p:nvSpPr>
        <p:spPr>
          <a:xfrm xmlns:a="http://schemas.openxmlformats.org/drawingml/2006/main">
            <a:off x="8953500" y="4248150"/>
            <a:ext cx="1866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75" b="1" i="0">
                <a:solidFill>
                  <a:srgbClr val="102333"/>
                </a:solidFill>
                <a:latin typeface="Aptos"/>
                <a:ea typeface="Aptos"/>
                <a:cs typeface="Aptos"/>
              </a:defRPr>
            </a:defPPr>
          </a:lstStyle>
          <a:p xmlns:a="http://schemas.openxmlformats.org/drawingml/2006/main">
            <a:pPr algn="l">
              <a:lnSpc>
                <a:spcPct val="112000"/>
              </a:lnSpc>
              <a:buNone/>
              <a:defRPr sz="1275" b="1" i="0">
                <a:solidFill>
                  <a:srgbClr val="102333"/>
                </a:solidFill>
                <a:latin typeface="Aptos"/>
                <a:ea typeface="Aptos"/>
                <a:cs typeface="Aptos"/>
              </a:defRPr>
            </a:pPr>
            <a:r>
              <a:rPr sz="1275" b="1" i="0">
                <a:solidFill>
                  <a:srgbClr val="102333"/>
                </a:solidFill>
                <a:latin typeface="Aptos"/>
                <a:ea typeface="Aptos"/>
                <a:cs typeface="Aptos"/>
              </a:rPr>
              <a:t>Status and priority queries</a:t>
            </a:r>
          </a:p>
        </p:txBody>
      </p:sp>
      <p:sp>
        <p:nvSpPr>
          <p:cNvPr id="23" name="">
            <a:extLst xmlns:a="http://schemas.openxmlformats.org/drawingml/2006/main">
              <a:ext uri="{FF2B5EF4-FFF2-40B4-BE49-F238E27FC236}">
                <a16:creationId xmlns:a16="http://schemas.microsoft.com/office/drawing/2014/main" id="{F397B6D0-C4B6-41CC-A41F-12BFA321030F}"/>
              </a:ext>
            </a:extLst>
          </p:cNvPr>
          <p:cNvSpPr>
            <a:spLocks xmlns:a="http://schemas.openxmlformats.org/drawingml/2006/main" noGrp="1"/>
          </p:cNvSpPr>
          <p:nvPr/>
        </p:nvSpPr>
        <p:spPr>
          <a:xfrm xmlns:a="http://schemas.openxmlformats.org/drawingml/2006/main">
            <a:off x="685800" y="495300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350" b="0" i="0">
                <a:solidFill>
                  <a:srgbClr val="536876"/>
                </a:solidFill>
                <a:latin typeface="Aptos"/>
                <a:ea typeface="Aptos"/>
                <a:cs typeface="Aptos"/>
              </a:defRPr>
            </a:defPPr>
          </a:lstStyle>
          <a:p xmlns:a="http://schemas.openxmlformats.org/drawingml/2006/main">
            <a:pPr algn="l">
              <a:lnSpc>
                <a:spcPct val="100000"/>
              </a:lnSpc>
              <a:buNone/>
              <a:defRPr sz="1350" b="0" i="0">
                <a:solidFill>
                  <a:srgbClr val="536876"/>
                </a:solidFill>
                <a:latin typeface="Aptos"/>
                <a:ea typeface="Aptos"/>
                <a:cs typeface="Aptos"/>
              </a:defRPr>
            </a:pPr>
            <a:r>
              <a:rPr sz="1350" b="0" i="0">
                <a:solidFill>
                  <a:srgbClr val="536876"/>
                </a:solidFill>
                <a:latin typeface="Aptos"/>
                <a:ea typeface="Aptos"/>
                <a:cs typeface="Aptos"/>
              </a:rPr>
              <a:t>TestClient makes normal HTTP-style requests without starting a separate server.</a:t>
            </a:r>
          </a:p>
        </p:txBody>
      </p:sp>
    </p:spTree>
    <p:extLst>
      <p:ext uri="{BB962C8B-B14F-4D97-AF65-F5344CB8AC3E}">
        <p14:creationId xmlns:p14="http://schemas.microsoft.com/office/powerpoint/2010/main" val="102826807"/>
      </p:ext>
    </p:extLst>
  </p:cSld>
</p:sld>
</file>

<file path=ppt/slides/slide10.xml><?xml version="1.0" encoding="utf-8"?>
<p:sld xmlns:p="http://schemas.openxmlformats.org/presentationml/2006/main">
  <p:cSld>
    <p:bg>
      <p:bgPr>
        <a:solidFill xmlns:a="http://schemas.openxmlformats.org/drawingml/2006/main">
          <a:srgbClr val="FFFDF8"/>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436B90DF-2998-4702-B6A0-ED139E883AFF}"/>
              </a:ext>
            </a:extLst>
          </p:cNvPr>
          <p:cNvSpPr>
            <a:spLocks xmlns:a="http://schemas.openxmlformats.org/drawingml/2006/main" noGrp="1"/>
          </p:cNvSpPr>
          <p:nvPr/>
        </p:nvSpPr>
        <p:spPr>
          <a:xfrm xmlns:a="http://schemas.openxmlformats.org/drawingml/2006/main">
            <a:off x="609600" y="45720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75" b="1" i="0">
                <a:solidFill>
                  <a:srgbClr val="055A52"/>
                </a:solidFill>
                <a:latin typeface="Aptos"/>
                <a:ea typeface="Aptos"/>
                <a:cs typeface="Aptos"/>
              </a:defRPr>
            </a:defPPr>
          </a:lstStyle>
          <a:p xmlns:a="http://schemas.openxmlformats.org/drawingml/2006/main">
            <a:pPr algn="l">
              <a:lnSpc>
                <a:spcPct val="100000"/>
              </a:lnSpc>
              <a:buNone/>
              <a:defRPr sz="975" b="1" i="0">
                <a:solidFill>
                  <a:srgbClr val="055A52"/>
                </a:solidFill>
                <a:latin typeface="Aptos"/>
                <a:ea typeface="Aptos"/>
                <a:cs typeface="Aptos"/>
              </a:defRPr>
            </a:pPr>
            <a:r>
              <a:rPr sz="975" b="1" i="0">
                <a:solidFill>
                  <a:srgbClr val="055A52"/>
                </a:solidFill>
                <a:latin typeface="Aptos"/>
                <a:ea typeface="Aptos"/>
                <a:cs typeface="Aptos"/>
              </a:rPr>
              <a:t>EVALUATION</a:t>
            </a:r>
          </a:p>
        </p:txBody>
      </p:sp>
      <p:sp>
        <p:nvSpPr>
          <p:cNvPr id="2" name="">
            <a:extLst xmlns:a="http://schemas.openxmlformats.org/drawingml/2006/main">
              <a:ext uri="{FF2B5EF4-FFF2-40B4-BE49-F238E27FC236}">
                <a16:creationId xmlns:a16="http://schemas.microsoft.com/office/drawing/2014/main" id="{29D0627C-6F93-4E6C-A5D4-F35B4C472BD6}"/>
              </a:ext>
            </a:extLst>
          </p:cNvPr>
          <p:cNvSpPr>
            <a:spLocks xmlns:a="http://schemas.openxmlformats.org/drawingml/2006/main" noGrp="1"/>
          </p:cNvSpPr>
          <p:nvPr/>
        </p:nvSpPr>
        <p:spPr>
          <a:xfrm xmlns:a="http://schemas.openxmlformats.org/drawingml/2006/main">
            <a:off x="609600" y="781050"/>
            <a:ext cx="10668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850" b="1" i="0">
                <a:solidFill>
                  <a:srgbClr val="102333"/>
                </a:solidFill>
                <a:latin typeface="Aptos"/>
                <a:ea typeface="Aptos"/>
                <a:cs typeface="Aptos"/>
              </a:defRPr>
            </a:defPPr>
          </a:lstStyle>
          <a:p xmlns:a="http://schemas.openxmlformats.org/drawingml/2006/main">
            <a:pPr algn="l">
              <a:lnSpc>
                <a:spcPct val="95000"/>
              </a:lnSpc>
              <a:buNone/>
              <a:defRPr sz="2850" b="1" i="0">
                <a:solidFill>
                  <a:srgbClr val="102333"/>
                </a:solidFill>
                <a:latin typeface="Aptos"/>
                <a:ea typeface="Aptos"/>
                <a:cs typeface="Aptos"/>
              </a:defRPr>
            </a:pPr>
            <a:r>
              <a:rPr sz="2850" b="1" i="0">
                <a:solidFill>
                  <a:srgbClr val="102333"/>
                </a:solidFill>
                <a:latin typeface="Aptos"/>
                <a:ea typeface="Aptos"/>
                <a:cs typeface="Aptos"/>
              </a:rPr>
              <a:t>FastAPI strengths—and the work it does not remove</a:t>
            </a:r>
          </a:p>
        </p:txBody>
      </p:sp>
      <p:sp>
        <p:nvSpPr>
          <p:cNvPr id="3" name="">
            <a:extLst xmlns:a="http://schemas.openxmlformats.org/drawingml/2006/main">
              <a:ext uri="{FF2B5EF4-FFF2-40B4-BE49-F238E27FC236}">
                <a16:creationId xmlns:a16="http://schemas.microsoft.com/office/drawing/2014/main" id="{9207A786-C3A6-4195-B102-66309DE207DB}"/>
              </a:ext>
            </a:extLst>
          </p:cNvPr>
          <p:cNvSpPr>
            <a:spLocks xmlns:a="http://schemas.openxmlformats.org/drawingml/2006/main" noGrp="1"/>
          </p:cNvSpPr>
          <p:nvPr/>
        </p:nvSpPr>
        <p:spPr>
          <a:xfrm xmlns:a="http://schemas.openxmlformats.org/drawingml/2006/main">
            <a:off x="628650" y="1466850"/>
            <a:ext cx="1000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350" b="0" i="0">
                <a:solidFill>
                  <a:srgbClr val="536876"/>
                </a:solidFill>
                <a:latin typeface="Aptos"/>
                <a:ea typeface="Aptos"/>
                <a:cs typeface="Aptos"/>
              </a:defRPr>
            </a:defPPr>
          </a:lstStyle>
          <a:p xmlns:a="http://schemas.openxmlformats.org/drawingml/2006/main">
            <a:pPr algn="l">
              <a:lnSpc>
                <a:spcPct val="100000"/>
              </a:lnSpc>
              <a:buNone/>
              <a:defRPr sz="1350" b="0" i="0">
                <a:solidFill>
                  <a:srgbClr val="536876"/>
                </a:solidFill>
                <a:latin typeface="Aptos"/>
                <a:ea typeface="Aptos"/>
                <a:cs typeface="Aptos"/>
              </a:defRPr>
            </a:pPr>
            <a:r>
              <a:rPr sz="1350" b="0" i="0">
                <a:solidFill>
                  <a:srgbClr val="536876"/>
                </a:solidFill>
                <a:latin typeface="Aptos"/>
                <a:ea typeface="Aptos"/>
                <a:cs typeface="Aptos"/>
              </a:rPr>
              <a:t>A framework can reduce repetition, but it cannot replace application design.</a:t>
            </a:r>
          </a:p>
        </p:txBody>
      </p:sp>
      <p:sp>
        <p:nvSpPr>
          <p:cNvPr id="4" name="">
            <a:extLst xmlns:a="http://schemas.openxmlformats.org/drawingml/2006/main">
              <a:ext uri="{FF2B5EF4-FFF2-40B4-BE49-F238E27FC236}">
                <a16:creationId xmlns:a16="http://schemas.microsoft.com/office/drawing/2014/main" id="{A642C8F8-CF11-4AC9-BD2C-D3B8ED2D16E5}"/>
              </a:ext>
            </a:extLst>
          </p:cNvPr>
          <p:cNvSpPr>
            <a:spLocks xmlns:a="http://schemas.openxmlformats.org/drawingml/2006/main" noGrp="1"/>
          </p:cNvSpPr>
          <p:nvPr/>
        </p:nvSpPr>
        <p:spPr>
          <a:xfrm xmlns:a="http://schemas.openxmlformats.org/drawingml/2006/main">
            <a:off x="609600" y="6477000"/>
            <a:ext cx="10972800" cy="14288"/>
          </a:xfrm>
          <a:prstGeom xmlns:a="http://schemas.openxmlformats.org/drawingml/2006/main" prst="rect">
            <a:avLst/>
          </a:prstGeom>
          <a:solidFill xmlns:a="http://schemas.openxmlformats.org/drawingml/2006/main">
            <a:srgbClr val="CCD9D5"/>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B34E52B4-9A4C-4ADB-9B00-F401C1F905C2}"/>
              </a:ext>
            </a:extLst>
          </p:cNvPr>
          <p:cNvSpPr>
            <a:spLocks xmlns:a="http://schemas.openxmlformats.org/drawingml/2006/main" noGrp="1"/>
          </p:cNvSpPr>
          <p:nvPr/>
        </p:nvSpPr>
        <p:spPr>
          <a:xfrm xmlns:a="http://schemas.openxmlformats.org/drawingml/2006/main">
            <a:off x="609600" y="655320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825" b="1" i="0">
                <a:solidFill>
                  <a:srgbClr val="536876"/>
                </a:solidFill>
                <a:latin typeface="Aptos"/>
                <a:ea typeface="Aptos"/>
                <a:cs typeface="Aptos"/>
              </a:defRPr>
            </a:defPPr>
          </a:lstStyle>
          <a:p xmlns:a="http://schemas.openxmlformats.org/drawingml/2006/main">
            <a:pPr algn="l">
              <a:lnSpc>
                <a:spcPct val="100000"/>
              </a:lnSpc>
              <a:buNone/>
              <a:defRPr sz="825" b="1" i="0">
                <a:solidFill>
                  <a:srgbClr val="536876"/>
                </a:solidFill>
                <a:latin typeface="Aptos"/>
                <a:ea typeface="Aptos"/>
                <a:cs typeface="Aptos"/>
              </a:defRPr>
            </a:pPr>
            <a:r>
              <a:rPr sz="825" b="1" i="0">
                <a:solidFill>
                  <a:srgbClr val="536876"/>
                </a:solidFill>
                <a:latin typeface="Aptos"/>
                <a:ea typeface="Aptos"/>
                <a:cs typeface="Aptos"/>
              </a:rPr>
              <a:t>COMP10020 · FASTAPI</a:t>
            </a:r>
          </a:p>
        </p:txBody>
      </p:sp>
      <p:sp>
        <p:nvSpPr>
          <p:cNvPr id="6" name="">
            <a:extLst xmlns:a="http://schemas.openxmlformats.org/drawingml/2006/main">
              <a:ext uri="{FF2B5EF4-FFF2-40B4-BE49-F238E27FC236}">
                <a16:creationId xmlns:a16="http://schemas.microsoft.com/office/drawing/2014/main" id="{0E5E2258-04CD-4280-9FDE-EC1F8D1D2BEA}"/>
              </a:ext>
            </a:extLst>
          </p:cNvPr>
          <p:cNvSpPr>
            <a:spLocks xmlns:a="http://schemas.openxmlformats.org/drawingml/2006/main" noGrp="1"/>
          </p:cNvSpPr>
          <p:nvPr/>
        </p:nvSpPr>
        <p:spPr>
          <a:xfrm xmlns:a="http://schemas.openxmlformats.org/drawingml/2006/main">
            <a:off x="11049000" y="6543675"/>
            <a:ext cx="533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r">
              <a:defRPr sz="825" b="1" i="0">
                <a:solidFill>
                  <a:srgbClr val="536876"/>
                </a:solidFill>
                <a:latin typeface="Aptos"/>
                <a:ea typeface="Aptos"/>
                <a:cs typeface="Aptos"/>
              </a:defRPr>
            </a:defPPr>
          </a:lstStyle>
          <a:p xmlns:a="http://schemas.openxmlformats.org/drawingml/2006/main">
            <a:pPr algn="r">
              <a:lnSpc>
                <a:spcPct val="100000"/>
              </a:lnSpc>
              <a:buNone/>
              <a:defRPr sz="825" b="1" i="0">
                <a:solidFill>
                  <a:srgbClr val="536876"/>
                </a:solidFill>
                <a:latin typeface="Aptos"/>
                <a:ea typeface="Aptos"/>
                <a:cs typeface="Aptos"/>
              </a:defRPr>
            </a:pPr>
            <a:r>
              <a:rPr sz="825" b="1" i="0">
                <a:solidFill>
                  <a:srgbClr val="536876"/>
                </a:solidFill>
                <a:latin typeface="Aptos"/>
                <a:ea typeface="Aptos"/>
                <a:cs typeface="Aptos"/>
              </a:rPr>
              <a:t>10</a:t>
            </a:r>
          </a:p>
        </p:txBody>
      </p:sp>
      <p:sp>
        <p:nvSpPr>
          <p:cNvPr id="7" name="">
            <a:extLst xmlns:a="http://schemas.openxmlformats.org/drawingml/2006/main">
              <a:ext uri="{FF2B5EF4-FFF2-40B4-BE49-F238E27FC236}">
                <a16:creationId xmlns:a16="http://schemas.microsoft.com/office/drawing/2014/main" id="{32B9A92E-A047-40B5-9548-09244626F4A3}"/>
              </a:ext>
            </a:extLst>
          </p:cNvPr>
          <p:cNvSpPr>
            <a:spLocks xmlns:a="http://schemas.openxmlformats.org/drawingml/2006/main" noGrp="1"/>
          </p:cNvSpPr>
          <p:nvPr/>
        </p:nvSpPr>
        <p:spPr>
          <a:xfrm xmlns:a="http://schemas.openxmlformats.org/drawingml/2006/main">
            <a:off x="685800" y="2209800"/>
            <a:ext cx="5105400" cy="3333750"/>
          </a:xfrm>
          <a:prstGeom xmlns:a="http://schemas.openxmlformats.org/drawingml/2006/main" prst="rect">
            <a:avLst/>
          </a:prstGeom>
          <a:solidFill xmlns:a="http://schemas.openxmlformats.org/drawingml/2006/main">
            <a:srgbClr val="EDF4F1"/>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04AE477-7CCA-443E-84B4-9418AD3E23D2}"/>
              </a:ext>
            </a:extLst>
          </p:cNvPr>
          <p:cNvSpPr>
            <a:spLocks xmlns:a="http://schemas.openxmlformats.org/drawingml/2006/main" noGrp="1"/>
          </p:cNvSpPr>
          <p:nvPr/>
        </p:nvSpPr>
        <p:spPr>
          <a:xfrm xmlns:a="http://schemas.openxmlformats.org/drawingml/2006/main">
            <a:off x="6400800" y="2209800"/>
            <a:ext cx="5105400" cy="3333750"/>
          </a:xfrm>
          <a:prstGeom xmlns:a="http://schemas.openxmlformats.org/drawingml/2006/main" prst="rect">
            <a:avLst/>
          </a:prstGeom>
          <a:solidFill xmlns:a="http://schemas.openxmlformats.org/drawingml/2006/main">
            <a:srgbClr val="FFF1EC"/>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1678627A-0199-4BD8-8E63-5884C1AA512A}"/>
              </a:ext>
            </a:extLst>
          </p:cNvPr>
          <p:cNvSpPr>
            <a:spLocks xmlns:a="http://schemas.openxmlformats.org/drawingml/2006/main" noGrp="1"/>
          </p:cNvSpPr>
          <p:nvPr/>
        </p:nvSpPr>
        <p:spPr>
          <a:xfrm xmlns:a="http://schemas.openxmlformats.org/drawingml/2006/main">
            <a:off x="952500" y="2476500"/>
            <a:ext cx="4572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125" b="1" i="0">
                <a:solidFill>
                  <a:srgbClr val="055A52"/>
                </a:solidFill>
                <a:latin typeface="Aptos"/>
                <a:ea typeface="Aptos"/>
                <a:cs typeface="Aptos"/>
              </a:defRPr>
            </a:defPPr>
          </a:lstStyle>
          <a:p xmlns:a="http://schemas.openxmlformats.org/drawingml/2006/main">
            <a:pPr algn="l">
              <a:lnSpc>
                <a:spcPct val="100000"/>
              </a:lnSpc>
              <a:buNone/>
              <a:defRPr sz="1125" b="1" i="0">
                <a:solidFill>
                  <a:srgbClr val="055A52"/>
                </a:solidFill>
                <a:latin typeface="Aptos"/>
                <a:ea typeface="Aptos"/>
                <a:cs typeface="Aptos"/>
              </a:defRPr>
            </a:pPr>
            <a:r>
              <a:rPr sz="1125" b="1" i="0">
                <a:solidFill>
                  <a:srgbClr val="055A52"/>
                </a:solidFill>
                <a:latin typeface="Aptos"/>
                <a:ea typeface="Aptos"/>
                <a:cs typeface="Aptos"/>
              </a:rPr>
              <a:t>STRENGTHS</a:t>
            </a:r>
          </a:p>
        </p:txBody>
      </p:sp>
      <p:sp>
        <p:nvSpPr>
          <p:cNvPr id="10" name="">
            <a:extLst xmlns:a="http://schemas.openxmlformats.org/drawingml/2006/main">
              <a:ext uri="{FF2B5EF4-FFF2-40B4-BE49-F238E27FC236}">
                <a16:creationId xmlns:a16="http://schemas.microsoft.com/office/drawing/2014/main" id="{830AD065-68C1-43C6-930C-E11D5E24BF14}"/>
              </a:ext>
            </a:extLst>
          </p:cNvPr>
          <p:cNvSpPr>
            <a:spLocks xmlns:a="http://schemas.openxmlformats.org/drawingml/2006/main" noGrp="1"/>
          </p:cNvSpPr>
          <p:nvPr/>
        </p:nvSpPr>
        <p:spPr>
          <a:xfrm xmlns:a="http://schemas.openxmlformats.org/drawingml/2006/main">
            <a:off x="6667500" y="2476500"/>
            <a:ext cx="4572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125" b="1" i="0">
                <a:solidFill>
                  <a:srgbClr val="EF765E"/>
                </a:solidFill>
                <a:latin typeface="Aptos"/>
                <a:ea typeface="Aptos"/>
                <a:cs typeface="Aptos"/>
              </a:defRPr>
            </a:defPPr>
          </a:lstStyle>
          <a:p xmlns:a="http://schemas.openxmlformats.org/drawingml/2006/main">
            <a:pPr algn="l">
              <a:lnSpc>
                <a:spcPct val="100000"/>
              </a:lnSpc>
              <a:buNone/>
              <a:defRPr sz="1125" b="1" i="0">
                <a:solidFill>
                  <a:srgbClr val="EF765E"/>
                </a:solidFill>
                <a:latin typeface="Aptos"/>
                <a:ea typeface="Aptos"/>
                <a:cs typeface="Aptos"/>
              </a:defRPr>
            </a:pPr>
            <a:r>
              <a:rPr sz="1125" b="1" i="0">
                <a:solidFill>
                  <a:srgbClr val="EF765E"/>
                </a:solidFill>
                <a:latin typeface="Aptos"/>
                <a:ea typeface="Aptos"/>
                <a:cs typeface="Aptos"/>
              </a:rPr>
              <a:t>LIMITATIONS</a:t>
            </a:r>
          </a:p>
        </p:txBody>
      </p:sp>
      <p:sp>
        <p:nvSpPr>
          <p:cNvPr id="11" name="">
            <a:extLst xmlns:a="http://schemas.openxmlformats.org/drawingml/2006/main">
              <a:ext uri="{FF2B5EF4-FFF2-40B4-BE49-F238E27FC236}">
                <a16:creationId xmlns:a16="http://schemas.microsoft.com/office/drawing/2014/main" id="{4650CDBF-BC2D-4EC7-85F8-7E8BD0480BE9}"/>
              </a:ext>
            </a:extLst>
          </p:cNvPr>
          <p:cNvSpPr>
            <a:spLocks xmlns:a="http://schemas.openxmlformats.org/drawingml/2006/main" noGrp="1"/>
          </p:cNvSpPr>
          <p:nvPr/>
        </p:nvSpPr>
        <p:spPr>
          <a:xfrm xmlns:a="http://schemas.openxmlformats.org/drawingml/2006/main">
            <a:off x="952500" y="2981325"/>
            <a:ext cx="47625" cy="609600"/>
          </a:xfrm>
          <a:prstGeom xmlns:a="http://schemas.openxmlformats.org/drawingml/2006/main" prst="rect">
            <a:avLst/>
          </a:prstGeom>
          <a:solidFill xmlns:a="http://schemas.openxmlformats.org/drawingml/2006/main">
            <a:srgbClr val="087F72"/>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FCEF683-4560-4C32-8C2B-FAB51BA67CF3}"/>
              </a:ext>
            </a:extLst>
          </p:cNvPr>
          <p:cNvSpPr>
            <a:spLocks xmlns:a="http://schemas.openxmlformats.org/drawingml/2006/main" noGrp="1"/>
          </p:cNvSpPr>
          <p:nvPr/>
        </p:nvSpPr>
        <p:spPr>
          <a:xfrm xmlns:a="http://schemas.openxmlformats.org/drawingml/2006/main">
            <a:off x="1143000" y="2952750"/>
            <a:ext cx="4191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425" b="1" i="0">
                <a:solidFill>
                  <a:srgbClr val="102333"/>
                </a:solidFill>
                <a:latin typeface="Aptos"/>
                <a:ea typeface="Aptos"/>
                <a:cs typeface="Aptos"/>
              </a:defRPr>
            </a:defPPr>
          </a:lstStyle>
          <a:p xmlns:a="http://schemas.openxmlformats.org/drawingml/2006/main">
            <a:pPr algn="l">
              <a:lnSpc>
                <a:spcPct val="100000"/>
              </a:lnSpc>
              <a:buNone/>
              <a:defRPr sz="1425" b="1" i="0">
                <a:solidFill>
                  <a:srgbClr val="102333"/>
                </a:solidFill>
                <a:latin typeface="Aptos"/>
                <a:ea typeface="Aptos"/>
                <a:cs typeface="Aptos"/>
              </a:defRPr>
            </a:pPr>
            <a:r>
              <a:rPr sz="1425" b="1" i="0">
                <a:solidFill>
                  <a:srgbClr val="102333"/>
                </a:solidFill>
                <a:latin typeface="Aptos"/>
                <a:ea typeface="Aptos"/>
                <a:cs typeface="Aptos"/>
              </a:rPr>
              <a:t>One source of truth</a:t>
            </a:r>
          </a:p>
        </p:txBody>
      </p:sp>
      <p:sp>
        <p:nvSpPr>
          <p:cNvPr id="13" name="">
            <a:extLst xmlns:a="http://schemas.openxmlformats.org/drawingml/2006/main">
              <a:ext uri="{FF2B5EF4-FFF2-40B4-BE49-F238E27FC236}">
                <a16:creationId xmlns:a16="http://schemas.microsoft.com/office/drawing/2014/main" id="{F4A1D03B-4F6D-497C-9CC7-EF38306C4089}"/>
              </a:ext>
            </a:extLst>
          </p:cNvPr>
          <p:cNvSpPr>
            <a:spLocks xmlns:a="http://schemas.openxmlformats.org/drawingml/2006/main" noGrp="1"/>
          </p:cNvSpPr>
          <p:nvPr/>
        </p:nvSpPr>
        <p:spPr>
          <a:xfrm xmlns:a="http://schemas.openxmlformats.org/drawingml/2006/main">
            <a:off x="1143000" y="3219450"/>
            <a:ext cx="4191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125" b="0" i="0">
                <a:solidFill>
                  <a:srgbClr val="536876"/>
                </a:solidFill>
                <a:latin typeface="Aptos"/>
                <a:ea typeface="Aptos"/>
                <a:cs typeface="Aptos"/>
              </a:defRPr>
            </a:defPPr>
          </a:lstStyle>
          <a:p xmlns:a="http://schemas.openxmlformats.org/drawingml/2006/main">
            <a:pPr algn="l">
              <a:lnSpc>
                <a:spcPct val="110000"/>
              </a:lnSpc>
              <a:buNone/>
              <a:defRPr sz="1125" b="0" i="0">
                <a:solidFill>
                  <a:srgbClr val="536876"/>
                </a:solidFill>
                <a:latin typeface="Aptos"/>
                <a:ea typeface="Aptos"/>
                <a:cs typeface="Aptos"/>
              </a:defRPr>
            </a:pPr>
            <a:r>
              <a:rPr sz="1125" b="0" i="0">
                <a:solidFill>
                  <a:srgbClr val="536876"/>
                </a:solidFill>
                <a:latin typeface="Aptos"/>
                <a:ea typeface="Aptos"/>
                <a:cs typeface="Aptos"/>
              </a:rPr>
              <a:t>Types support validation, editor assistance and API documentation.</a:t>
            </a:r>
          </a:p>
        </p:txBody>
      </p:sp>
      <p:sp>
        <p:nvSpPr>
          <p:cNvPr id="14" name="">
            <a:extLst xmlns:a="http://schemas.openxmlformats.org/drawingml/2006/main">
              <a:ext uri="{FF2B5EF4-FFF2-40B4-BE49-F238E27FC236}">
                <a16:creationId xmlns:a16="http://schemas.microsoft.com/office/drawing/2014/main" id="{91139108-2A66-4BC8-936A-08132EE0A5B8}"/>
              </a:ext>
            </a:extLst>
          </p:cNvPr>
          <p:cNvSpPr>
            <a:spLocks xmlns:a="http://schemas.openxmlformats.org/drawingml/2006/main" noGrp="1"/>
          </p:cNvSpPr>
          <p:nvPr/>
        </p:nvSpPr>
        <p:spPr>
          <a:xfrm xmlns:a="http://schemas.openxmlformats.org/drawingml/2006/main">
            <a:off x="952500" y="3876675"/>
            <a:ext cx="47625" cy="609600"/>
          </a:xfrm>
          <a:prstGeom xmlns:a="http://schemas.openxmlformats.org/drawingml/2006/main" prst="rect">
            <a:avLst/>
          </a:prstGeom>
          <a:solidFill xmlns:a="http://schemas.openxmlformats.org/drawingml/2006/main">
            <a:srgbClr val="087F72"/>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551B9BA5-55CB-4D1F-932F-A13B9A0B0AF4}"/>
              </a:ext>
            </a:extLst>
          </p:cNvPr>
          <p:cNvSpPr>
            <a:spLocks xmlns:a="http://schemas.openxmlformats.org/drawingml/2006/main" noGrp="1"/>
          </p:cNvSpPr>
          <p:nvPr/>
        </p:nvSpPr>
        <p:spPr>
          <a:xfrm xmlns:a="http://schemas.openxmlformats.org/drawingml/2006/main">
            <a:off x="1143000" y="3848100"/>
            <a:ext cx="4191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425" b="1" i="0">
                <a:solidFill>
                  <a:srgbClr val="102333"/>
                </a:solidFill>
                <a:latin typeface="Aptos"/>
                <a:ea typeface="Aptos"/>
                <a:cs typeface="Aptos"/>
              </a:defRPr>
            </a:defPPr>
          </a:lstStyle>
          <a:p xmlns:a="http://schemas.openxmlformats.org/drawingml/2006/main">
            <a:pPr algn="l">
              <a:lnSpc>
                <a:spcPct val="100000"/>
              </a:lnSpc>
              <a:buNone/>
              <a:defRPr sz="1425" b="1" i="0">
                <a:solidFill>
                  <a:srgbClr val="102333"/>
                </a:solidFill>
                <a:latin typeface="Aptos"/>
                <a:ea typeface="Aptos"/>
                <a:cs typeface="Aptos"/>
              </a:defRPr>
            </a:pPr>
            <a:r>
              <a:rPr sz="1425" b="1" i="0">
                <a:solidFill>
                  <a:srgbClr val="102333"/>
                </a:solidFill>
                <a:latin typeface="Aptos"/>
                <a:ea typeface="Aptos"/>
                <a:cs typeface="Aptos"/>
              </a:rPr>
              <a:t>Immediate feedback</a:t>
            </a:r>
          </a:p>
        </p:txBody>
      </p:sp>
      <p:sp>
        <p:nvSpPr>
          <p:cNvPr id="16" name="">
            <a:extLst xmlns:a="http://schemas.openxmlformats.org/drawingml/2006/main">
              <a:ext uri="{FF2B5EF4-FFF2-40B4-BE49-F238E27FC236}">
                <a16:creationId xmlns:a16="http://schemas.microsoft.com/office/drawing/2014/main" id="{6E91A95E-4327-49BD-B81B-A0F145712C3F}"/>
              </a:ext>
            </a:extLst>
          </p:cNvPr>
          <p:cNvSpPr>
            <a:spLocks xmlns:a="http://schemas.openxmlformats.org/drawingml/2006/main" noGrp="1"/>
          </p:cNvSpPr>
          <p:nvPr/>
        </p:nvSpPr>
        <p:spPr>
          <a:xfrm xmlns:a="http://schemas.openxmlformats.org/drawingml/2006/main">
            <a:off x="1143000" y="4114800"/>
            <a:ext cx="4191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125" b="0" i="0">
                <a:solidFill>
                  <a:srgbClr val="536876"/>
                </a:solidFill>
                <a:latin typeface="Aptos"/>
                <a:ea typeface="Aptos"/>
                <a:cs typeface="Aptos"/>
              </a:defRPr>
            </a:defPPr>
          </a:lstStyle>
          <a:p xmlns:a="http://schemas.openxmlformats.org/drawingml/2006/main">
            <a:pPr algn="l">
              <a:lnSpc>
                <a:spcPct val="110000"/>
              </a:lnSpc>
              <a:buNone/>
              <a:defRPr sz="1125" b="0" i="0">
                <a:solidFill>
                  <a:srgbClr val="536876"/>
                </a:solidFill>
                <a:latin typeface="Aptos"/>
                <a:ea typeface="Aptos"/>
                <a:cs typeface="Aptos"/>
              </a:defRPr>
            </a:pPr>
            <a:r>
              <a:rPr sz="1125" b="0" i="0">
                <a:solidFill>
                  <a:srgbClr val="536876"/>
                </a:solidFill>
                <a:latin typeface="Aptos"/>
                <a:ea typeface="Aptos"/>
                <a:cs typeface="Aptos"/>
              </a:rPr>
              <a:t>Swagger UI lets learners inspect and call routes straight away.</a:t>
            </a:r>
          </a:p>
        </p:txBody>
      </p:sp>
      <p:sp>
        <p:nvSpPr>
          <p:cNvPr id="17" name="">
            <a:extLst xmlns:a="http://schemas.openxmlformats.org/drawingml/2006/main">
              <a:ext uri="{FF2B5EF4-FFF2-40B4-BE49-F238E27FC236}">
                <a16:creationId xmlns:a16="http://schemas.microsoft.com/office/drawing/2014/main" id="{5DCF88A4-B0F6-4E24-A900-7CF15BF002D4}"/>
              </a:ext>
            </a:extLst>
          </p:cNvPr>
          <p:cNvSpPr>
            <a:spLocks xmlns:a="http://schemas.openxmlformats.org/drawingml/2006/main" noGrp="1"/>
          </p:cNvSpPr>
          <p:nvPr/>
        </p:nvSpPr>
        <p:spPr>
          <a:xfrm xmlns:a="http://schemas.openxmlformats.org/drawingml/2006/main">
            <a:off x="952500" y="4772025"/>
            <a:ext cx="47625" cy="609600"/>
          </a:xfrm>
          <a:prstGeom xmlns:a="http://schemas.openxmlformats.org/drawingml/2006/main" prst="rect">
            <a:avLst/>
          </a:prstGeom>
          <a:solidFill xmlns:a="http://schemas.openxmlformats.org/drawingml/2006/main">
            <a:srgbClr val="087F72"/>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7B4DF3FE-2D76-4F5E-9D4E-0704FB7AED0A}"/>
              </a:ext>
            </a:extLst>
          </p:cNvPr>
          <p:cNvSpPr>
            <a:spLocks xmlns:a="http://schemas.openxmlformats.org/drawingml/2006/main" noGrp="1"/>
          </p:cNvSpPr>
          <p:nvPr/>
        </p:nvSpPr>
        <p:spPr>
          <a:xfrm xmlns:a="http://schemas.openxmlformats.org/drawingml/2006/main">
            <a:off x="1143000" y="4743450"/>
            <a:ext cx="4191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425" b="1" i="0">
                <a:solidFill>
                  <a:srgbClr val="102333"/>
                </a:solidFill>
                <a:latin typeface="Aptos"/>
                <a:ea typeface="Aptos"/>
                <a:cs typeface="Aptos"/>
              </a:defRPr>
            </a:defPPr>
          </a:lstStyle>
          <a:p xmlns:a="http://schemas.openxmlformats.org/drawingml/2006/main">
            <a:pPr algn="l">
              <a:lnSpc>
                <a:spcPct val="100000"/>
              </a:lnSpc>
              <a:buNone/>
              <a:defRPr sz="1425" b="1" i="0">
                <a:solidFill>
                  <a:srgbClr val="102333"/>
                </a:solidFill>
                <a:latin typeface="Aptos"/>
                <a:ea typeface="Aptos"/>
                <a:cs typeface="Aptos"/>
              </a:defRPr>
            </a:pPr>
            <a:r>
              <a:rPr sz="1425" b="1" i="0">
                <a:solidFill>
                  <a:srgbClr val="102333"/>
                </a:solidFill>
                <a:latin typeface="Aptos"/>
                <a:ea typeface="Aptos"/>
                <a:cs typeface="Aptos"/>
              </a:rPr>
              <a:t>Modular growth</a:t>
            </a:r>
          </a:p>
        </p:txBody>
      </p:sp>
      <p:sp>
        <p:nvSpPr>
          <p:cNvPr id="19" name="">
            <a:extLst xmlns:a="http://schemas.openxmlformats.org/drawingml/2006/main">
              <a:ext uri="{FF2B5EF4-FFF2-40B4-BE49-F238E27FC236}">
                <a16:creationId xmlns:a16="http://schemas.microsoft.com/office/drawing/2014/main" id="{3A26B1F4-1DBA-4FB9-B9A0-EB855ED548AB}"/>
              </a:ext>
            </a:extLst>
          </p:cNvPr>
          <p:cNvSpPr>
            <a:spLocks xmlns:a="http://schemas.openxmlformats.org/drawingml/2006/main" noGrp="1"/>
          </p:cNvSpPr>
          <p:nvPr/>
        </p:nvSpPr>
        <p:spPr>
          <a:xfrm xmlns:a="http://schemas.openxmlformats.org/drawingml/2006/main">
            <a:off x="1143000" y="5010150"/>
            <a:ext cx="4191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125" b="0" i="0">
                <a:solidFill>
                  <a:srgbClr val="536876"/>
                </a:solidFill>
                <a:latin typeface="Aptos"/>
                <a:ea typeface="Aptos"/>
                <a:cs typeface="Aptos"/>
              </a:defRPr>
            </a:defPPr>
          </a:lstStyle>
          <a:p xmlns:a="http://schemas.openxmlformats.org/drawingml/2006/main">
            <a:pPr algn="l">
              <a:lnSpc>
                <a:spcPct val="110000"/>
              </a:lnSpc>
              <a:buNone/>
              <a:defRPr sz="1125" b="0" i="0">
                <a:solidFill>
                  <a:srgbClr val="536876"/>
                </a:solidFill>
                <a:latin typeface="Aptos"/>
                <a:ea typeface="Aptos"/>
                <a:cs typeface="Aptos"/>
              </a:defRPr>
            </a:pPr>
            <a:r>
              <a:rPr sz="1125" b="0" i="0">
                <a:solidFill>
                  <a:srgbClr val="536876"/>
                </a:solidFill>
                <a:latin typeface="Aptos"/>
                <a:ea typeface="Aptos"/>
                <a:cs typeface="Aptos"/>
              </a:rPr>
              <a:t>The example can later add routers, services and persistent storage.</a:t>
            </a:r>
          </a:p>
        </p:txBody>
      </p:sp>
      <p:sp>
        <p:nvSpPr>
          <p:cNvPr id="20" name="">
            <a:extLst xmlns:a="http://schemas.openxmlformats.org/drawingml/2006/main">
              <a:ext uri="{FF2B5EF4-FFF2-40B4-BE49-F238E27FC236}">
                <a16:creationId xmlns:a16="http://schemas.microsoft.com/office/drawing/2014/main" id="{D7103511-9AB9-46DC-9479-F828FC9CD0F8}"/>
              </a:ext>
            </a:extLst>
          </p:cNvPr>
          <p:cNvSpPr>
            <a:spLocks xmlns:a="http://schemas.openxmlformats.org/drawingml/2006/main" noGrp="1"/>
          </p:cNvSpPr>
          <p:nvPr/>
        </p:nvSpPr>
        <p:spPr>
          <a:xfrm xmlns:a="http://schemas.openxmlformats.org/drawingml/2006/main">
            <a:off x="6667500" y="2981325"/>
            <a:ext cx="47625" cy="609600"/>
          </a:xfrm>
          <a:prstGeom xmlns:a="http://schemas.openxmlformats.org/drawingml/2006/main" prst="rect">
            <a:avLst/>
          </a:prstGeom>
          <a:solidFill xmlns:a="http://schemas.openxmlformats.org/drawingml/2006/main">
            <a:srgbClr val="EF765E"/>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BA59FB28-3E22-4C4C-A730-5AA9995C79C3}"/>
              </a:ext>
            </a:extLst>
          </p:cNvPr>
          <p:cNvSpPr>
            <a:spLocks xmlns:a="http://schemas.openxmlformats.org/drawingml/2006/main" noGrp="1"/>
          </p:cNvSpPr>
          <p:nvPr/>
        </p:nvSpPr>
        <p:spPr>
          <a:xfrm xmlns:a="http://schemas.openxmlformats.org/drawingml/2006/main">
            <a:off x="6858000" y="2952750"/>
            <a:ext cx="4191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425" b="1" i="0">
                <a:solidFill>
                  <a:srgbClr val="102333"/>
                </a:solidFill>
                <a:latin typeface="Aptos"/>
                <a:ea typeface="Aptos"/>
                <a:cs typeface="Aptos"/>
              </a:defRPr>
            </a:defPPr>
          </a:lstStyle>
          <a:p xmlns:a="http://schemas.openxmlformats.org/drawingml/2006/main">
            <a:pPr algn="l">
              <a:lnSpc>
                <a:spcPct val="100000"/>
              </a:lnSpc>
              <a:buNone/>
              <a:defRPr sz="1425" b="1" i="0">
                <a:solidFill>
                  <a:srgbClr val="102333"/>
                </a:solidFill>
                <a:latin typeface="Aptos"/>
                <a:ea typeface="Aptos"/>
                <a:cs typeface="Aptos"/>
              </a:defRPr>
            </a:pPr>
            <a:r>
              <a:rPr sz="1425" b="1" i="0">
                <a:solidFill>
                  <a:srgbClr val="102333"/>
                </a:solidFill>
                <a:latin typeface="Aptos"/>
                <a:ea typeface="Aptos"/>
                <a:cs typeface="Aptos"/>
              </a:rPr>
              <a:t>Security is still design work</a:t>
            </a:r>
          </a:p>
        </p:txBody>
      </p:sp>
      <p:sp>
        <p:nvSpPr>
          <p:cNvPr id="22" name="">
            <a:extLst xmlns:a="http://schemas.openxmlformats.org/drawingml/2006/main">
              <a:ext uri="{FF2B5EF4-FFF2-40B4-BE49-F238E27FC236}">
                <a16:creationId xmlns:a16="http://schemas.microsoft.com/office/drawing/2014/main" id="{4B50E551-ECC1-4055-9193-D9F4CDB56252}"/>
              </a:ext>
            </a:extLst>
          </p:cNvPr>
          <p:cNvSpPr>
            <a:spLocks xmlns:a="http://schemas.openxmlformats.org/drawingml/2006/main" noGrp="1"/>
          </p:cNvSpPr>
          <p:nvPr/>
        </p:nvSpPr>
        <p:spPr>
          <a:xfrm xmlns:a="http://schemas.openxmlformats.org/drawingml/2006/main">
            <a:off x="6858000" y="3219450"/>
            <a:ext cx="4191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125" b="0" i="0">
                <a:solidFill>
                  <a:srgbClr val="536876"/>
                </a:solidFill>
                <a:latin typeface="Aptos"/>
                <a:ea typeface="Aptos"/>
                <a:cs typeface="Aptos"/>
              </a:defRPr>
            </a:defPPr>
          </a:lstStyle>
          <a:p xmlns:a="http://schemas.openxmlformats.org/drawingml/2006/main">
            <a:pPr algn="l">
              <a:lnSpc>
                <a:spcPct val="110000"/>
              </a:lnSpc>
              <a:buNone/>
              <a:defRPr sz="1125" b="0" i="0">
                <a:solidFill>
                  <a:srgbClr val="536876"/>
                </a:solidFill>
                <a:latin typeface="Aptos"/>
                <a:ea typeface="Aptos"/>
                <a:cs typeface="Aptos"/>
              </a:defRPr>
            </a:pPr>
            <a:r>
              <a:rPr sz="1125" b="0" i="0">
                <a:solidFill>
                  <a:srgbClr val="536876"/>
                </a:solidFill>
                <a:latin typeface="Aptos"/>
                <a:ea typeface="Aptos"/>
                <a:cs typeface="Aptos"/>
              </a:rPr>
              <a:t>Authentication, authorisation and safe deployment are not automatic.</a:t>
            </a:r>
          </a:p>
        </p:txBody>
      </p:sp>
      <p:sp>
        <p:nvSpPr>
          <p:cNvPr id="23" name="">
            <a:extLst xmlns:a="http://schemas.openxmlformats.org/drawingml/2006/main">
              <a:ext uri="{FF2B5EF4-FFF2-40B4-BE49-F238E27FC236}">
                <a16:creationId xmlns:a16="http://schemas.microsoft.com/office/drawing/2014/main" id="{950F4065-1625-4594-B66D-6D9FED9B96D5}"/>
              </a:ext>
            </a:extLst>
          </p:cNvPr>
          <p:cNvSpPr>
            <a:spLocks xmlns:a="http://schemas.openxmlformats.org/drawingml/2006/main" noGrp="1"/>
          </p:cNvSpPr>
          <p:nvPr/>
        </p:nvSpPr>
        <p:spPr>
          <a:xfrm xmlns:a="http://schemas.openxmlformats.org/drawingml/2006/main">
            <a:off x="6667500" y="3876675"/>
            <a:ext cx="47625" cy="609600"/>
          </a:xfrm>
          <a:prstGeom xmlns:a="http://schemas.openxmlformats.org/drawingml/2006/main" prst="rect">
            <a:avLst/>
          </a:prstGeom>
          <a:solidFill xmlns:a="http://schemas.openxmlformats.org/drawingml/2006/main">
            <a:srgbClr val="EF765E"/>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3B157396-5858-4C94-A4C2-8AF32F8FC4BB}"/>
              </a:ext>
            </a:extLst>
          </p:cNvPr>
          <p:cNvSpPr>
            <a:spLocks xmlns:a="http://schemas.openxmlformats.org/drawingml/2006/main" noGrp="1"/>
          </p:cNvSpPr>
          <p:nvPr/>
        </p:nvSpPr>
        <p:spPr>
          <a:xfrm xmlns:a="http://schemas.openxmlformats.org/drawingml/2006/main">
            <a:off x="6858000" y="3848100"/>
            <a:ext cx="4191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425" b="1" i="0">
                <a:solidFill>
                  <a:srgbClr val="102333"/>
                </a:solidFill>
                <a:latin typeface="Aptos"/>
                <a:ea typeface="Aptos"/>
                <a:cs typeface="Aptos"/>
              </a:defRPr>
            </a:defPPr>
          </a:lstStyle>
          <a:p xmlns:a="http://schemas.openxmlformats.org/drawingml/2006/main">
            <a:pPr algn="l">
              <a:lnSpc>
                <a:spcPct val="100000"/>
              </a:lnSpc>
              <a:buNone/>
              <a:defRPr sz="1425" b="1" i="0">
                <a:solidFill>
                  <a:srgbClr val="102333"/>
                </a:solidFill>
                <a:latin typeface="Aptos"/>
                <a:ea typeface="Aptos"/>
                <a:cs typeface="Aptos"/>
              </a:defRPr>
            </a:pPr>
            <a:r>
              <a:rPr sz="1425" b="1" i="0">
                <a:solidFill>
                  <a:srgbClr val="102333"/>
                </a:solidFill>
                <a:latin typeface="Aptos"/>
                <a:ea typeface="Aptos"/>
                <a:cs typeface="Aptos"/>
              </a:rPr>
              <a:t>Concepts can be unfamiliar</a:t>
            </a:r>
          </a:p>
        </p:txBody>
      </p:sp>
      <p:sp>
        <p:nvSpPr>
          <p:cNvPr id="25" name="">
            <a:extLst xmlns:a="http://schemas.openxmlformats.org/drawingml/2006/main">
              <a:ext uri="{FF2B5EF4-FFF2-40B4-BE49-F238E27FC236}">
                <a16:creationId xmlns:a16="http://schemas.microsoft.com/office/drawing/2014/main" id="{31D92A87-84E8-4003-AF26-7999B3A1337C}"/>
              </a:ext>
            </a:extLst>
          </p:cNvPr>
          <p:cNvSpPr>
            <a:spLocks xmlns:a="http://schemas.openxmlformats.org/drawingml/2006/main" noGrp="1"/>
          </p:cNvSpPr>
          <p:nvPr/>
        </p:nvSpPr>
        <p:spPr>
          <a:xfrm xmlns:a="http://schemas.openxmlformats.org/drawingml/2006/main">
            <a:off x="6858000" y="4114800"/>
            <a:ext cx="4191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125" b="0" i="0">
                <a:solidFill>
                  <a:srgbClr val="536876"/>
                </a:solidFill>
                <a:latin typeface="Aptos"/>
                <a:ea typeface="Aptos"/>
                <a:cs typeface="Aptos"/>
              </a:defRPr>
            </a:defPPr>
          </a:lstStyle>
          <a:p xmlns:a="http://schemas.openxmlformats.org/drawingml/2006/main">
            <a:pPr algn="l">
              <a:lnSpc>
                <a:spcPct val="110000"/>
              </a:lnSpc>
              <a:buNone/>
              <a:defRPr sz="1125" b="0" i="0">
                <a:solidFill>
                  <a:srgbClr val="536876"/>
                </a:solidFill>
                <a:latin typeface="Aptos"/>
                <a:ea typeface="Aptos"/>
                <a:cs typeface="Aptos"/>
              </a:defRPr>
            </a:pPr>
            <a:r>
              <a:rPr sz="1125" b="0" i="0">
                <a:solidFill>
                  <a:srgbClr val="536876"/>
                </a:solidFill>
                <a:latin typeface="Aptos"/>
                <a:ea typeface="Aptos"/>
                <a:cs typeface="Aptos"/>
              </a:rPr>
              <a:t>Type hints and asynchronous Python may require extra teaching.</a:t>
            </a:r>
          </a:p>
        </p:txBody>
      </p:sp>
      <p:sp>
        <p:nvSpPr>
          <p:cNvPr id="26" name="">
            <a:extLst xmlns:a="http://schemas.openxmlformats.org/drawingml/2006/main">
              <a:ext uri="{FF2B5EF4-FFF2-40B4-BE49-F238E27FC236}">
                <a16:creationId xmlns:a16="http://schemas.microsoft.com/office/drawing/2014/main" id="{1385D17E-9AF1-4580-8F41-6B171879361C}"/>
              </a:ext>
            </a:extLst>
          </p:cNvPr>
          <p:cNvSpPr>
            <a:spLocks xmlns:a="http://schemas.openxmlformats.org/drawingml/2006/main" noGrp="1"/>
          </p:cNvSpPr>
          <p:nvPr/>
        </p:nvSpPr>
        <p:spPr>
          <a:xfrm xmlns:a="http://schemas.openxmlformats.org/drawingml/2006/main">
            <a:off x="6667500" y="4772025"/>
            <a:ext cx="47625" cy="609600"/>
          </a:xfrm>
          <a:prstGeom xmlns:a="http://schemas.openxmlformats.org/drawingml/2006/main" prst="rect">
            <a:avLst/>
          </a:prstGeom>
          <a:solidFill xmlns:a="http://schemas.openxmlformats.org/drawingml/2006/main">
            <a:srgbClr val="EF765E"/>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155137E7-DB00-4848-8C02-56CF10C70803}"/>
              </a:ext>
            </a:extLst>
          </p:cNvPr>
          <p:cNvSpPr>
            <a:spLocks xmlns:a="http://schemas.openxmlformats.org/drawingml/2006/main" noGrp="1"/>
          </p:cNvSpPr>
          <p:nvPr/>
        </p:nvSpPr>
        <p:spPr>
          <a:xfrm xmlns:a="http://schemas.openxmlformats.org/drawingml/2006/main">
            <a:off x="6858000" y="4743450"/>
            <a:ext cx="4191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425" b="1" i="0">
                <a:solidFill>
                  <a:srgbClr val="102333"/>
                </a:solidFill>
                <a:latin typeface="Aptos"/>
                <a:ea typeface="Aptos"/>
                <a:cs typeface="Aptos"/>
              </a:defRPr>
            </a:defPPr>
          </a:lstStyle>
          <a:p xmlns:a="http://schemas.openxmlformats.org/drawingml/2006/main">
            <a:pPr algn="l">
              <a:lnSpc>
                <a:spcPct val="100000"/>
              </a:lnSpc>
              <a:buNone/>
              <a:defRPr sz="1425" b="1" i="0">
                <a:solidFill>
                  <a:srgbClr val="102333"/>
                </a:solidFill>
                <a:latin typeface="Aptos"/>
                <a:ea typeface="Aptos"/>
                <a:cs typeface="Aptos"/>
              </a:defRPr>
            </a:pPr>
            <a:r>
              <a:rPr sz="1425" b="1" i="0">
                <a:solidFill>
                  <a:srgbClr val="102333"/>
                </a:solidFill>
                <a:latin typeface="Aptos"/>
                <a:ea typeface="Aptos"/>
                <a:cs typeface="Aptos"/>
              </a:rPr>
              <a:t>Persistence is a separate choice</a:t>
            </a:r>
          </a:p>
        </p:txBody>
      </p:sp>
      <p:sp>
        <p:nvSpPr>
          <p:cNvPr id="28" name="">
            <a:extLst xmlns:a="http://schemas.openxmlformats.org/drawingml/2006/main">
              <a:ext uri="{FF2B5EF4-FFF2-40B4-BE49-F238E27FC236}">
                <a16:creationId xmlns:a16="http://schemas.microsoft.com/office/drawing/2014/main" id="{5C7AB7E3-2C29-4336-8397-4C6B6AAC2658}"/>
              </a:ext>
            </a:extLst>
          </p:cNvPr>
          <p:cNvSpPr>
            <a:spLocks xmlns:a="http://schemas.openxmlformats.org/drawingml/2006/main" noGrp="1"/>
          </p:cNvSpPr>
          <p:nvPr/>
        </p:nvSpPr>
        <p:spPr>
          <a:xfrm xmlns:a="http://schemas.openxmlformats.org/drawingml/2006/main">
            <a:off x="6858000" y="5010150"/>
            <a:ext cx="4191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125" b="0" i="0">
                <a:solidFill>
                  <a:srgbClr val="536876"/>
                </a:solidFill>
                <a:latin typeface="Aptos"/>
                <a:ea typeface="Aptos"/>
                <a:cs typeface="Aptos"/>
              </a:defRPr>
            </a:defPPr>
          </a:lstStyle>
          <a:p xmlns:a="http://schemas.openxmlformats.org/drawingml/2006/main">
            <a:pPr algn="l">
              <a:lnSpc>
                <a:spcPct val="110000"/>
              </a:lnSpc>
              <a:buNone/>
              <a:defRPr sz="1125" b="0" i="0">
                <a:solidFill>
                  <a:srgbClr val="536876"/>
                </a:solidFill>
                <a:latin typeface="Aptos"/>
                <a:ea typeface="Aptos"/>
                <a:cs typeface="Aptos"/>
              </a:defRPr>
            </a:pPr>
            <a:r>
              <a:rPr sz="1125" b="0" i="0">
                <a:solidFill>
                  <a:srgbClr val="536876"/>
                </a:solidFill>
                <a:latin typeface="Aptos"/>
                <a:ea typeface="Aptos"/>
                <a:cs typeface="Aptos"/>
              </a:rPr>
              <a:t>Production systems still need a database, migrations and monitoring.</a:t>
            </a:r>
          </a:p>
        </p:txBody>
      </p:sp>
    </p:spTree>
    <p:extLst>
      <p:ext uri="{BB962C8B-B14F-4D97-AF65-F5344CB8AC3E}">
        <p14:creationId xmlns:p14="http://schemas.microsoft.com/office/powerpoint/2010/main" val="179150219"/>
      </p:ext>
    </p:extLst>
  </p:cSld>
</p:sld>
</file>

<file path=ppt/slides/slide11.xml><?xml version="1.0" encoding="utf-8"?>
<p:sld xmlns:p="http://schemas.openxmlformats.org/presentationml/2006/main">
  <p:cSld>
    <p:bg>
      <p:bgPr>
        <a:solidFill xmlns:a="http://schemas.openxmlformats.org/drawingml/2006/main">
          <a:srgbClr val="FFFDF8"/>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D8C0ADC1-3560-4F51-A4CE-30172E7A05BB}"/>
              </a:ext>
            </a:extLst>
          </p:cNvPr>
          <p:cNvSpPr>
            <a:spLocks xmlns:a="http://schemas.openxmlformats.org/drawingml/2006/main" noGrp="1"/>
          </p:cNvSpPr>
          <p:nvPr/>
        </p:nvSpPr>
        <p:spPr>
          <a:xfrm xmlns:a="http://schemas.openxmlformats.org/drawingml/2006/main">
            <a:off x="609600" y="45720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75" b="1" i="0">
                <a:solidFill>
                  <a:srgbClr val="055A52"/>
                </a:solidFill>
                <a:latin typeface="Aptos"/>
                <a:ea typeface="Aptos"/>
                <a:cs typeface="Aptos"/>
              </a:defRPr>
            </a:defPPr>
          </a:lstStyle>
          <a:p xmlns:a="http://schemas.openxmlformats.org/drawingml/2006/main">
            <a:pPr algn="l">
              <a:lnSpc>
                <a:spcPct val="100000"/>
              </a:lnSpc>
              <a:buNone/>
              <a:defRPr sz="975" b="1" i="0">
                <a:solidFill>
                  <a:srgbClr val="055A52"/>
                </a:solidFill>
                <a:latin typeface="Aptos"/>
                <a:ea typeface="Aptos"/>
                <a:cs typeface="Aptos"/>
              </a:defRPr>
            </a:pPr>
            <a:r>
              <a:rPr sz="975" b="1" i="0">
                <a:solidFill>
                  <a:srgbClr val="055A52"/>
                </a:solidFill>
                <a:latin typeface="Aptos"/>
                <a:ea typeface="Aptos"/>
                <a:cs typeface="Aptos"/>
              </a:rPr>
              <a:t>PRACTICAL JUDGEMENT</a:t>
            </a:r>
          </a:p>
        </p:txBody>
      </p:sp>
      <p:sp>
        <p:nvSpPr>
          <p:cNvPr id="2" name="">
            <a:extLst xmlns:a="http://schemas.openxmlformats.org/drawingml/2006/main">
              <a:ext uri="{FF2B5EF4-FFF2-40B4-BE49-F238E27FC236}">
                <a16:creationId xmlns:a16="http://schemas.microsoft.com/office/drawing/2014/main" id="{C9189C49-D646-455F-9F05-773A84E201AB}"/>
              </a:ext>
            </a:extLst>
          </p:cNvPr>
          <p:cNvSpPr>
            <a:spLocks xmlns:a="http://schemas.openxmlformats.org/drawingml/2006/main" noGrp="1"/>
          </p:cNvSpPr>
          <p:nvPr/>
        </p:nvSpPr>
        <p:spPr>
          <a:xfrm xmlns:a="http://schemas.openxmlformats.org/drawingml/2006/main">
            <a:off x="609600" y="781050"/>
            <a:ext cx="10668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850" b="1" i="0">
                <a:solidFill>
                  <a:srgbClr val="102333"/>
                </a:solidFill>
                <a:latin typeface="Aptos"/>
                <a:ea typeface="Aptos"/>
                <a:cs typeface="Aptos"/>
              </a:defRPr>
            </a:defPPr>
          </a:lstStyle>
          <a:p xmlns:a="http://schemas.openxmlformats.org/drawingml/2006/main">
            <a:pPr algn="l">
              <a:lnSpc>
                <a:spcPct val="95000"/>
              </a:lnSpc>
              <a:buNone/>
              <a:defRPr sz="2850" b="1" i="0">
                <a:solidFill>
                  <a:srgbClr val="102333"/>
                </a:solidFill>
                <a:latin typeface="Aptos"/>
                <a:ea typeface="Aptos"/>
                <a:cs typeface="Aptos"/>
              </a:defRPr>
            </a:pPr>
            <a:r>
              <a:rPr sz="2850" b="1" i="0">
                <a:solidFill>
                  <a:srgbClr val="102333"/>
                </a:solidFill>
                <a:latin typeface="Aptos"/>
                <a:ea typeface="Aptos"/>
                <a:cs typeface="Aptos"/>
              </a:rPr>
              <a:t>Good fit when the main product is an API</a:t>
            </a:r>
          </a:p>
        </p:txBody>
      </p:sp>
      <p:sp>
        <p:nvSpPr>
          <p:cNvPr id="3" name="">
            <a:extLst xmlns:a="http://schemas.openxmlformats.org/drawingml/2006/main">
              <a:ext uri="{FF2B5EF4-FFF2-40B4-BE49-F238E27FC236}">
                <a16:creationId xmlns:a16="http://schemas.microsoft.com/office/drawing/2014/main" id="{7698DAB1-F059-4696-974A-EC7DF7FEB9BE}"/>
              </a:ext>
            </a:extLst>
          </p:cNvPr>
          <p:cNvSpPr>
            <a:spLocks xmlns:a="http://schemas.openxmlformats.org/drawingml/2006/main" noGrp="1"/>
          </p:cNvSpPr>
          <p:nvPr/>
        </p:nvSpPr>
        <p:spPr>
          <a:xfrm xmlns:a="http://schemas.openxmlformats.org/drawingml/2006/main">
            <a:off x="628650" y="1466850"/>
            <a:ext cx="1000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350" b="0" i="0">
                <a:solidFill>
                  <a:srgbClr val="536876"/>
                </a:solidFill>
                <a:latin typeface="Aptos"/>
                <a:ea typeface="Aptos"/>
                <a:cs typeface="Aptos"/>
              </a:defRPr>
            </a:defPPr>
          </a:lstStyle>
          <a:p xmlns:a="http://schemas.openxmlformats.org/drawingml/2006/main">
            <a:pPr algn="l">
              <a:lnSpc>
                <a:spcPct val="100000"/>
              </a:lnSpc>
              <a:buNone/>
              <a:defRPr sz="1350" b="0" i="0">
                <a:solidFill>
                  <a:srgbClr val="536876"/>
                </a:solidFill>
                <a:latin typeface="Aptos"/>
                <a:ea typeface="Aptos"/>
                <a:cs typeface="Aptos"/>
              </a:defRPr>
            </a:pPr>
            <a:r>
              <a:rPr sz="1350" b="0" i="0">
                <a:solidFill>
                  <a:srgbClr val="536876"/>
                </a:solidFill>
                <a:latin typeface="Aptos"/>
                <a:ea typeface="Aptos"/>
                <a:cs typeface="Aptos"/>
              </a:rPr>
              <a:t>Choose it for the problem—not only because the first example is short.</a:t>
            </a:r>
          </a:p>
        </p:txBody>
      </p:sp>
      <p:sp>
        <p:nvSpPr>
          <p:cNvPr id="4" name="">
            <a:extLst xmlns:a="http://schemas.openxmlformats.org/drawingml/2006/main">
              <a:ext uri="{FF2B5EF4-FFF2-40B4-BE49-F238E27FC236}">
                <a16:creationId xmlns:a16="http://schemas.microsoft.com/office/drawing/2014/main" id="{8EF42C1F-07A7-4A4B-B16A-086E37521287}"/>
              </a:ext>
            </a:extLst>
          </p:cNvPr>
          <p:cNvSpPr>
            <a:spLocks xmlns:a="http://schemas.openxmlformats.org/drawingml/2006/main" noGrp="1"/>
          </p:cNvSpPr>
          <p:nvPr/>
        </p:nvSpPr>
        <p:spPr>
          <a:xfrm xmlns:a="http://schemas.openxmlformats.org/drawingml/2006/main">
            <a:off x="609600" y="6477000"/>
            <a:ext cx="10972800" cy="14288"/>
          </a:xfrm>
          <a:prstGeom xmlns:a="http://schemas.openxmlformats.org/drawingml/2006/main" prst="rect">
            <a:avLst/>
          </a:prstGeom>
          <a:solidFill xmlns:a="http://schemas.openxmlformats.org/drawingml/2006/main">
            <a:srgbClr val="CCD9D5"/>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023F6343-CC6E-4920-A0A2-2A9868B83210}"/>
              </a:ext>
            </a:extLst>
          </p:cNvPr>
          <p:cNvSpPr>
            <a:spLocks xmlns:a="http://schemas.openxmlformats.org/drawingml/2006/main" noGrp="1"/>
          </p:cNvSpPr>
          <p:nvPr/>
        </p:nvSpPr>
        <p:spPr>
          <a:xfrm xmlns:a="http://schemas.openxmlformats.org/drawingml/2006/main">
            <a:off x="609600" y="655320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825" b="1" i="0">
                <a:solidFill>
                  <a:srgbClr val="536876"/>
                </a:solidFill>
                <a:latin typeface="Aptos"/>
                <a:ea typeface="Aptos"/>
                <a:cs typeface="Aptos"/>
              </a:defRPr>
            </a:defPPr>
          </a:lstStyle>
          <a:p xmlns:a="http://schemas.openxmlformats.org/drawingml/2006/main">
            <a:pPr algn="l">
              <a:lnSpc>
                <a:spcPct val="100000"/>
              </a:lnSpc>
              <a:buNone/>
              <a:defRPr sz="825" b="1" i="0">
                <a:solidFill>
                  <a:srgbClr val="536876"/>
                </a:solidFill>
                <a:latin typeface="Aptos"/>
                <a:ea typeface="Aptos"/>
                <a:cs typeface="Aptos"/>
              </a:defRPr>
            </a:pPr>
            <a:r>
              <a:rPr sz="825" b="1" i="0">
                <a:solidFill>
                  <a:srgbClr val="536876"/>
                </a:solidFill>
                <a:latin typeface="Aptos"/>
                <a:ea typeface="Aptos"/>
                <a:cs typeface="Aptos"/>
              </a:rPr>
              <a:t>COMP10020 · FASTAPI</a:t>
            </a:r>
          </a:p>
        </p:txBody>
      </p:sp>
      <p:sp>
        <p:nvSpPr>
          <p:cNvPr id="6" name="">
            <a:extLst xmlns:a="http://schemas.openxmlformats.org/drawingml/2006/main">
              <a:ext uri="{FF2B5EF4-FFF2-40B4-BE49-F238E27FC236}">
                <a16:creationId xmlns:a16="http://schemas.microsoft.com/office/drawing/2014/main" id="{7FECDD4C-67A7-4444-8FC6-3628984A844F}"/>
              </a:ext>
            </a:extLst>
          </p:cNvPr>
          <p:cNvSpPr>
            <a:spLocks xmlns:a="http://schemas.openxmlformats.org/drawingml/2006/main" noGrp="1"/>
          </p:cNvSpPr>
          <p:nvPr/>
        </p:nvSpPr>
        <p:spPr>
          <a:xfrm xmlns:a="http://schemas.openxmlformats.org/drawingml/2006/main">
            <a:off x="11049000" y="6543675"/>
            <a:ext cx="533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r">
              <a:defRPr sz="825" b="1" i="0">
                <a:solidFill>
                  <a:srgbClr val="536876"/>
                </a:solidFill>
                <a:latin typeface="Aptos"/>
                <a:ea typeface="Aptos"/>
                <a:cs typeface="Aptos"/>
              </a:defRPr>
            </a:defPPr>
          </a:lstStyle>
          <a:p xmlns:a="http://schemas.openxmlformats.org/drawingml/2006/main">
            <a:pPr algn="r">
              <a:lnSpc>
                <a:spcPct val="100000"/>
              </a:lnSpc>
              <a:buNone/>
              <a:defRPr sz="825" b="1" i="0">
                <a:solidFill>
                  <a:srgbClr val="536876"/>
                </a:solidFill>
                <a:latin typeface="Aptos"/>
                <a:ea typeface="Aptos"/>
                <a:cs typeface="Aptos"/>
              </a:defRPr>
            </a:pPr>
            <a:r>
              <a:rPr sz="825" b="1" i="0">
                <a:solidFill>
                  <a:srgbClr val="536876"/>
                </a:solidFill>
                <a:latin typeface="Aptos"/>
                <a:ea typeface="Aptos"/>
                <a:cs typeface="Aptos"/>
              </a:rPr>
              <a:t>11</a:t>
            </a:r>
          </a:p>
        </p:txBody>
      </p:sp>
      <p:sp>
        <p:nvSpPr>
          <p:cNvPr id="7" name="">
            <a:extLst xmlns:a="http://schemas.openxmlformats.org/drawingml/2006/main">
              <a:ext uri="{FF2B5EF4-FFF2-40B4-BE49-F238E27FC236}">
                <a16:creationId xmlns:a16="http://schemas.microsoft.com/office/drawing/2014/main" id="{81A8795D-E772-43C1-A1A1-8442FB3599F8}"/>
              </a:ext>
            </a:extLst>
          </p:cNvPr>
          <p:cNvSpPr>
            <a:spLocks xmlns:a="http://schemas.openxmlformats.org/drawingml/2006/main" noGrp="1"/>
          </p:cNvSpPr>
          <p:nvPr/>
        </p:nvSpPr>
        <p:spPr>
          <a:xfrm xmlns:a="http://schemas.openxmlformats.org/drawingml/2006/main">
            <a:off x="781050" y="2190750"/>
            <a:ext cx="323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125" b="1" i="0">
                <a:solidFill>
                  <a:srgbClr val="055A52"/>
                </a:solidFill>
                <a:latin typeface="Aptos"/>
                <a:ea typeface="Aptos"/>
                <a:cs typeface="Aptos"/>
              </a:defRPr>
            </a:defPPr>
          </a:lstStyle>
          <a:p xmlns:a="http://schemas.openxmlformats.org/drawingml/2006/main">
            <a:pPr algn="l">
              <a:lnSpc>
                <a:spcPct val="100000"/>
              </a:lnSpc>
              <a:buNone/>
              <a:defRPr sz="1125" b="1" i="0">
                <a:solidFill>
                  <a:srgbClr val="055A52"/>
                </a:solidFill>
                <a:latin typeface="Aptos"/>
                <a:ea typeface="Aptos"/>
                <a:cs typeface="Aptos"/>
              </a:defRPr>
            </a:pPr>
            <a:r>
              <a:rPr sz="1125" b="1" i="0">
                <a:solidFill>
                  <a:srgbClr val="055A52"/>
                </a:solidFill>
                <a:latin typeface="Aptos"/>
                <a:ea typeface="Aptos"/>
                <a:cs typeface="Aptos"/>
              </a:rPr>
              <a:t>GOOD FIT</a:t>
            </a:r>
          </a:p>
        </p:txBody>
      </p:sp>
      <p:sp>
        <p:nvSpPr>
          <p:cNvPr id="8" name="">
            <a:extLst xmlns:a="http://schemas.openxmlformats.org/drawingml/2006/main">
              <a:ext uri="{FF2B5EF4-FFF2-40B4-BE49-F238E27FC236}">
                <a16:creationId xmlns:a16="http://schemas.microsoft.com/office/drawing/2014/main" id="{B2CFB5E4-85C0-4F04-86BF-20F4544AE908}"/>
              </a:ext>
            </a:extLst>
          </p:cNvPr>
          <p:cNvSpPr>
            <a:spLocks xmlns:a="http://schemas.openxmlformats.org/drawingml/2006/main" noGrp="1"/>
          </p:cNvSpPr>
          <p:nvPr/>
        </p:nvSpPr>
        <p:spPr>
          <a:xfrm xmlns:a="http://schemas.openxmlformats.org/drawingml/2006/main">
            <a:off x="781050" y="2752725"/>
            <a:ext cx="47625" cy="609600"/>
          </a:xfrm>
          <a:prstGeom xmlns:a="http://schemas.openxmlformats.org/drawingml/2006/main" prst="rect">
            <a:avLst/>
          </a:prstGeom>
          <a:solidFill xmlns:a="http://schemas.openxmlformats.org/drawingml/2006/main">
            <a:srgbClr val="087F72"/>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D77F7B4-5624-4D74-B32C-D192F184C3F1}"/>
              </a:ext>
            </a:extLst>
          </p:cNvPr>
          <p:cNvSpPr>
            <a:spLocks xmlns:a="http://schemas.openxmlformats.org/drawingml/2006/main" noGrp="1"/>
          </p:cNvSpPr>
          <p:nvPr/>
        </p:nvSpPr>
        <p:spPr>
          <a:xfrm xmlns:a="http://schemas.openxmlformats.org/drawingml/2006/main">
            <a:off x="971550" y="2724150"/>
            <a:ext cx="4381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425" b="1" i="0">
                <a:solidFill>
                  <a:srgbClr val="102333"/>
                </a:solidFill>
                <a:latin typeface="Aptos"/>
                <a:ea typeface="Aptos"/>
                <a:cs typeface="Aptos"/>
              </a:defRPr>
            </a:defPPr>
          </a:lstStyle>
          <a:p xmlns:a="http://schemas.openxmlformats.org/drawingml/2006/main">
            <a:pPr algn="l">
              <a:lnSpc>
                <a:spcPct val="100000"/>
              </a:lnSpc>
              <a:buNone/>
              <a:defRPr sz="1425" b="1" i="0">
                <a:solidFill>
                  <a:srgbClr val="102333"/>
                </a:solidFill>
                <a:latin typeface="Aptos"/>
                <a:ea typeface="Aptos"/>
                <a:cs typeface="Aptos"/>
              </a:defRPr>
            </a:pPr>
            <a:r>
              <a:rPr sz="1425" b="1" i="0">
                <a:solidFill>
                  <a:srgbClr val="102333"/>
                </a:solidFill>
                <a:latin typeface="Aptos"/>
                <a:ea typeface="Aptos"/>
                <a:cs typeface="Aptos"/>
              </a:rPr>
              <a:t>REST backends</a:t>
            </a:r>
          </a:p>
        </p:txBody>
      </p:sp>
      <p:sp>
        <p:nvSpPr>
          <p:cNvPr id="10" name="">
            <a:extLst xmlns:a="http://schemas.openxmlformats.org/drawingml/2006/main">
              <a:ext uri="{FF2B5EF4-FFF2-40B4-BE49-F238E27FC236}">
                <a16:creationId xmlns:a16="http://schemas.microsoft.com/office/drawing/2014/main" id="{8EA5C38E-6102-4C57-80FF-7A33EA215894}"/>
              </a:ext>
            </a:extLst>
          </p:cNvPr>
          <p:cNvSpPr>
            <a:spLocks xmlns:a="http://schemas.openxmlformats.org/drawingml/2006/main" noGrp="1"/>
          </p:cNvSpPr>
          <p:nvPr/>
        </p:nvSpPr>
        <p:spPr>
          <a:xfrm xmlns:a="http://schemas.openxmlformats.org/drawingml/2006/main">
            <a:off x="971550" y="2990850"/>
            <a:ext cx="4381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125" b="0" i="0">
                <a:solidFill>
                  <a:srgbClr val="536876"/>
                </a:solidFill>
                <a:latin typeface="Aptos"/>
                <a:ea typeface="Aptos"/>
                <a:cs typeface="Aptos"/>
              </a:defRPr>
            </a:defPPr>
          </a:lstStyle>
          <a:p xmlns:a="http://schemas.openxmlformats.org/drawingml/2006/main">
            <a:pPr algn="l">
              <a:lnSpc>
                <a:spcPct val="110000"/>
              </a:lnSpc>
              <a:buNone/>
              <a:defRPr sz="1125" b="0" i="0">
                <a:solidFill>
                  <a:srgbClr val="536876"/>
                </a:solidFill>
                <a:latin typeface="Aptos"/>
                <a:ea typeface="Aptos"/>
                <a:cs typeface="Aptos"/>
              </a:defRPr>
            </a:pPr>
            <a:r>
              <a:rPr sz="1125" b="0" i="0">
                <a:solidFill>
                  <a:srgbClr val="536876"/>
                </a:solidFill>
                <a:latin typeface="Aptos"/>
                <a:ea typeface="Aptos"/>
                <a:cs typeface="Aptos"/>
              </a:rPr>
              <a:t>Clear JSON endpoints for web or mobile clients.</a:t>
            </a:r>
          </a:p>
        </p:txBody>
      </p:sp>
      <p:sp>
        <p:nvSpPr>
          <p:cNvPr id="11" name="">
            <a:extLst xmlns:a="http://schemas.openxmlformats.org/drawingml/2006/main">
              <a:ext uri="{FF2B5EF4-FFF2-40B4-BE49-F238E27FC236}">
                <a16:creationId xmlns:a16="http://schemas.microsoft.com/office/drawing/2014/main" id="{56445FD1-9257-4292-9B74-C2D7F031541D}"/>
              </a:ext>
            </a:extLst>
          </p:cNvPr>
          <p:cNvSpPr>
            <a:spLocks xmlns:a="http://schemas.openxmlformats.org/drawingml/2006/main" noGrp="1"/>
          </p:cNvSpPr>
          <p:nvPr/>
        </p:nvSpPr>
        <p:spPr>
          <a:xfrm xmlns:a="http://schemas.openxmlformats.org/drawingml/2006/main">
            <a:off x="781050" y="3743325"/>
            <a:ext cx="47625" cy="609600"/>
          </a:xfrm>
          <a:prstGeom xmlns:a="http://schemas.openxmlformats.org/drawingml/2006/main" prst="rect">
            <a:avLst/>
          </a:prstGeom>
          <a:solidFill xmlns:a="http://schemas.openxmlformats.org/drawingml/2006/main">
            <a:srgbClr val="087F72"/>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5E59DD4-FCC6-4A91-9ABC-23093DF0285E}"/>
              </a:ext>
            </a:extLst>
          </p:cNvPr>
          <p:cNvSpPr>
            <a:spLocks xmlns:a="http://schemas.openxmlformats.org/drawingml/2006/main" noGrp="1"/>
          </p:cNvSpPr>
          <p:nvPr/>
        </p:nvSpPr>
        <p:spPr>
          <a:xfrm xmlns:a="http://schemas.openxmlformats.org/drawingml/2006/main">
            <a:off x="971550" y="3714750"/>
            <a:ext cx="4381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425" b="1" i="0">
                <a:solidFill>
                  <a:srgbClr val="102333"/>
                </a:solidFill>
                <a:latin typeface="Aptos"/>
                <a:ea typeface="Aptos"/>
                <a:cs typeface="Aptos"/>
              </a:defRPr>
            </a:defPPr>
          </a:lstStyle>
          <a:p xmlns:a="http://schemas.openxmlformats.org/drawingml/2006/main">
            <a:pPr algn="l">
              <a:lnSpc>
                <a:spcPct val="100000"/>
              </a:lnSpc>
              <a:buNone/>
              <a:defRPr sz="1425" b="1" i="0">
                <a:solidFill>
                  <a:srgbClr val="102333"/>
                </a:solidFill>
                <a:latin typeface="Aptos"/>
                <a:ea typeface="Aptos"/>
                <a:cs typeface="Aptos"/>
              </a:defRPr>
            </a:pPr>
            <a:r>
              <a:rPr sz="1425" b="1" i="0">
                <a:solidFill>
                  <a:srgbClr val="102333"/>
                </a:solidFill>
                <a:latin typeface="Aptos"/>
                <a:ea typeface="Aptos"/>
                <a:cs typeface="Aptos"/>
              </a:rPr>
              <a:t>Data and ML services</a:t>
            </a:r>
          </a:p>
        </p:txBody>
      </p:sp>
      <p:sp>
        <p:nvSpPr>
          <p:cNvPr id="13" name="">
            <a:extLst xmlns:a="http://schemas.openxmlformats.org/drawingml/2006/main">
              <a:ext uri="{FF2B5EF4-FFF2-40B4-BE49-F238E27FC236}">
                <a16:creationId xmlns:a16="http://schemas.microsoft.com/office/drawing/2014/main" id="{6949C9C6-EB89-4FF0-A6E9-B694F98CB38F}"/>
              </a:ext>
            </a:extLst>
          </p:cNvPr>
          <p:cNvSpPr>
            <a:spLocks xmlns:a="http://schemas.openxmlformats.org/drawingml/2006/main" noGrp="1"/>
          </p:cNvSpPr>
          <p:nvPr/>
        </p:nvSpPr>
        <p:spPr>
          <a:xfrm xmlns:a="http://schemas.openxmlformats.org/drawingml/2006/main">
            <a:off x="971550" y="3981450"/>
            <a:ext cx="4381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125" b="0" i="0">
                <a:solidFill>
                  <a:srgbClr val="536876"/>
                </a:solidFill>
                <a:latin typeface="Aptos"/>
                <a:ea typeface="Aptos"/>
                <a:cs typeface="Aptos"/>
              </a:defRPr>
            </a:defPPr>
          </a:lstStyle>
          <a:p xmlns:a="http://schemas.openxmlformats.org/drawingml/2006/main">
            <a:pPr algn="l">
              <a:lnSpc>
                <a:spcPct val="110000"/>
              </a:lnSpc>
              <a:buNone/>
              <a:defRPr sz="1125" b="0" i="0">
                <a:solidFill>
                  <a:srgbClr val="536876"/>
                </a:solidFill>
                <a:latin typeface="Aptos"/>
                <a:ea typeface="Aptos"/>
                <a:cs typeface="Aptos"/>
              </a:defRPr>
            </a:pPr>
            <a:r>
              <a:rPr sz="1125" b="0" i="0">
                <a:solidFill>
                  <a:srgbClr val="536876"/>
                </a:solidFill>
                <a:latin typeface="Aptos"/>
                <a:ea typeface="Aptos"/>
                <a:cs typeface="Aptos"/>
              </a:rPr>
              <a:t>Typed input and output contracts around Python logic.</a:t>
            </a:r>
          </a:p>
        </p:txBody>
      </p:sp>
      <p:sp>
        <p:nvSpPr>
          <p:cNvPr id="14" name="">
            <a:extLst xmlns:a="http://schemas.openxmlformats.org/drawingml/2006/main">
              <a:ext uri="{FF2B5EF4-FFF2-40B4-BE49-F238E27FC236}">
                <a16:creationId xmlns:a16="http://schemas.microsoft.com/office/drawing/2014/main" id="{46098959-CAF4-4D24-B4B5-F22D43BBBCF8}"/>
              </a:ext>
            </a:extLst>
          </p:cNvPr>
          <p:cNvSpPr>
            <a:spLocks xmlns:a="http://schemas.openxmlformats.org/drawingml/2006/main" noGrp="1"/>
          </p:cNvSpPr>
          <p:nvPr/>
        </p:nvSpPr>
        <p:spPr>
          <a:xfrm xmlns:a="http://schemas.openxmlformats.org/drawingml/2006/main">
            <a:off x="781050" y="4733925"/>
            <a:ext cx="47625" cy="609600"/>
          </a:xfrm>
          <a:prstGeom xmlns:a="http://schemas.openxmlformats.org/drawingml/2006/main" prst="rect">
            <a:avLst/>
          </a:prstGeom>
          <a:solidFill xmlns:a="http://schemas.openxmlformats.org/drawingml/2006/main">
            <a:srgbClr val="087F72"/>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7D0264CB-E397-47B1-8551-869F3ECE65DD}"/>
              </a:ext>
            </a:extLst>
          </p:cNvPr>
          <p:cNvSpPr>
            <a:spLocks xmlns:a="http://schemas.openxmlformats.org/drawingml/2006/main" noGrp="1"/>
          </p:cNvSpPr>
          <p:nvPr/>
        </p:nvSpPr>
        <p:spPr>
          <a:xfrm xmlns:a="http://schemas.openxmlformats.org/drawingml/2006/main">
            <a:off x="971550" y="4705350"/>
            <a:ext cx="4381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425" b="1" i="0">
                <a:solidFill>
                  <a:srgbClr val="102333"/>
                </a:solidFill>
                <a:latin typeface="Aptos"/>
                <a:ea typeface="Aptos"/>
                <a:cs typeface="Aptos"/>
              </a:defRPr>
            </a:defPPr>
          </a:lstStyle>
          <a:p xmlns:a="http://schemas.openxmlformats.org/drawingml/2006/main">
            <a:pPr algn="l">
              <a:lnSpc>
                <a:spcPct val="100000"/>
              </a:lnSpc>
              <a:buNone/>
              <a:defRPr sz="1425" b="1" i="0">
                <a:solidFill>
                  <a:srgbClr val="102333"/>
                </a:solidFill>
                <a:latin typeface="Aptos"/>
                <a:ea typeface="Aptos"/>
                <a:cs typeface="Aptos"/>
              </a:defRPr>
            </a:pPr>
            <a:r>
              <a:rPr sz="1425" b="1" i="0">
                <a:solidFill>
                  <a:srgbClr val="102333"/>
                </a:solidFill>
                <a:latin typeface="Aptos"/>
                <a:ea typeface="Aptos"/>
                <a:cs typeface="Aptos"/>
              </a:rPr>
              <a:t>Teaching and prototypes</a:t>
            </a:r>
          </a:p>
        </p:txBody>
      </p:sp>
      <p:sp>
        <p:nvSpPr>
          <p:cNvPr id="16" name="">
            <a:extLst xmlns:a="http://schemas.openxmlformats.org/drawingml/2006/main">
              <a:ext uri="{FF2B5EF4-FFF2-40B4-BE49-F238E27FC236}">
                <a16:creationId xmlns:a16="http://schemas.microsoft.com/office/drawing/2014/main" id="{451C8B12-67DE-4601-A0C4-9FD1B50533DE}"/>
              </a:ext>
            </a:extLst>
          </p:cNvPr>
          <p:cNvSpPr>
            <a:spLocks xmlns:a="http://schemas.openxmlformats.org/drawingml/2006/main" noGrp="1"/>
          </p:cNvSpPr>
          <p:nvPr/>
        </p:nvSpPr>
        <p:spPr>
          <a:xfrm xmlns:a="http://schemas.openxmlformats.org/drawingml/2006/main">
            <a:off x="971550" y="4972050"/>
            <a:ext cx="4381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125" b="0" i="0">
                <a:solidFill>
                  <a:srgbClr val="536876"/>
                </a:solidFill>
                <a:latin typeface="Aptos"/>
                <a:ea typeface="Aptos"/>
                <a:cs typeface="Aptos"/>
              </a:defRPr>
            </a:defPPr>
          </a:lstStyle>
          <a:p xmlns:a="http://schemas.openxmlformats.org/drawingml/2006/main">
            <a:pPr algn="l">
              <a:lnSpc>
                <a:spcPct val="110000"/>
              </a:lnSpc>
              <a:buNone/>
              <a:defRPr sz="1125" b="0" i="0">
                <a:solidFill>
                  <a:srgbClr val="536876"/>
                </a:solidFill>
                <a:latin typeface="Aptos"/>
                <a:ea typeface="Aptos"/>
                <a:cs typeface="Aptos"/>
              </a:defRPr>
            </a:pPr>
            <a:r>
              <a:rPr sz="1125" b="0" i="0">
                <a:solidFill>
                  <a:srgbClr val="536876"/>
                </a:solidFill>
                <a:latin typeface="Aptos"/>
                <a:ea typeface="Aptos"/>
                <a:cs typeface="Aptos"/>
              </a:rPr>
              <a:t>Quick feedback through generated interactive documentation.</a:t>
            </a:r>
          </a:p>
        </p:txBody>
      </p:sp>
      <p:sp>
        <p:nvSpPr>
          <p:cNvPr id="17" name="">
            <a:extLst xmlns:a="http://schemas.openxmlformats.org/drawingml/2006/main">
              <a:ext uri="{FF2B5EF4-FFF2-40B4-BE49-F238E27FC236}">
                <a16:creationId xmlns:a16="http://schemas.microsoft.com/office/drawing/2014/main" id="{9DE17CC2-9DDF-4F92-9EE1-796500605C8C}"/>
              </a:ext>
            </a:extLst>
          </p:cNvPr>
          <p:cNvSpPr>
            <a:spLocks xmlns:a="http://schemas.openxmlformats.org/drawingml/2006/main" noGrp="1"/>
          </p:cNvSpPr>
          <p:nvPr/>
        </p:nvSpPr>
        <p:spPr>
          <a:xfrm xmlns:a="http://schemas.openxmlformats.org/drawingml/2006/main">
            <a:off x="5981700" y="2114550"/>
            <a:ext cx="38100" cy="3676650"/>
          </a:xfrm>
          <a:prstGeom xmlns:a="http://schemas.openxmlformats.org/drawingml/2006/main" prst="rect">
            <a:avLst/>
          </a:prstGeom>
          <a:solidFill xmlns:a="http://schemas.openxmlformats.org/drawingml/2006/main">
            <a:srgbClr val="CCD9D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CDA1F52D-F42D-4560-B3A3-18BA72BBA393}"/>
              </a:ext>
            </a:extLst>
          </p:cNvPr>
          <p:cNvSpPr>
            <a:spLocks xmlns:a="http://schemas.openxmlformats.org/drawingml/2006/main" noGrp="1"/>
          </p:cNvSpPr>
          <p:nvPr/>
        </p:nvSpPr>
        <p:spPr>
          <a:xfrm xmlns:a="http://schemas.openxmlformats.org/drawingml/2006/main">
            <a:off x="6667500" y="21907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125" b="1" i="0">
                <a:solidFill>
                  <a:srgbClr val="EF765E"/>
                </a:solidFill>
                <a:latin typeface="Aptos"/>
                <a:ea typeface="Aptos"/>
                <a:cs typeface="Aptos"/>
              </a:defRPr>
            </a:defPPr>
          </a:lstStyle>
          <a:p xmlns:a="http://schemas.openxmlformats.org/drawingml/2006/main">
            <a:pPr algn="l">
              <a:lnSpc>
                <a:spcPct val="100000"/>
              </a:lnSpc>
              <a:buNone/>
              <a:defRPr sz="1125" b="1" i="0">
                <a:solidFill>
                  <a:srgbClr val="EF765E"/>
                </a:solidFill>
                <a:latin typeface="Aptos"/>
                <a:ea typeface="Aptos"/>
                <a:cs typeface="Aptos"/>
              </a:defRPr>
            </a:pPr>
            <a:r>
              <a:rPr sz="1125" b="1" i="0">
                <a:solidFill>
                  <a:srgbClr val="EF765E"/>
                </a:solidFill>
                <a:latin typeface="Aptos"/>
                <a:ea typeface="Aptos"/>
                <a:cs typeface="Aptos"/>
              </a:rPr>
              <a:t>PLAN BEYOND THE FRAMEWORK</a:t>
            </a:r>
          </a:p>
        </p:txBody>
      </p:sp>
      <p:sp>
        <p:nvSpPr>
          <p:cNvPr id="19" name="">
            <a:extLst xmlns:a="http://schemas.openxmlformats.org/drawingml/2006/main">
              <a:ext uri="{FF2B5EF4-FFF2-40B4-BE49-F238E27FC236}">
                <a16:creationId xmlns:a16="http://schemas.microsoft.com/office/drawing/2014/main" id="{F16AC753-0C4B-48D3-ABBA-0CD5F28D3B31}"/>
              </a:ext>
            </a:extLst>
          </p:cNvPr>
          <p:cNvSpPr>
            <a:spLocks xmlns:a="http://schemas.openxmlformats.org/drawingml/2006/main" noGrp="1"/>
          </p:cNvSpPr>
          <p:nvPr/>
        </p:nvSpPr>
        <p:spPr>
          <a:xfrm xmlns:a="http://schemas.openxmlformats.org/drawingml/2006/main">
            <a:off x="6667500" y="2752725"/>
            <a:ext cx="47625" cy="609600"/>
          </a:xfrm>
          <a:prstGeom xmlns:a="http://schemas.openxmlformats.org/drawingml/2006/main" prst="rect">
            <a:avLst/>
          </a:prstGeom>
          <a:solidFill xmlns:a="http://schemas.openxmlformats.org/drawingml/2006/main">
            <a:srgbClr val="EF765E"/>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33FB087E-7578-4BC6-9792-FF4CBA020285}"/>
              </a:ext>
            </a:extLst>
          </p:cNvPr>
          <p:cNvSpPr>
            <a:spLocks xmlns:a="http://schemas.openxmlformats.org/drawingml/2006/main" noGrp="1"/>
          </p:cNvSpPr>
          <p:nvPr/>
        </p:nvSpPr>
        <p:spPr>
          <a:xfrm xmlns:a="http://schemas.openxmlformats.org/drawingml/2006/main">
            <a:off x="6858000" y="2724150"/>
            <a:ext cx="4381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425" b="1" i="0">
                <a:solidFill>
                  <a:srgbClr val="102333"/>
                </a:solidFill>
                <a:latin typeface="Aptos"/>
                <a:ea typeface="Aptos"/>
                <a:cs typeface="Aptos"/>
              </a:defRPr>
            </a:defPPr>
          </a:lstStyle>
          <a:p xmlns:a="http://schemas.openxmlformats.org/drawingml/2006/main">
            <a:pPr algn="l">
              <a:lnSpc>
                <a:spcPct val="100000"/>
              </a:lnSpc>
              <a:buNone/>
              <a:defRPr sz="1425" b="1" i="0">
                <a:solidFill>
                  <a:srgbClr val="102333"/>
                </a:solidFill>
                <a:latin typeface="Aptos"/>
                <a:ea typeface="Aptos"/>
                <a:cs typeface="Aptos"/>
              </a:defRPr>
            </a:pPr>
            <a:r>
              <a:rPr sz="1425" b="1" i="0">
                <a:solidFill>
                  <a:srgbClr val="102333"/>
                </a:solidFill>
                <a:latin typeface="Aptos"/>
                <a:ea typeface="Aptos"/>
                <a:cs typeface="Aptos"/>
              </a:rPr>
              <a:t>Who may call each route?</a:t>
            </a:r>
          </a:p>
        </p:txBody>
      </p:sp>
      <p:sp>
        <p:nvSpPr>
          <p:cNvPr id="21" name="">
            <a:extLst xmlns:a="http://schemas.openxmlformats.org/drawingml/2006/main">
              <a:ext uri="{FF2B5EF4-FFF2-40B4-BE49-F238E27FC236}">
                <a16:creationId xmlns:a16="http://schemas.microsoft.com/office/drawing/2014/main" id="{CC202B54-1612-4485-BC5F-F9F89C4DFC17}"/>
              </a:ext>
            </a:extLst>
          </p:cNvPr>
          <p:cNvSpPr>
            <a:spLocks xmlns:a="http://schemas.openxmlformats.org/drawingml/2006/main" noGrp="1"/>
          </p:cNvSpPr>
          <p:nvPr/>
        </p:nvSpPr>
        <p:spPr>
          <a:xfrm xmlns:a="http://schemas.openxmlformats.org/drawingml/2006/main">
            <a:off x="6858000" y="2990850"/>
            <a:ext cx="4381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125" b="0" i="0">
                <a:solidFill>
                  <a:srgbClr val="536876"/>
                </a:solidFill>
                <a:latin typeface="Aptos"/>
                <a:ea typeface="Aptos"/>
                <a:cs typeface="Aptos"/>
              </a:defRPr>
            </a:defPPr>
          </a:lstStyle>
          <a:p xmlns:a="http://schemas.openxmlformats.org/drawingml/2006/main">
            <a:pPr algn="l">
              <a:lnSpc>
                <a:spcPct val="110000"/>
              </a:lnSpc>
              <a:buNone/>
              <a:defRPr sz="1125" b="0" i="0">
                <a:solidFill>
                  <a:srgbClr val="536876"/>
                </a:solidFill>
                <a:latin typeface="Aptos"/>
                <a:ea typeface="Aptos"/>
                <a:cs typeface="Aptos"/>
              </a:defRPr>
            </a:pPr>
            <a:r>
              <a:rPr sz="1125" b="0" i="0">
                <a:solidFill>
                  <a:srgbClr val="536876"/>
                </a:solidFill>
                <a:latin typeface="Aptos"/>
                <a:ea typeface="Aptos"/>
                <a:cs typeface="Aptos"/>
              </a:rPr>
              <a:t>Add authentication and authorisation for real users.</a:t>
            </a:r>
          </a:p>
        </p:txBody>
      </p:sp>
      <p:sp>
        <p:nvSpPr>
          <p:cNvPr id="22" name="">
            <a:extLst xmlns:a="http://schemas.openxmlformats.org/drawingml/2006/main">
              <a:ext uri="{FF2B5EF4-FFF2-40B4-BE49-F238E27FC236}">
                <a16:creationId xmlns:a16="http://schemas.microsoft.com/office/drawing/2014/main" id="{C919C8F5-44F6-4F17-AA55-54883DDDD261}"/>
              </a:ext>
            </a:extLst>
          </p:cNvPr>
          <p:cNvSpPr>
            <a:spLocks xmlns:a="http://schemas.openxmlformats.org/drawingml/2006/main" noGrp="1"/>
          </p:cNvSpPr>
          <p:nvPr/>
        </p:nvSpPr>
        <p:spPr>
          <a:xfrm xmlns:a="http://schemas.openxmlformats.org/drawingml/2006/main">
            <a:off x="6667500" y="3743325"/>
            <a:ext cx="47625" cy="609600"/>
          </a:xfrm>
          <a:prstGeom xmlns:a="http://schemas.openxmlformats.org/drawingml/2006/main" prst="rect">
            <a:avLst/>
          </a:prstGeom>
          <a:solidFill xmlns:a="http://schemas.openxmlformats.org/drawingml/2006/main">
            <a:srgbClr val="EF765E"/>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7DA5FEBD-6E42-4BAB-9DC2-D99A5E61AB2C}"/>
              </a:ext>
            </a:extLst>
          </p:cNvPr>
          <p:cNvSpPr>
            <a:spLocks xmlns:a="http://schemas.openxmlformats.org/drawingml/2006/main" noGrp="1"/>
          </p:cNvSpPr>
          <p:nvPr/>
        </p:nvSpPr>
        <p:spPr>
          <a:xfrm xmlns:a="http://schemas.openxmlformats.org/drawingml/2006/main">
            <a:off x="6858000" y="3714750"/>
            <a:ext cx="4381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425" b="1" i="0">
                <a:solidFill>
                  <a:srgbClr val="102333"/>
                </a:solidFill>
                <a:latin typeface="Aptos"/>
                <a:ea typeface="Aptos"/>
                <a:cs typeface="Aptos"/>
              </a:defRPr>
            </a:defPPr>
          </a:lstStyle>
          <a:p xmlns:a="http://schemas.openxmlformats.org/drawingml/2006/main">
            <a:pPr algn="l">
              <a:lnSpc>
                <a:spcPct val="100000"/>
              </a:lnSpc>
              <a:buNone/>
              <a:defRPr sz="1425" b="1" i="0">
                <a:solidFill>
                  <a:srgbClr val="102333"/>
                </a:solidFill>
                <a:latin typeface="Aptos"/>
                <a:ea typeface="Aptos"/>
                <a:cs typeface="Aptos"/>
              </a:defRPr>
            </a:pPr>
            <a:r>
              <a:rPr sz="1425" b="1" i="0">
                <a:solidFill>
                  <a:srgbClr val="102333"/>
                </a:solidFill>
                <a:latin typeface="Aptos"/>
                <a:ea typeface="Aptos"/>
                <a:cs typeface="Aptos"/>
              </a:rPr>
              <a:t>Where does data survive?</a:t>
            </a:r>
          </a:p>
        </p:txBody>
      </p:sp>
      <p:sp>
        <p:nvSpPr>
          <p:cNvPr id="24" name="">
            <a:extLst xmlns:a="http://schemas.openxmlformats.org/drawingml/2006/main">
              <a:ext uri="{FF2B5EF4-FFF2-40B4-BE49-F238E27FC236}">
                <a16:creationId xmlns:a16="http://schemas.microsoft.com/office/drawing/2014/main" id="{9AF1DDF1-A85F-4C91-A159-9A8ACE2CDF11}"/>
              </a:ext>
            </a:extLst>
          </p:cNvPr>
          <p:cNvSpPr>
            <a:spLocks xmlns:a="http://schemas.openxmlformats.org/drawingml/2006/main" noGrp="1"/>
          </p:cNvSpPr>
          <p:nvPr/>
        </p:nvSpPr>
        <p:spPr>
          <a:xfrm xmlns:a="http://schemas.openxmlformats.org/drawingml/2006/main">
            <a:off x="6858000" y="3981450"/>
            <a:ext cx="4381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125" b="0" i="0">
                <a:solidFill>
                  <a:srgbClr val="536876"/>
                </a:solidFill>
                <a:latin typeface="Aptos"/>
                <a:ea typeface="Aptos"/>
                <a:cs typeface="Aptos"/>
              </a:defRPr>
            </a:defPPr>
          </a:lstStyle>
          <a:p xmlns:a="http://schemas.openxmlformats.org/drawingml/2006/main">
            <a:pPr algn="l">
              <a:lnSpc>
                <a:spcPct val="110000"/>
              </a:lnSpc>
              <a:buNone/>
              <a:defRPr sz="1125" b="0" i="0">
                <a:solidFill>
                  <a:srgbClr val="536876"/>
                </a:solidFill>
                <a:latin typeface="Aptos"/>
                <a:ea typeface="Aptos"/>
                <a:cs typeface="Aptos"/>
              </a:defRPr>
            </a:pPr>
            <a:r>
              <a:rPr sz="1125" b="0" i="0">
                <a:solidFill>
                  <a:srgbClr val="536876"/>
                </a:solidFill>
                <a:latin typeface="Aptos"/>
                <a:ea typeface="Aptos"/>
                <a:cs typeface="Aptos"/>
              </a:rPr>
              <a:t>Replace memory storage with a database and migrations.</a:t>
            </a:r>
          </a:p>
        </p:txBody>
      </p:sp>
      <p:sp>
        <p:nvSpPr>
          <p:cNvPr id="25" name="">
            <a:extLst xmlns:a="http://schemas.openxmlformats.org/drawingml/2006/main">
              <a:ext uri="{FF2B5EF4-FFF2-40B4-BE49-F238E27FC236}">
                <a16:creationId xmlns:a16="http://schemas.microsoft.com/office/drawing/2014/main" id="{9A7C039B-0A1A-449D-AE06-844B09F961A3}"/>
              </a:ext>
            </a:extLst>
          </p:cNvPr>
          <p:cNvSpPr>
            <a:spLocks xmlns:a="http://schemas.openxmlformats.org/drawingml/2006/main" noGrp="1"/>
          </p:cNvSpPr>
          <p:nvPr/>
        </p:nvSpPr>
        <p:spPr>
          <a:xfrm xmlns:a="http://schemas.openxmlformats.org/drawingml/2006/main">
            <a:off x="6667500" y="4733925"/>
            <a:ext cx="47625" cy="609600"/>
          </a:xfrm>
          <a:prstGeom xmlns:a="http://schemas.openxmlformats.org/drawingml/2006/main" prst="rect">
            <a:avLst/>
          </a:prstGeom>
          <a:solidFill xmlns:a="http://schemas.openxmlformats.org/drawingml/2006/main">
            <a:srgbClr val="EF765E"/>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D1B5F9E0-4F19-43F0-8B29-1F00AD00B1DF}"/>
              </a:ext>
            </a:extLst>
          </p:cNvPr>
          <p:cNvSpPr>
            <a:spLocks xmlns:a="http://schemas.openxmlformats.org/drawingml/2006/main" noGrp="1"/>
          </p:cNvSpPr>
          <p:nvPr/>
        </p:nvSpPr>
        <p:spPr>
          <a:xfrm xmlns:a="http://schemas.openxmlformats.org/drawingml/2006/main">
            <a:off x="6858000" y="4705350"/>
            <a:ext cx="4381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425" b="1" i="0">
                <a:solidFill>
                  <a:srgbClr val="102333"/>
                </a:solidFill>
                <a:latin typeface="Aptos"/>
                <a:ea typeface="Aptos"/>
                <a:cs typeface="Aptos"/>
              </a:defRPr>
            </a:defPPr>
          </a:lstStyle>
          <a:p xmlns:a="http://schemas.openxmlformats.org/drawingml/2006/main">
            <a:pPr algn="l">
              <a:lnSpc>
                <a:spcPct val="100000"/>
              </a:lnSpc>
              <a:buNone/>
              <a:defRPr sz="1425" b="1" i="0">
                <a:solidFill>
                  <a:srgbClr val="102333"/>
                </a:solidFill>
                <a:latin typeface="Aptos"/>
                <a:ea typeface="Aptos"/>
                <a:cs typeface="Aptos"/>
              </a:defRPr>
            </a:pPr>
            <a:r>
              <a:rPr sz="1425" b="1" i="0">
                <a:solidFill>
                  <a:srgbClr val="102333"/>
                </a:solidFill>
                <a:latin typeface="Aptos"/>
                <a:ea typeface="Aptos"/>
                <a:cs typeface="Aptos"/>
              </a:rPr>
              <a:t>How is it operated?</a:t>
            </a:r>
          </a:p>
        </p:txBody>
      </p:sp>
      <p:sp>
        <p:nvSpPr>
          <p:cNvPr id="27" name="">
            <a:extLst xmlns:a="http://schemas.openxmlformats.org/drawingml/2006/main">
              <a:ext uri="{FF2B5EF4-FFF2-40B4-BE49-F238E27FC236}">
                <a16:creationId xmlns:a16="http://schemas.microsoft.com/office/drawing/2014/main" id="{5D9D9196-EE05-491E-96A4-5E220E40C76A}"/>
              </a:ext>
            </a:extLst>
          </p:cNvPr>
          <p:cNvSpPr>
            <a:spLocks xmlns:a="http://schemas.openxmlformats.org/drawingml/2006/main" noGrp="1"/>
          </p:cNvSpPr>
          <p:nvPr/>
        </p:nvSpPr>
        <p:spPr>
          <a:xfrm xmlns:a="http://schemas.openxmlformats.org/drawingml/2006/main">
            <a:off x="6858000" y="4972050"/>
            <a:ext cx="4381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125" b="0" i="0">
                <a:solidFill>
                  <a:srgbClr val="536876"/>
                </a:solidFill>
                <a:latin typeface="Aptos"/>
                <a:ea typeface="Aptos"/>
                <a:cs typeface="Aptos"/>
              </a:defRPr>
            </a:defPPr>
          </a:lstStyle>
          <a:p xmlns:a="http://schemas.openxmlformats.org/drawingml/2006/main">
            <a:pPr algn="l">
              <a:lnSpc>
                <a:spcPct val="110000"/>
              </a:lnSpc>
              <a:buNone/>
              <a:defRPr sz="1125" b="0" i="0">
                <a:solidFill>
                  <a:srgbClr val="536876"/>
                </a:solidFill>
                <a:latin typeface="Aptos"/>
                <a:ea typeface="Aptos"/>
                <a:cs typeface="Aptos"/>
              </a:defRPr>
            </a:pPr>
            <a:r>
              <a:rPr sz="1125" b="0" i="0">
                <a:solidFill>
                  <a:srgbClr val="536876"/>
                </a:solidFill>
                <a:latin typeface="Aptos"/>
                <a:ea typeface="Aptos"/>
                <a:cs typeface="Aptos"/>
              </a:rPr>
              <a:t>Design logging, monitoring, deployment and backups.</a:t>
            </a:r>
          </a:p>
        </p:txBody>
      </p:sp>
    </p:spTree>
    <p:extLst>
      <p:ext uri="{BB962C8B-B14F-4D97-AF65-F5344CB8AC3E}">
        <p14:creationId xmlns:p14="http://schemas.microsoft.com/office/powerpoint/2010/main" val="863470975"/>
      </p:ext>
    </p:extLst>
  </p:cSld>
</p:sld>
</file>

<file path=ppt/slides/slide12.xml><?xml version="1.0" encoding="utf-8"?>
<p:sld xmlns:p="http://schemas.openxmlformats.org/presentationml/2006/main">
  <p:cSld>
    <p:bg>
      <p:bgPr>
        <a:solidFill xmlns:a="http://schemas.openxmlformats.org/drawingml/2006/main">
          <a:srgbClr val="102333"/>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54E8189E-2574-4BBE-96AC-838351770D36}"/>
              </a:ext>
            </a:extLst>
          </p:cNvPr>
          <p:cNvSpPr>
            <a:spLocks xmlns:a="http://schemas.openxmlformats.org/drawingml/2006/main" noGrp="1"/>
          </p:cNvSpPr>
          <p:nvPr/>
        </p:nvSpPr>
        <p:spPr>
          <a:xfrm xmlns:a="http://schemas.openxmlformats.org/drawingml/2006/main">
            <a:off x="609600" y="45720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75" b="1" i="0">
                <a:solidFill>
                  <a:srgbClr val="8DE2BD"/>
                </a:solidFill>
                <a:latin typeface="Aptos"/>
                <a:ea typeface="Aptos"/>
                <a:cs typeface="Aptos"/>
              </a:defRPr>
            </a:defPPr>
          </a:lstStyle>
          <a:p xmlns:a="http://schemas.openxmlformats.org/drawingml/2006/main">
            <a:pPr algn="l">
              <a:lnSpc>
                <a:spcPct val="100000"/>
              </a:lnSpc>
              <a:buNone/>
              <a:defRPr sz="975" b="1" i="0">
                <a:solidFill>
                  <a:srgbClr val="8DE2BD"/>
                </a:solidFill>
                <a:latin typeface="Aptos"/>
                <a:ea typeface="Aptos"/>
                <a:cs typeface="Aptos"/>
              </a:defRPr>
            </a:pPr>
            <a:r>
              <a:rPr sz="975" b="1" i="0">
                <a:solidFill>
                  <a:srgbClr val="8DE2BD"/>
                </a:solidFill>
                <a:latin typeface="Aptos"/>
                <a:ea typeface="Aptos"/>
                <a:cs typeface="Aptos"/>
              </a:rPr>
              <a:t>CONCLUSION</a:t>
            </a:r>
          </a:p>
        </p:txBody>
      </p:sp>
      <p:sp>
        <p:nvSpPr>
          <p:cNvPr id="2" name="">
            <a:extLst xmlns:a="http://schemas.openxmlformats.org/drawingml/2006/main">
              <a:ext uri="{FF2B5EF4-FFF2-40B4-BE49-F238E27FC236}">
                <a16:creationId xmlns:a16="http://schemas.microsoft.com/office/drawing/2014/main" id="{C4213673-02C5-464F-91B1-E200BF45C763}"/>
              </a:ext>
            </a:extLst>
          </p:cNvPr>
          <p:cNvSpPr>
            <a:spLocks xmlns:a="http://schemas.openxmlformats.org/drawingml/2006/main" noGrp="1"/>
          </p:cNvSpPr>
          <p:nvPr/>
        </p:nvSpPr>
        <p:spPr>
          <a:xfrm xmlns:a="http://schemas.openxmlformats.org/drawingml/2006/main">
            <a:off x="609600" y="781050"/>
            <a:ext cx="10668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850" b="1" i="0">
                <a:solidFill>
                  <a:srgbClr val="FFFFFF"/>
                </a:solidFill>
                <a:latin typeface="Aptos"/>
                <a:ea typeface="Aptos"/>
                <a:cs typeface="Aptos"/>
              </a:defRPr>
            </a:defPPr>
          </a:lstStyle>
          <a:p xmlns:a="http://schemas.openxmlformats.org/drawingml/2006/main">
            <a:pPr algn="l">
              <a:lnSpc>
                <a:spcPct val="95000"/>
              </a:lnSpc>
              <a:buNone/>
              <a:defRPr sz="2850" b="1" i="0">
                <a:solidFill>
                  <a:srgbClr val="FFFFFF"/>
                </a:solidFill>
                <a:latin typeface="Aptos"/>
                <a:ea typeface="Aptos"/>
                <a:cs typeface="Aptos"/>
              </a:defRPr>
            </a:pPr>
            <a:r>
              <a:rPr sz="2850" b="1" i="0">
                <a:solidFill>
                  <a:srgbClr val="FFFFFF"/>
                </a:solidFill>
                <a:latin typeface="Aptos"/>
                <a:ea typeface="Aptos"/>
                <a:cs typeface="Aptos"/>
              </a:rPr>
              <a:t>Three ideas to remember</a:t>
            </a:r>
          </a:p>
        </p:txBody>
      </p:sp>
      <p:sp>
        <p:nvSpPr>
          <p:cNvPr id="3" name="">
            <a:extLst xmlns:a="http://schemas.openxmlformats.org/drawingml/2006/main">
              <a:ext uri="{FF2B5EF4-FFF2-40B4-BE49-F238E27FC236}">
                <a16:creationId xmlns:a16="http://schemas.microsoft.com/office/drawing/2014/main" id="{DA9F8CC1-33CD-427C-AC83-A9BF59B34377}"/>
              </a:ext>
            </a:extLst>
          </p:cNvPr>
          <p:cNvSpPr>
            <a:spLocks xmlns:a="http://schemas.openxmlformats.org/drawingml/2006/main" noGrp="1"/>
          </p:cNvSpPr>
          <p:nvPr/>
        </p:nvSpPr>
        <p:spPr>
          <a:xfrm xmlns:a="http://schemas.openxmlformats.org/drawingml/2006/main">
            <a:off x="628650" y="1466850"/>
            <a:ext cx="1000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350" b="0" i="0">
                <a:solidFill>
                  <a:srgbClr val="C6D2DA"/>
                </a:solidFill>
                <a:latin typeface="Aptos"/>
                <a:ea typeface="Aptos"/>
                <a:cs typeface="Aptos"/>
              </a:defRPr>
            </a:defPPr>
          </a:lstStyle>
          <a:p xmlns:a="http://schemas.openxmlformats.org/drawingml/2006/main">
            <a:pPr algn="l">
              <a:lnSpc>
                <a:spcPct val="100000"/>
              </a:lnSpc>
              <a:buNone/>
              <a:defRPr sz="1350" b="0" i="0">
                <a:solidFill>
                  <a:srgbClr val="C6D2DA"/>
                </a:solidFill>
                <a:latin typeface="Aptos"/>
                <a:ea typeface="Aptos"/>
                <a:cs typeface="Aptos"/>
              </a:defRPr>
            </a:pPr>
            <a:r>
              <a:rPr sz="1350" b="0" i="0">
                <a:solidFill>
                  <a:srgbClr val="C6D2DA"/>
                </a:solidFill>
                <a:latin typeface="Aptos"/>
                <a:ea typeface="Aptos"/>
                <a:cs typeface="Aptos"/>
              </a:rPr>
              <a:t>The tutorial resource continues from explanation to hands-on practice.</a:t>
            </a:r>
          </a:p>
        </p:txBody>
      </p:sp>
      <p:sp>
        <p:nvSpPr>
          <p:cNvPr id="4" name="">
            <a:extLst xmlns:a="http://schemas.openxmlformats.org/drawingml/2006/main">
              <a:ext uri="{FF2B5EF4-FFF2-40B4-BE49-F238E27FC236}">
                <a16:creationId xmlns:a16="http://schemas.microsoft.com/office/drawing/2014/main" id="{CDF226C7-CF14-4E99-B72D-52CDD2448056}"/>
              </a:ext>
            </a:extLst>
          </p:cNvPr>
          <p:cNvSpPr>
            <a:spLocks xmlns:a="http://schemas.openxmlformats.org/drawingml/2006/main" noGrp="1"/>
          </p:cNvSpPr>
          <p:nvPr/>
        </p:nvSpPr>
        <p:spPr>
          <a:xfrm xmlns:a="http://schemas.openxmlformats.org/drawingml/2006/main">
            <a:off x="609600" y="6477000"/>
            <a:ext cx="10972800" cy="14288"/>
          </a:xfrm>
          <a:prstGeom xmlns:a="http://schemas.openxmlformats.org/drawingml/2006/main" prst="rect">
            <a:avLst/>
          </a:prstGeom>
          <a:solidFill xmlns:a="http://schemas.openxmlformats.org/drawingml/2006/main">
            <a:srgbClr val="49606E"/>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4A450800-5265-4F1B-9EDC-CA6E96F6A52E}"/>
              </a:ext>
            </a:extLst>
          </p:cNvPr>
          <p:cNvSpPr>
            <a:spLocks xmlns:a="http://schemas.openxmlformats.org/drawingml/2006/main" noGrp="1"/>
          </p:cNvSpPr>
          <p:nvPr/>
        </p:nvSpPr>
        <p:spPr>
          <a:xfrm xmlns:a="http://schemas.openxmlformats.org/drawingml/2006/main">
            <a:off x="609600" y="655320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825" b="1" i="0">
                <a:solidFill>
                  <a:srgbClr val="AFC0C9"/>
                </a:solidFill>
                <a:latin typeface="Aptos"/>
                <a:ea typeface="Aptos"/>
                <a:cs typeface="Aptos"/>
              </a:defRPr>
            </a:defPPr>
          </a:lstStyle>
          <a:p xmlns:a="http://schemas.openxmlformats.org/drawingml/2006/main">
            <a:pPr algn="l">
              <a:lnSpc>
                <a:spcPct val="100000"/>
              </a:lnSpc>
              <a:buNone/>
              <a:defRPr sz="825" b="1" i="0">
                <a:solidFill>
                  <a:srgbClr val="AFC0C9"/>
                </a:solidFill>
                <a:latin typeface="Aptos"/>
                <a:ea typeface="Aptos"/>
                <a:cs typeface="Aptos"/>
              </a:defRPr>
            </a:pPr>
            <a:r>
              <a:rPr sz="825" b="1" i="0">
                <a:solidFill>
                  <a:srgbClr val="AFC0C9"/>
                </a:solidFill>
                <a:latin typeface="Aptos"/>
                <a:ea typeface="Aptos"/>
                <a:cs typeface="Aptos"/>
              </a:rPr>
              <a:t>COMP10020 · FASTAPI</a:t>
            </a:r>
          </a:p>
        </p:txBody>
      </p:sp>
      <p:sp>
        <p:nvSpPr>
          <p:cNvPr id="6" name="">
            <a:extLst xmlns:a="http://schemas.openxmlformats.org/drawingml/2006/main">
              <a:ext uri="{FF2B5EF4-FFF2-40B4-BE49-F238E27FC236}">
                <a16:creationId xmlns:a16="http://schemas.microsoft.com/office/drawing/2014/main" id="{804D3F80-1692-48C5-8BF3-B08483F86B82}"/>
              </a:ext>
            </a:extLst>
          </p:cNvPr>
          <p:cNvSpPr>
            <a:spLocks xmlns:a="http://schemas.openxmlformats.org/drawingml/2006/main" noGrp="1"/>
          </p:cNvSpPr>
          <p:nvPr/>
        </p:nvSpPr>
        <p:spPr>
          <a:xfrm xmlns:a="http://schemas.openxmlformats.org/drawingml/2006/main">
            <a:off x="11049000" y="6543675"/>
            <a:ext cx="533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r">
              <a:defRPr sz="825" b="1" i="0">
                <a:solidFill>
                  <a:srgbClr val="AFC0C9"/>
                </a:solidFill>
                <a:latin typeface="Aptos"/>
                <a:ea typeface="Aptos"/>
                <a:cs typeface="Aptos"/>
              </a:defRPr>
            </a:defPPr>
          </a:lstStyle>
          <a:p xmlns:a="http://schemas.openxmlformats.org/drawingml/2006/main">
            <a:pPr algn="r">
              <a:lnSpc>
                <a:spcPct val="100000"/>
              </a:lnSpc>
              <a:buNone/>
              <a:defRPr sz="825" b="1" i="0">
                <a:solidFill>
                  <a:srgbClr val="AFC0C9"/>
                </a:solidFill>
                <a:latin typeface="Aptos"/>
                <a:ea typeface="Aptos"/>
                <a:cs typeface="Aptos"/>
              </a:defRPr>
            </a:pPr>
            <a:r>
              <a:rPr sz="825" b="1" i="0">
                <a:solidFill>
                  <a:srgbClr val="AFC0C9"/>
                </a:solidFill>
                <a:latin typeface="Aptos"/>
                <a:ea typeface="Aptos"/>
                <a:cs typeface="Aptos"/>
              </a:rPr>
              <a:t>12</a:t>
            </a:r>
          </a:p>
        </p:txBody>
      </p:sp>
      <p:sp>
        <p:nvSpPr>
          <p:cNvPr id="7" name="">
            <a:extLst xmlns:a="http://schemas.openxmlformats.org/drawingml/2006/main">
              <a:ext uri="{FF2B5EF4-FFF2-40B4-BE49-F238E27FC236}">
                <a16:creationId xmlns:a16="http://schemas.microsoft.com/office/drawing/2014/main" id="{B87EE56B-D383-4079-8601-CD8AB6F02701}"/>
              </a:ext>
            </a:extLst>
          </p:cNvPr>
          <p:cNvSpPr>
            <a:spLocks xmlns:a="http://schemas.openxmlformats.org/drawingml/2006/main" noGrp="1"/>
          </p:cNvSpPr>
          <p:nvPr/>
        </p:nvSpPr>
        <p:spPr>
          <a:xfrm xmlns:a="http://schemas.openxmlformats.org/drawingml/2006/main">
            <a:off x="685800" y="2038350"/>
            <a:ext cx="3390900" cy="1866900"/>
          </a:xfrm>
          <a:prstGeom xmlns:a="http://schemas.openxmlformats.org/drawingml/2006/main" prst="rect">
            <a:avLst/>
          </a:prstGeom>
          <a:solidFill xmlns:a="http://schemas.openxmlformats.org/drawingml/2006/main">
            <a:srgbClr val="132D3C"/>
          </a:solidFill>
          <a:ln xmlns:a="http://schemas.openxmlformats.org/drawingml/2006/main" w="9525">
            <a:solidFill>
              <a:srgbClr val="365367"/>
            </a:solidFill>
            <a:prstDash val="solid"/>
          </a:ln>
        </p:spPr>
      </p:sp>
      <p:sp>
        <p:nvSpPr>
          <p:cNvPr id="8" name="">
            <a:extLst xmlns:a="http://schemas.openxmlformats.org/drawingml/2006/main">
              <a:ext uri="{FF2B5EF4-FFF2-40B4-BE49-F238E27FC236}">
                <a16:creationId xmlns:a16="http://schemas.microsoft.com/office/drawing/2014/main" id="{53DC3B3F-A0B1-4368-B09A-980DDB955DFC}"/>
              </a:ext>
            </a:extLst>
          </p:cNvPr>
          <p:cNvSpPr>
            <a:spLocks xmlns:a="http://schemas.openxmlformats.org/drawingml/2006/main" noGrp="1"/>
          </p:cNvSpPr>
          <p:nvPr/>
        </p:nvSpPr>
        <p:spPr>
          <a:xfrm xmlns:a="http://schemas.openxmlformats.org/drawingml/2006/main">
            <a:off x="914400" y="2209800"/>
            <a:ext cx="476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325" b="1" i="0">
                <a:solidFill>
                  <a:srgbClr val="EF765E"/>
                </a:solidFill>
                <a:latin typeface="Aptos"/>
                <a:ea typeface="Aptos"/>
                <a:cs typeface="Aptos"/>
              </a:defRPr>
            </a:defPPr>
          </a:lstStyle>
          <a:p xmlns:a="http://schemas.openxmlformats.org/drawingml/2006/main">
            <a:pPr algn="l">
              <a:lnSpc>
                <a:spcPct val="100000"/>
              </a:lnSpc>
              <a:buNone/>
              <a:defRPr sz="2325" b="1" i="0">
                <a:solidFill>
                  <a:srgbClr val="EF765E"/>
                </a:solidFill>
                <a:latin typeface="Aptos"/>
                <a:ea typeface="Aptos"/>
                <a:cs typeface="Aptos"/>
              </a:defRPr>
            </a:pPr>
            <a:r>
              <a:rPr sz="2325" b="1" i="0">
                <a:solidFill>
                  <a:srgbClr val="EF765E"/>
                </a:solidFill>
                <a:latin typeface="Aptos"/>
                <a:ea typeface="Aptos"/>
                <a:cs typeface="Aptos"/>
              </a:rPr>
              <a:t>1</a:t>
            </a:r>
          </a:p>
        </p:txBody>
      </p:sp>
      <p:sp>
        <p:nvSpPr>
          <p:cNvPr id="9" name="">
            <a:extLst xmlns:a="http://schemas.openxmlformats.org/drawingml/2006/main">
              <a:ext uri="{FF2B5EF4-FFF2-40B4-BE49-F238E27FC236}">
                <a16:creationId xmlns:a16="http://schemas.microsoft.com/office/drawing/2014/main" id="{62366232-AE1E-4B06-AD60-8D2BA4B0C634}"/>
              </a:ext>
            </a:extLst>
          </p:cNvPr>
          <p:cNvSpPr>
            <a:spLocks xmlns:a="http://schemas.openxmlformats.org/drawingml/2006/main" noGrp="1"/>
          </p:cNvSpPr>
          <p:nvPr/>
        </p:nvSpPr>
        <p:spPr>
          <a:xfrm xmlns:a="http://schemas.openxmlformats.org/drawingml/2006/main">
            <a:off x="914400" y="2724150"/>
            <a:ext cx="29146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575" b="1" i="0">
                <a:solidFill>
                  <a:srgbClr val="FFFFFF"/>
                </a:solidFill>
                <a:latin typeface="Aptos"/>
                <a:ea typeface="Aptos"/>
                <a:cs typeface="Aptos"/>
              </a:defRPr>
            </a:defPPr>
          </a:lstStyle>
          <a:p xmlns:a="http://schemas.openxmlformats.org/drawingml/2006/main">
            <a:pPr algn="l">
              <a:lnSpc>
                <a:spcPct val="100000"/>
              </a:lnSpc>
              <a:buNone/>
              <a:defRPr sz="1575" b="1" i="0">
                <a:solidFill>
                  <a:srgbClr val="FFFFFF"/>
                </a:solidFill>
                <a:latin typeface="Aptos"/>
                <a:ea typeface="Aptos"/>
                <a:cs typeface="Aptos"/>
              </a:defRPr>
            </a:pPr>
            <a:r>
              <a:rPr sz="1575" b="1" i="0">
                <a:solidFill>
                  <a:srgbClr val="FFFFFF"/>
                </a:solidFill>
                <a:latin typeface="Aptos"/>
                <a:ea typeface="Aptos"/>
                <a:cs typeface="Aptos"/>
              </a:rPr>
              <a:t>Types become a contract</a:t>
            </a:r>
          </a:p>
        </p:txBody>
      </p:sp>
      <p:sp>
        <p:nvSpPr>
          <p:cNvPr id="10" name="">
            <a:extLst xmlns:a="http://schemas.openxmlformats.org/drawingml/2006/main">
              <a:ext uri="{FF2B5EF4-FFF2-40B4-BE49-F238E27FC236}">
                <a16:creationId xmlns:a16="http://schemas.microsoft.com/office/drawing/2014/main" id="{890377EA-FB89-47C7-B8D5-9AD5EB3AD012}"/>
              </a:ext>
            </a:extLst>
          </p:cNvPr>
          <p:cNvSpPr>
            <a:spLocks xmlns:a="http://schemas.openxmlformats.org/drawingml/2006/main" noGrp="1"/>
          </p:cNvSpPr>
          <p:nvPr/>
        </p:nvSpPr>
        <p:spPr>
          <a:xfrm xmlns:a="http://schemas.openxmlformats.org/drawingml/2006/main">
            <a:off x="914400" y="3143250"/>
            <a:ext cx="29146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125" b="0" i="0">
                <a:solidFill>
                  <a:srgbClr val="C6D2DA"/>
                </a:solidFill>
                <a:latin typeface="Aptos"/>
                <a:ea typeface="Aptos"/>
                <a:cs typeface="Aptos"/>
              </a:defRPr>
            </a:defPPr>
          </a:lstStyle>
          <a:p xmlns:a="http://schemas.openxmlformats.org/drawingml/2006/main">
            <a:pPr algn="l">
              <a:lnSpc>
                <a:spcPct val="112000"/>
              </a:lnSpc>
              <a:buNone/>
              <a:defRPr sz="1125" b="0" i="0">
                <a:solidFill>
                  <a:srgbClr val="C6D2DA"/>
                </a:solidFill>
                <a:latin typeface="Aptos"/>
                <a:ea typeface="Aptos"/>
                <a:cs typeface="Aptos"/>
              </a:defRPr>
            </a:pPr>
            <a:r>
              <a:rPr sz="1125" b="0" i="0">
                <a:solidFill>
                  <a:srgbClr val="C6D2DA"/>
                </a:solidFill>
                <a:latin typeface="Aptos"/>
                <a:ea typeface="Aptos"/>
                <a:cs typeface="Aptos"/>
              </a:rPr>
              <a:t>They guide validation, schema generation and responses.</a:t>
            </a:r>
          </a:p>
        </p:txBody>
      </p:sp>
      <p:sp>
        <p:nvSpPr>
          <p:cNvPr id="11" name="">
            <a:extLst xmlns:a="http://schemas.openxmlformats.org/drawingml/2006/main">
              <a:ext uri="{FF2B5EF4-FFF2-40B4-BE49-F238E27FC236}">
                <a16:creationId xmlns:a16="http://schemas.microsoft.com/office/drawing/2014/main" id="{7693F73C-544C-4B28-85EB-BFF3ECD904F7}"/>
              </a:ext>
            </a:extLst>
          </p:cNvPr>
          <p:cNvSpPr>
            <a:spLocks xmlns:a="http://schemas.openxmlformats.org/drawingml/2006/main" noGrp="1"/>
          </p:cNvSpPr>
          <p:nvPr/>
        </p:nvSpPr>
        <p:spPr>
          <a:xfrm xmlns:a="http://schemas.openxmlformats.org/drawingml/2006/main">
            <a:off x="4438650" y="2038350"/>
            <a:ext cx="3390900" cy="1866900"/>
          </a:xfrm>
          <a:prstGeom xmlns:a="http://schemas.openxmlformats.org/drawingml/2006/main" prst="rect">
            <a:avLst/>
          </a:prstGeom>
          <a:solidFill xmlns:a="http://schemas.openxmlformats.org/drawingml/2006/main">
            <a:srgbClr val="15394A"/>
          </a:solidFill>
          <a:ln xmlns:a="http://schemas.openxmlformats.org/drawingml/2006/main" w="9525">
            <a:solidFill>
              <a:srgbClr val="365367"/>
            </a:solidFill>
            <a:prstDash val="solid"/>
          </a:ln>
        </p:spPr>
      </p:sp>
      <p:sp>
        <p:nvSpPr>
          <p:cNvPr id="12" name="">
            <a:extLst xmlns:a="http://schemas.openxmlformats.org/drawingml/2006/main">
              <a:ext uri="{FF2B5EF4-FFF2-40B4-BE49-F238E27FC236}">
                <a16:creationId xmlns:a16="http://schemas.microsoft.com/office/drawing/2014/main" id="{3E393461-67C5-4CBB-ABC1-FA64940267D7}"/>
              </a:ext>
            </a:extLst>
          </p:cNvPr>
          <p:cNvSpPr>
            <a:spLocks xmlns:a="http://schemas.openxmlformats.org/drawingml/2006/main" noGrp="1"/>
          </p:cNvSpPr>
          <p:nvPr/>
        </p:nvSpPr>
        <p:spPr>
          <a:xfrm xmlns:a="http://schemas.openxmlformats.org/drawingml/2006/main">
            <a:off x="4667250" y="2209800"/>
            <a:ext cx="476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325" b="1" i="0">
                <a:solidFill>
                  <a:srgbClr val="EF765E"/>
                </a:solidFill>
                <a:latin typeface="Aptos"/>
                <a:ea typeface="Aptos"/>
                <a:cs typeface="Aptos"/>
              </a:defRPr>
            </a:defPPr>
          </a:lstStyle>
          <a:p xmlns:a="http://schemas.openxmlformats.org/drawingml/2006/main">
            <a:pPr algn="l">
              <a:lnSpc>
                <a:spcPct val="100000"/>
              </a:lnSpc>
              <a:buNone/>
              <a:defRPr sz="2325" b="1" i="0">
                <a:solidFill>
                  <a:srgbClr val="EF765E"/>
                </a:solidFill>
                <a:latin typeface="Aptos"/>
                <a:ea typeface="Aptos"/>
                <a:cs typeface="Aptos"/>
              </a:defRPr>
            </a:pPr>
            <a:r>
              <a:rPr sz="2325" b="1" i="0">
                <a:solidFill>
                  <a:srgbClr val="EF765E"/>
                </a:solidFill>
                <a:latin typeface="Aptos"/>
                <a:ea typeface="Aptos"/>
                <a:cs typeface="Aptos"/>
              </a:rPr>
              <a:t>2</a:t>
            </a:r>
          </a:p>
        </p:txBody>
      </p:sp>
      <p:sp>
        <p:nvSpPr>
          <p:cNvPr id="13" name="">
            <a:extLst xmlns:a="http://schemas.openxmlformats.org/drawingml/2006/main">
              <a:ext uri="{FF2B5EF4-FFF2-40B4-BE49-F238E27FC236}">
                <a16:creationId xmlns:a16="http://schemas.microsoft.com/office/drawing/2014/main" id="{49F9A56B-7647-42F1-8014-969F4F6CA654}"/>
              </a:ext>
            </a:extLst>
          </p:cNvPr>
          <p:cNvSpPr>
            <a:spLocks xmlns:a="http://schemas.openxmlformats.org/drawingml/2006/main" noGrp="1"/>
          </p:cNvSpPr>
          <p:nvPr/>
        </p:nvSpPr>
        <p:spPr>
          <a:xfrm xmlns:a="http://schemas.openxmlformats.org/drawingml/2006/main">
            <a:off x="4667250" y="2724150"/>
            <a:ext cx="29146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575" b="1" i="0">
                <a:solidFill>
                  <a:srgbClr val="FFFFFF"/>
                </a:solidFill>
                <a:latin typeface="Aptos"/>
                <a:ea typeface="Aptos"/>
                <a:cs typeface="Aptos"/>
              </a:defRPr>
            </a:defPPr>
          </a:lstStyle>
          <a:p xmlns:a="http://schemas.openxmlformats.org/drawingml/2006/main">
            <a:pPr algn="l">
              <a:lnSpc>
                <a:spcPct val="100000"/>
              </a:lnSpc>
              <a:buNone/>
              <a:defRPr sz="1575" b="1" i="0">
                <a:solidFill>
                  <a:srgbClr val="FFFFFF"/>
                </a:solidFill>
                <a:latin typeface="Aptos"/>
                <a:ea typeface="Aptos"/>
                <a:cs typeface="Aptos"/>
              </a:defRPr>
            </a:pPr>
            <a:r>
              <a:rPr sz="1575" b="1" i="0">
                <a:solidFill>
                  <a:srgbClr val="FFFFFF"/>
                </a:solidFill>
                <a:latin typeface="Aptos"/>
                <a:ea typeface="Aptos"/>
                <a:cs typeface="Aptos"/>
              </a:rPr>
              <a:t>The docs are executable</a:t>
            </a:r>
          </a:p>
        </p:txBody>
      </p:sp>
      <p:sp>
        <p:nvSpPr>
          <p:cNvPr id="14" name="">
            <a:extLst xmlns:a="http://schemas.openxmlformats.org/drawingml/2006/main">
              <a:ext uri="{FF2B5EF4-FFF2-40B4-BE49-F238E27FC236}">
                <a16:creationId xmlns:a16="http://schemas.microsoft.com/office/drawing/2014/main" id="{DE54D4CD-F0C0-4629-AC28-07BB9BEEBB0E}"/>
              </a:ext>
            </a:extLst>
          </p:cNvPr>
          <p:cNvSpPr>
            <a:spLocks xmlns:a="http://schemas.openxmlformats.org/drawingml/2006/main" noGrp="1"/>
          </p:cNvSpPr>
          <p:nvPr/>
        </p:nvSpPr>
        <p:spPr>
          <a:xfrm xmlns:a="http://schemas.openxmlformats.org/drawingml/2006/main">
            <a:off x="4667250" y="3143250"/>
            <a:ext cx="29146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125" b="0" i="0">
                <a:solidFill>
                  <a:srgbClr val="C6D2DA"/>
                </a:solidFill>
                <a:latin typeface="Aptos"/>
                <a:ea typeface="Aptos"/>
                <a:cs typeface="Aptos"/>
              </a:defRPr>
            </a:defPPr>
          </a:lstStyle>
          <a:p xmlns:a="http://schemas.openxmlformats.org/drawingml/2006/main">
            <a:pPr algn="l">
              <a:lnSpc>
                <a:spcPct val="112000"/>
              </a:lnSpc>
              <a:buNone/>
              <a:defRPr sz="1125" b="0" i="0">
                <a:solidFill>
                  <a:srgbClr val="C6D2DA"/>
                </a:solidFill>
                <a:latin typeface="Aptos"/>
                <a:ea typeface="Aptos"/>
                <a:cs typeface="Aptos"/>
              </a:defRPr>
            </a:pPr>
            <a:r>
              <a:rPr sz="1125" b="0" i="0">
                <a:solidFill>
                  <a:srgbClr val="C6D2DA"/>
                </a:solidFill>
                <a:latin typeface="Aptos"/>
                <a:ea typeface="Aptos"/>
                <a:cs typeface="Aptos"/>
              </a:rPr>
              <a:t>Swagger UI makes a small API visible and testable.</a:t>
            </a:r>
          </a:p>
        </p:txBody>
      </p:sp>
      <p:sp>
        <p:nvSpPr>
          <p:cNvPr id="15" name="">
            <a:extLst xmlns:a="http://schemas.openxmlformats.org/drawingml/2006/main">
              <a:ext uri="{FF2B5EF4-FFF2-40B4-BE49-F238E27FC236}">
                <a16:creationId xmlns:a16="http://schemas.microsoft.com/office/drawing/2014/main" id="{EBCC7DE6-56E2-45AD-B73C-C8FCC67B6B9B}"/>
              </a:ext>
            </a:extLst>
          </p:cNvPr>
          <p:cNvSpPr>
            <a:spLocks xmlns:a="http://schemas.openxmlformats.org/drawingml/2006/main" noGrp="1"/>
          </p:cNvSpPr>
          <p:nvPr/>
        </p:nvSpPr>
        <p:spPr>
          <a:xfrm xmlns:a="http://schemas.openxmlformats.org/drawingml/2006/main">
            <a:off x="8191500" y="2038350"/>
            <a:ext cx="3390900" cy="1866900"/>
          </a:xfrm>
          <a:prstGeom xmlns:a="http://schemas.openxmlformats.org/drawingml/2006/main" prst="rect">
            <a:avLst/>
          </a:prstGeom>
          <a:solidFill xmlns:a="http://schemas.openxmlformats.org/drawingml/2006/main">
            <a:srgbClr val="132D3C"/>
          </a:solidFill>
          <a:ln xmlns:a="http://schemas.openxmlformats.org/drawingml/2006/main" w="9525">
            <a:solidFill>
              <a:srgbClr val="365367"/>
            </a:solidFill>
            <a:prstDash val="solid"/>
          </a:ln>
        </p:spPr>
      </p:sp>
      <p:sp>
        <p:nvSpPr>
          <p:cNvPr id="16" name="">
            <a:extLst xmlns:a="http://schemas.openxmlformats.org/drawingml/2006/main">
              <a:ext uri="{FF2B5EF4-FFF2-40B4-BE49-F238E27FC236}">
                <a16:creationId xmlns:a16="http://schemas.microsoft.com/office/drawing/2014/main" id="{51A61FD4-AB00-4D81-AA83-968560E2743E}"/>
              </a:ext>
            </a:extLst>
          </p:cNvPr>
          <p:cNvSpPr>
            <a:spLocks xmlns:a="http://schemas.openxmlformats.org/drawingml/2006/main" noGrp="1"/>
          </p:cNvSpPr>
          <p:nvPr/>
        </p:nvSpPr>
        <p:spPr>
          <a:xfrm xmlns:a="http://schemas.openxmlformats.org/drawingml/2006/main">
            <a:off x="8420100" y="2209800"/>
            <a:ext cx="476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325" b="1" i="0">
                <a:solidFill>
                  <a:srgbClr val="EF765E"/>
                </a:solidFill>
                <a:latin typeface="Aptos"/>
                <a:ea typeface="Aptos"/>
                <a:cs typeface="Aptos"/>
              </a:defRPr>
            </a:defPPr>
          </a:lstStyle>
          <a:p xmlns:a="http://schemas.openxmlformats.org/drawingml/2006/main">
            <a:pPr algn="l">
              <a:lnSpc>
                <a:spcPct val="100000"/>
              </a:lnSpc>
              <a:buNone/>
              <a:defRPr sz="2325" b="1" i="0">
                <a:solidFill>
                  <a:srgbClr val="EF765E"/>
                </a:solidFill>
                <a:latin typeface="Aptos"/>
                <a:ea typeface="Aptos"/>
                <a:cs typeface="Aptos"/>
              </a:defRPr>
            </a:pPr>
            <a:r>
              <a:rPr sz="2325" b="1" i="0">
                <a:solidFill>
                  <a:srgbClr val="EF765E"/>
                </a:solidFill>
                <a:latin typeface="Aptos"/>
                <a:ea typeface="Aptos"/>
                <a:cs typeface="Aptos"/>
              </a:rPr>
              <a:t>3</a:t>
            </a:r>
          </a:p>
        </p:txBody>
      </p:sp>
      <p:sp>
        <p:nvSpPr>
          <p:cNvPr id="17" name="">
            <a:extLst xmlns:a="http://schemas.openxmlformats.org/drawingml/2006/main">
              <a:ext uri="{FF2B5EF4-FFF2-40B4-BE49-F238E27FC236}">
                <a16:creationId xmlns:a16="http://schemas.microsoft.com/office/drawing/2014/main" id="{0494FB25-0EF9-4EAC-AB68-528B7609C125}"/>
              </a:ext>
            </a:extLst>
          </p:cNvPr>
          <p:cNvSpPr>
            <a:spLocks xmlns:a="http://schemas.openxmlformats.org/drawingml/2006/main" noGrp="1"/>
          </p:cNvSpPr>
          <p:nvPr/>
        </p:nvSpPr>
        <p:spPr>
          <a:xfrm xmlns:a="http://schemas.openxmlformats.org/drawingml/2006/main">
            <a:off x="8420100" y="2724150"/>
            <a:ext cx="29146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575" b="1" i="0">
                <a:solidFill>
                  <a:srgbClr val="FFFFFF"/>
                </a:solidFill>
                <a:latin typeface="Aptos"/>
                <a:ea typeface="Aptos"/>
                <a:cs typeface="Aptos"/>
              </a:defRPr>
            </a:defPPr>
          </a:lstStyle>
          <a:p xmlns:a="http://schemas.openxmlformats.org/drawingml/2006/main">
            <a:pPr algn="l">
              <a:lnSpc>
                <a:spcPct val="100000"/>
              </a:lnSpc>
              <a:buNone/>
              <a:defRPr sz="1575" b="1" i="0">
                <a:solidFill>
                  <a:srgbClr val="FFFFFF"/>
                </a:solidFill>
                <a:latin typeface="Aptos"/>
                <a:ea typeface="Aptos"/>
                <a:cs typeface="Aptos"/>
              </a:defRPr>
            </a:pPr>
            <a:r>
              <a:rPr sz="1575" b="1" i="0">
                <a:solidFill>
                  <a:srgbClr val="FFFFFF"/>
                </a:solidFill>
                <a:latin typeface="Aptos"/>
                <a:ea typeface="Aptos"/>
                <a:cs typeface="Aptos"/>
              </a:rPr>
              <a:t>Simple can still be complete</a:t>
            </a:r>
          </a:p>
        </p:txBody>
      </p:sp>
      <p:sp>
        <p:nvSpPr>
          <p:cNvPr id="18" name="">
            <a:extLst xmlns:a="http://schemas.openxmlformats.org/drawingml/2006/main">
              <a:ext uri="{FF2B5EF4-FFF2-40B4-BE49-F238E27FC236}">
                <a16:creationId xmlns:a16="http://schemas.microsoft.com/office/drawing/2014/main" id="{84588BAA-4869-4722-BAD9-5A12E8B24873}"/>
              </a:ext>
            </a:extLst>
          </p:cNvPr>
          <p:cNvSpPr>
            <a:spLocks xmlns:a="http://schemas.openxmlformats.org/drawingml/2006/main" noGrp="1"/>
          </p:cNvSpPr>
          <p:nvPr/>
        </p:nvSpPr>
        <p:spPr>
          <a:xfrm xmlns:a="http://schemas.openxmlformats.org/drawingml/2006/main">
            <a:off x="8420100" y="3143250"/>
            <a:ext cx="29146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125" b="0" i="0">
                <a:solidFill>
                  <a:srgbClr val="C6D2DA"/>
                </a:solidFill>
                <a:latin typeface="Aptos"/>
                <a:ea typeface="Aptos"/>
                <a:cs typeface="Aptos"/>
              </a:defRPr>
            </a:defPPr>
          </a:lstStyle>
          <a:p xmlns:a="http://schemas.openxmlformats.org/drawingml/2006/main">
            <a:pPr algn="l">
              <a:lnSpc>
                <a:spcPct val="112000"/>
              </a:lnSpc>
              <a:buNone/>
              <a:defRPr sz="1125" b="0" i="0">
                <a:solidFill>
                  <a:srgbClr val="C6D2DA"/>
                </a:solidFill>
                <a:latin typeface="Aptos"/>
                <a:ea typeface="Aptos"/>
                <a:cs typeface="Aptos"/>
              </a:defRPr>
            </a:pPr>
            <a:r>
              <a:rPr sz="1125" b="0" i="0">
                <a:solidFill>
                  <a:srgbClr val="C6D2DA"/>
                </a:solidFill>
                <a:latin typeface="Aptos"/>
                <a:ea typeface="Aptos"/>
                <a:cs typeface="Aptos"/>
              </a:rPr>
              <a:t>Five routes, clear errors and tests show the full lifecycle.</a:t>
            </a:r>
          </a:p>
        </p:txBody>
      </p:sp>
      <p:sp>
        <p:nvSpPr>
          <p:cNvPr id="19" name="">
            <a:extLst xmlns:a="http://schemas.openxmlformats.org/drawingml/2006/main">
              <a:ext uri="{FF2B5EF4-FFF2-40B4-BE49-F238E27FC236}">
                <a16:creationId xmlns:a16="http://schemas.microsoft.com/office/drawing/2014/main" id="{D7C05B64-A3DE-43F2-B871-76C75A55AEAA}"/>
              </a:ext>
            </a:extLst>
          </p:cNvPr>
          <p:cNvSpPr>
            <a:spLocks xmlns:a="http://schemas.openxmlformats.org/drawingml/2006/main" noGrp="1"/>
          </p:cNvSpPr>
          <p:nvPr/>
        </p:nvSpPr>
        <p:spPr>
          <a:xfrm xmlns:a="http://schemas.openxmlformats.org/drawingml/2006/main">
            <a:off x="685800" y="4210050"/>
            <a:ext cx="10820400" cy="1962150"/>
          </a:xfrm>
          <a:prstGeom xmlns:a="http://schemas.openxmlformats.org/drawingml/2006/main" prst="roundRect">
            <a:avLst>
              <a:gd name="adj" fmla="val 5825"/>
            </a:avLst>
          </a:prstGeom>
          <a:solidFill xmlns:a="http://schemas.openxmlformats.org/drawingml/2006/main">
            <a:srgbClr val="15394A"/>
          </a:solidFill>
          <a:ln xmlns:a="http://schemas.openxmlformats.org/drawingml/2006/main" w="9525">
            <a:solidFill>
              <a:srgbClr val="365367"/>
            </a:solidFill>
            <a:prstDash val="solid"/>
          </a:ln>
        </p:spPr>
      </p:sp>
      <p:sp>
        <p:nvSpPr>
          <p:cNvPr id="20" name="">
            <a:extLst xmlns:a="http://schemas.openxmlformats.org/drawingml/2006/main">
              <a:ext uri="{FF2B5EF4-FFF2-40B4-BE49-F238E27FC236}">
                <a16:creationId xmlns:a16="http://schemas.microsoft.com/office/drawing/2014/main" id="{FD6E2A2C-391D-46A6-A2F9-D7BB3C5B6C10}"/>
              </a:ext>
            </a:extLst>
          </p:cNvPr>
          <p:cNvSpPr>
            <a:spLocks xmlns:a="http://schemas.openxmlformats.org/drawingml/2006/main" noGrp="1"/>
          </p:cNvSpPr>
          <p:nvPr/>
        </p:nvSpPr>
        <p:spPr>
          <a:xfrm xmlns:a="http://schemas.openxmlformats.org/drawingml/2006/main">
            <a:off x="952500" y="443865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75" b="1" i="0">
                <a:solidFill>
                  <a:srgbClr val="8DE2BD"/>
                </a:solidFill>
                <a:latin typeface="Aptos"/>
                <a:ea typeface="Aptos"/>
                <a:cs typeface="Aptos"/>
              </a:defRPr>
            </a:defPPr>
          </a:lstStyle>
          <a:p xmlns:a="http://schemas.openxmlformats.org/drawingml/2006/main">
            <a:pPr algn="l">
              <a:lnSpc>
                <a:spcPct val="100000"/>
              </a:lnSpc>
              <a:buNone/>
              <a:defRPr sz="975" b="1" i="0">
                <a:solidFill>
                  <a:srgbClr val="8DE2BD"/>
                </a:solidFill>
                <a:latin typeface="Aptos"/>
                <a:ea typeface="Aptos"/>
                <a:cs typeface="Aptos"/>
              </a:defRPr>
            </a:pPr>
            <a:r>
              <a:rPr sz="975" b="1" i="0">
                <a:solidFill>
                  <a:srgbClr val="8DE2BD"/>
                </a:solidFill>
                <a:latin typeface="Aptos"/>
                <a:ea typeface="Aptos"/>
                <a:cs typeface="Aptos"/>
              </a:rPr>
              <a:t>ONLINE LEARNING RESOURCE</a:t>
            </a:r>
          </a:p>
        </p:txBody>
      </p:sp>
      <p:sp>
        <p:nvSpPr>
          <p:cNvPr id="21" name="">
            <a:extLst xmlns:a="http://schemas.openxmlformats.org/drawingml/2006/main">
              <a:ext uri="{FF2B5EF4-FFF2-40B4-BE49-F238E27FC236}">
                <a16:creationId xmlns:a16="http://schemas.microsoft.com/office/drawing/2014/main" id="{297E81AB-20A1-468A-8BDD-49AA124F1FE2}"/>
              </a:ext>
            </a:extLst>
          </p:cNvPr>
          <p:cNvSpPr>
            <a:spLocks xmlns:a="http://schemas.openxmlformats.org/drawingml/2006/main" noGrp="1"/>
          </p:cNvSpPr>
          <p:nvPr/>
        </p:nvSpPr>
        <p:spPr>
          <a:xfrm xmlns:a="http://schemas.openxmlformats.org/drawingml/2006/main">
            <a:off x="952500" y="4724400"/>
            <a:ext cx="504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75" b="0" i="0">
                <a:solidFill>
                  <a:srgbClr val="C6D2DA"/>
                </a:solidFill>
                <a:latin typeface="Aptos"/>
                <a:ea typeface="Aptos"/>
                <a:cs typeface="Aptos"/>
              </a:defRPr>
            </a:defPPr>
          </a:lstStyle>
          <a:p xmlns:a="http://schemas.openxmlformats.org/drawingml/2006/main">
            <a:pPr algn="l">
              <a:lnSpc>
                <a:spcPct val="100000"/>
              </a:lnSpc>
              <a:buNone/>
              <a:defRPr sz="1275" b="0" i="0">
                <a:solidFill>
                  <a:srgbClr val="C6D2DA"/>
                </a:solidFill>
                <a:latin typeface="Aptos"/>
                <a:ea typeface="Aptos"/>
                <a:cs typeface="Aptos"/>
              </a:defRPr>
            </a:pPr>
            <a:r>
              <a:rPr sz="1275" b="0" i="0">
                <a:solidFill>
                  <a:srgbClr val="C6D2DA"/>
                </a:solidFill>
                <a:latin typeface="Aptos"/>
                <a:ea typeface="Aptos"/>
                <a:cs typeface="Aptos"/>
              </a:rPr>
              <a:t>Scan the QR code or open:</a:t>
            </a:r>
          </a:p>
        </p:txBody>
      </p:sp>
      <p:sp>
        <p:nvSpPr>
          <p:cNvPr id="22" name="">
            <a:extLst xmlns:a="http://schemas.openxmlformats.org/drawingml/2006/main">
              <a:ext uri="{FF2B5EF4-FFF2-40B4-BE49-F238E27FC236}">
                <a16:creationId xmlns:a16="http://schemas.microsoft.com/office/drawing/2014/main" id="{06CBFD03-8103-474E-B438-9F5627CACC61}"/>
              </a:ext>
            </a:extLst>
          </p:cNvPr>
          <p:cNvSpPr>
            <a:spLocks xmlns:a="http://schemas.openxmlformats.org/drawingml/2006/main" noGrp="1"/>
          </p:cNvSpPr>
          <p:nvPr/>
        </p:nvSpPr>
        <p:spPr>
          <a:xfrm xmlns:a="http://schemas.openxmlformats.org/drawingml/2006/main">
            <a:off x="952500" y="5029200"/>
            <a:ext cx="781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575" b="1" i="0">
                <a:solidFill>
                  <a:srgbClr val="FFFFFF"/>
                </a:solidFill>
                <a:latin typeface="Aptos"/>
                <a:ea typeface="Aptos"/>
                <a:cs typeface="Aptos"/>
              </a:defRPr>
            </a:defPPr>
          </a:lstStyle>
          <a:p xmlns:a="http://schemas.openxmlformats.org/drawingml/2006/main">
            <a:pPr algn="l">
              <a:lnSpc>
                <a:spcPct val="100000"/>
              </a:lnSpc>
              <a:buNone/>
              <a:defRPr sz="1575" b="1" i="0">
                <a:solidFill>
                  <a:srgbClr val="FFFFFF"/>
                </a:solidFill>
                <a:latin typeface="Aptos"/>
                <a:ea typeface="Aptos"/>
                <a:cs typeface="Aptos"/>
              </a:defRPr>
            </a:pPr>
            <a:r>
              <a:rPr sz="1575" b="1" i="0">
                <a:solidFill>
                  <a:srgbClr val="FFFFFF"/>
                </a:solidFill>
                <a:latin typeface="Aptos"/>
                <a:ea typeface="Aptos"/>
                <a:cs typeface="Aptos"/>
              </a:rPr>
              <a:t>https://tianjianzou123.github.io/fastapi-cw1/</a:t>
            </a:r>
          </a:p>
        </p:txBody>
      </p:sp>
      <p:sp>
        <p:nvSpPr>
          <p:cNvPr id="23" name="">
            <a:extLst xmlns:a="http://schemas.openxmlformats.org/drawingml/2006/main">
              <a:ext uri="{FF2B5EF4-FFF2-40B4-BE49-F238E27FC236}">
                <a16:creationId xmlns:a16="http://schemas.microsoft.com/office/drawing/2014/main" id="{CBF65A29-A2E9-4CB1-9DE4-15E0FDA0D3D3}"/>
              </a:ext>
            </a:extLst>
          </p:cNvPr>
          <p:cNvSpPr>
            <a:spLocks xmlns:a="http://schemas.openxmlformats.org/drawingml/2006/main" noGrp="1"/>
          </p:cNvSpPr>
          <p:nvPr/>
        </p:nvSpPr>
        <p:spPr>
          <a:xfrm xmlns:a="http://schemas.openxmlformats.org/drawingml/2006/main">
            <a:off x="952500" y="5467350"/>
            <a:ext cx="7810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050" b="0" i="0">
                <a:solidFill>
                  <a:srgbClr val="C6D2DA"/>
                </a:solidFill>
                <a:latin typeface="Aptos"/>
                <a:ea typeface="Aptos"/>
                <a:cs typeface="Aptos"/>
              </a:defRPr>
            </a:defPPr>
          </a:lstStyle>
          <a:p xmlns:a="http://schemas.openxmlformats.org/drawingml/2006/main">
            <a:pPr algn="l">
              <a:lnSpc>
                <a:spcPct val="114000"/>
              </a:lnSpc>
              <a:buNone/>
              <a:defRPr sz="1050" b="0" i="0">
                <a:solidFill>
                  <a:srgbClr val="C6D2DA"/>
                </a:solidFill>
                <a:latin typeface="Aptos"/>
                <a:ea typeface="Aptos"/>
                <a:cs typeface="Aptos"/>
              </a:defRPr>
            </a:pPr>
            <a:r>
              <a:rPr sz="1050" b="0" i="0">
                <a:solidFill>
                  <a:srgbClr val="C6D2DA"/>
                </a:solidFill>
                <a:latin typeface="Aptos"/>
                <a:ea typeface="Aptos"/>
                <a:cs typeface="Aptos"/>
              </a:rPr>
              <a:t>Online Information: overview · architecture · examples · pros and cons</a:t>
            </a:r>
          </a:p>
          <a:p xmlns:a="http://schemas.openxmlformats.org/drawingml/2006/main">
            <a:pPr algn="l">
              <a:lnSpc>
                <a:spcPct val="114000"/>
              </a:lnSpc>
              <a:buNone/>
              <a:defRPr sz="1050" b="0" i="0">
                <a:solidFill>
                  <a:srgbClr val="C6D2DA"/>
                </a:solidFill>
                <a:latin typeface="Aptos"/>
                <a:ea typeface="Aptos"/>
                <a:cs typeface="Aptos"/>
              </a:defRPr>
            </a:pPr>
            <a:r>
              <a:rPr sz="1050" b="0" i="0">
                <a:solidFill>
                  <a:srgbClr val="C6D2DA"/>
                </a:solidFill>
                <a:latin typeface="Aptos"/>
                <a:ea typeface="Aptos"/>
                <a:cs typeface="Aptos"/>
              </a:rPr>
              <a:t>Online Tutorial: setup · five CRUD routes · validation · exercises · cheat sheet</a:t>
            </a:r>
          </a:p>
        </p:txBody>
      </p:sp>
      <p:pic>
        <p:nvPicPr>
          <p:cNvPr id="24" name="">
            <a:extLst xmlns:a="http://schemas.openxmlformats.org/drawingml/2006/main">
              <a:ext uri="{FF2B5EF4-FFF2-40B4-BE49-F238E27FC236}">
                <a16:creationId xmlns:a16="http://schemas.microsoft.com/office/drawing/2014/main" id="{41BA857F-AAFA-4E56-9158-D0C79F38509D}"/>
              </a:ext>
            </a:extLst>
          </p:cNvPr>
          <p:cNvPicPr>
            <a:picLocks xmlns:a="http://schemas.openxmlformats.org/drawingml/2006/main" noChangeAspect="1"/>
          </p:cNvPicPr>
          <p:nvPr/>
        </p:nvPicPr>
        <p:blipFill>
          <a:blip xmlns:r="http://schemas.openxmlformats.org/officeDocument/2006/relationships" xmlns:a="http://schemas.openxmlformats.org/drawingml/2006/main" r:embed="R30d5ec456a9243ca"/>
          <a:stretch xmlns:a="http://schemas.openxmlformats.org/drawingml/2006/main"/>
        </p:blipFill>
        <p:spPr>
          <a:xfrm xmlns:a="http://schemas.openxmlformats.org/drawingml/2006/main">
            <a:off x="9620250" y="4362450"/>
            <a:ext cx="1657350" cy="1657350"/>
          </a:xfrm>
          <a:prstGeom xmlns:a="http://schemas.openxmlformats.org/drawingml/2006/main" prst="rect">
            <a:avLst/>
          </a:prstGeom>
        </p:spPr>
      </p:pic>
    </p:spTree>
    <p:extLst>
      <p:ext uri="{BB962C8B-B14F-4D97-AF65-F5344CB8AC3E}">
        <p14:creationId xmlns:p14="http://schemas.microsoft.com/office/powerpoint/2010/main" val="808739091"/>
      </p:ext>
    </p:extLst>
  </p:cSld>
</p:sld>
</file>

<file path=ppt/slides/slide13.xml><?xml version="1.0" encoding="utf-8"?>
<p:sld xmlns:p="http://schemas.openxmlformats.org/presentationml/2006/main">
  <p:cSld>
    <p:bg>
      <p:bgPr>
        <a:solidFill xmlns:a="http://schemas.openxmlformats.org/drawingml/2006/main">
          <a:srgbClr val="FFFDF8"/>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E882C8CB-ACE8-4202-8410-D393682D8226}"/>
              </a:ext>
            </a:extLst>
          </p:cNvPr>
          <p:cNvSpPr>
            <a:spLocks xmlns:a="http://schemas.openxmlformats.org/drawingml/2006/main" noGrp="1"/>
          </p:cNvSpPr>
          <p:nvPr/>
        </p:nvSpPr>
        <p:spPr>
          <a:xfrm xmlns:a="http://schemas.openxmlformats.org/drawingml/2006/main">
            <a:off x="609600" y="45720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75" b="1" i="0">
                <a:solidFill>
                  <a:srgbClr val="055A52"/>
                </a:solidFill>
                <a:latin typeface="Aptos"/>
                <a:ea typeface="Aptos"/>
                <a:cs typeface="Aptos"/>
              </a:defRPr>
            </a:defPPr>
          </a:lstStyle>
          <a:p xmlns:a="http://schemas.openxmlformats.org/drawingml/2006/main">
            <a:pPr algn="l">
              <a:lnSpc>
                <a:spcPct val="100000"/>
              </a:lnSpc>
              <a:buNone/>
              <a:defRPr sz="975" b="1" i="0">
                <a:solidFill>
                  <a:srgbClr val="055A52"/>
                </a:solidFill>
                <a:latin typeface="Aptos"/>
                <a:ea typeface="Aptos"/>
                <a:cs typeface="Aptos"/>
              </a:defRPr>
            </a:pPr>
            <a:r>
              <a:rPr sz="975" b="1" i="0">
                <a:solidFill>
                  <a:srgbClr val="055A52"/>
                </a:solidFill>
                <a:latin typeface="Aptos"/>
                <a:ea typeface="Aptos"/>
                <a:cs typeface="Aptos"/>
              </a:rPr>
              <a:t>REFERENCES</a:t>
            </a:r>
          </a:p>
        </p:txBody>
      </p:sp>
      <p:sp>
        <p:nvSpPr>
          <p:cNvPr id="2" name="">
            <a:extLst xmlns:a="http://schemas.openxmlformats.org/drawingml/2006/main">
              <a:ext uri="{FF2B5EF4-FFF2-40B4-BE49-F238E27FC236}">
                <a16:creationId xmlns:a16="http://schemas.microsoft.com/office/drawing/2014/main" id="{76A1ACDA-4FC1-4639-80FC-6D30097EF63F}"/>
              </a:ext>
            </a:extLst>
          </p:cNvPr>
          <p:cNvSpPr>
            <a:spLocks xmlns:a="http://schemas.openxmlformats.org/drawingml/2006/main" noGrp="1"/>
          </p:cNvSpPr>
          <p:nvPr/>
        </p:nvSpPr>
        <p:spPr>
          <a:xfrm xmlns:a="http://schemas.openxmlformats.org/drawingml/2006/main">
            <a:off x="609600" y="781050"/>
            <a:ext cx="10668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850" b="1" i="0">
                <a:solidFill>
                  <a:srgbClr val="102333"/>
                </a:solidFill>
                <a:latin typeface="Aptos"/>
                <a:ea typeface="Aptos"/>
                <a:cs typeface="Aptos"/>
              </a:defRPr>
            </a:defPPr>
          </a:lstStyle>
          <a:p xmlns:a="http://schemas.openxmlformats.org/drawingml/2006/main">
            <a:pPr algn="l">
              <a:lnSpc>
                <a:spcPct val="95000"/>
              </a:lnSpc>
              <a:buNone/>
              <a:defRPr sz="2850" b="1" i="0">
                <a:solidFill>
                  <a:srgbClr val="102333"/>
                </a:solidFill>
                <a:latin typeface="Aptos"/>
                <a:ea typeface="Aptos"/>
                <a:cs typeface="Aptos"/>
              </a:defRPr>
            </a:pPr>
            <a:r>
              <a:rPr sz="2850" b="1" i="0">
                <a:solidFill>
                  <a:srgbClr val="102333"/>
                </a:solidFill>
                <a:latin typeface="Aptos"/>
                <a:ea typeface="Aptos"/>
                <a:cs typeface="Aptos"/>
              </a:rPr>
              <a:t>Official documentation used</a:t>
            </a:r>
          </a:p>
        </p:txBody>
      </p:sp>
      <p:sp>
        <p:nvSpPr>
          <p:cNvPr id="3" name="">
            <a:extLst xmlns:a="http://schemas.openxmlformats.org/drawingml/2006/main">
              <a:ext uri="{FF2B5EF4-FFF2-40B4-BE49-F238E27FC236}">
                <a16:creationId xmlns:a16="http://schemas.microsoft.com/office/drawing/2014/main" id="{1F508DF7-FF6B-4764-97EF-7B2728C2883E}"/>
              </a:ext>
            </a:extLst>
          </p:cNvPr>
          <p:cNvSpPr>
            <a:spLocks xmlns:a="http://schemas.openxmlformats.org/drawingml/2006/main" noGrp="1"/>
          </p:cNvSpPr>
          <p:nvPr/>
        </p:nvSpPr>
        <p:spPr>
          <a:xfrm xmlns:a="http://schemas.openxmlformats.org/drawingml/2006/main">
            <a:off x="628650" y="1466850"/>
            <a:ext cx="1000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350" b="0" i="0">
                <a:solidFill>
                  <a:srgbClr val="536876"/>
                </a:solidFill>
                <a:latin typeface="Aptos"/>
                <a:ea typeface="Aptos"/>
                <a:cs typeface="Aptos"/>
              </a:defRPr>
            </a:defPPr>
          </a:lstStyle>
          <a:p xmlns:a="http://schemas.openxmlformats.org/drawingml/2006/main">
            <a:pPr algn="l">
              <a:lnSpc>
                <a:spcPct val="100000"/>
              </a:lnSpc>
              <a:buNone/>
              <a:defRPr sz="1350" b="0" i="0">
                <a:solidFill>
                  <a:srgbClr val="536876"/>
                </a:solidFill>
                <a:latin typeface="Aptos"/>
                <a:ea typeface="Aptos"/>
                <a:cs typeface="Aptos"/>
              </a:defRPr>
            </a:pPr>
            <a:r>
              <a:rPr sz="1350" b="0" i="0">
                <a:solidFill>
                  <a:srgbClr val="536876"/>
                </a:solidFill>
                <a:latin typeface="Aptos"/>
                <a:ea typeface="Aptos"/>
                <a:cs typeface="Aptos"/>
              </a:rPr>
              <a:t>Full citations and access dates also appear in the online learning resource.</a:t>
            </a:r>
          </a:p>
        </p:txBody>
      </p:sp>
      <p:sp>
        <p:nvSpPr>
          <p:cNvPr id="4" name="">
            <a:extLst xmlns:a="http://schemas.openxmlformats.org/drawingml/2006/main">
              <a:ext uri="{FF2B5EF4-FFF2-40B4-BE49-F238E27FC236}">
                <a16:creationId xmlns:a16="http://schemas.microsoft.com/office/drawing/2014/main" id="{F5CEC1CE-9AC0-4B5E-B537-89B09F8DDFB5}"/>
              </a:ext>
            </a:extLst>
          </p:cNvPr>
          <p:cNvSpPr>
            <a:spLocks xmlns:a="http://schemas.openxmlformats.org/drawingml/2006/main" noGrp="1"/>
          </p:cNvSpPr>
          <p:nvPr/>
        </p:nvSpPr>
        <p:spPr>
          <a:xfrm xmlns:a="http://schemas.openxmlformats.org/drawingml/2006/main">
            <a:off x="609600" y="6477000"/>
            <a:ext cx="10972800" cy="14288"/>
          </a:xfrm>
          <a:prstGeom xmlns:a="http://schemas.openxmlformats.org/drawingml/2006/main" prst="rect">
            <a:avLst/>
          </a:prstGeom>
          <a:solidFill xmlns:a="http://schemas.openxmlformats.org/drawingml/2006/main">
            <a:srgbClr val="CCD9D5"/>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CA953EF2-16A6-436A-9498-B1687DC79439}"/>
              </a:ext>
            </a:extLst>
          </p:cNvPr>
          <p:cNvSpPr>
            <a:spLocks xmlns:a="http://schemas.openxmlformats.org/drawingml/2006/main" noGrp="1"/>
          </p:cNvSpPr>
          <p:nvPr/>
        </p:nvSpPr>
        <p:spPr>
          <a:xfrm xmlns:a="http://schemas.openxmlformats.org/drawingml/2006/main">
            <a:off x="609600" y="655320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825" b="1" i="0">
                <a:solidFill>
                  <a:srgbClr val="536876"/>
                </a:solidFill>
                <a:latin typeface="Aptos"/>
                <a:ea typeface="Aptos"/>
                <a:cs typeface="Aptos"/>
              </a:defRPr>
            </a:defPPr>
          </a:lstStyle>
          <a:p xmlns:a="http://schemas.openxmlformats.org/drawingml/2006/main">
            <a:pPr algn="l">
              <a:lnSpc>
                <a:spcPct val="100000"/>
              </a:lnSpc>
              <a:buNone/>
              <a:defRPr sz="825" b="1" i="0">
                <a:solidFill>
                  <a:srgbClr val="536876"/>
                </a:solidFill>
                <a:latin typeface="Aptos"/>
                <a:ea typeface="Aptos"/>
                <a:cs typeface="Aptos"/>
              </a:defRPr>
            </a:pPr>
            <a:r>
              <a:rPr sz="825" b="1" i="0">
                <a:solidFill>
                  <a:srgbClr val="536876"/>
                </a:solidFill>
                <a:latin typeface="Aptos"/>
                <a:ea typeface="Aptos"/>
                <a:cs typeface="Aptos"/>
              </a:rPr>
              <a:t>COMP10020 · FASTAPI</a:t>
            </a:r>
          </a:p>
        </p:txBody>
      </p:sp>
      <p:sp>
        <p:nvSpPr>
          <p:cNvPr id="6" name="">
            <a:extLst xmlns:a="http://schemas.openxmlformats.org/drawingml/2006/main">
              <a:ext uri="{FF2B5EF4-FFF2-40B4-BE49-F238E27FC236}">
                <a16:creationId xmlns:a16="http://schemas.microsoft.com/office/drawing/2014/main" id="{5D792078-8602-46D8-960F-E5AC62EFBF5F}"/>
              </a:ext>
            </a:extLst>
          </p:cNvPr>
          <p:cNvSpPr>
            <a:spLocks xmlns:a="http://schemas.openxmlformats.org/drawingml/2006/main" noGrp="1"/>
          </p:cNvSpPr>
          <p:nvPr/>
        </p:nvSpPr>
        <p:spPr>
          <a:xfrm xmlns:a="http://schemas.openxmlformats.org/drawingml/2006/main">
            <a:off x="11049000" y="6543675"/>
            <a:ext cx="533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r">
              <a:defRPr sz="825" b="1" i="0">
                <a:solidFill>
                  <a:srgbClr val="536876"/>
                </a:solidFill>
                <a:latin typeface="Aptos"/>
                <a:ea typeface="Aptos"/>
                <a:cs typeface="Aptos"/>
              </a:defRPr>
            </a:defPPr>
          </a:lstStyle>
          <a:p xmlns:a="http://schemas.openxmlformats.org/drawingml/2006/main">
            <a:pPr algn="r">
              <a:lnSpc>
                <a:spcPct val="100000"/>
              </a:lnSpc>
              <a:buNone/>
              <a:defRPr sz="825" b="1" i="0">
                <a:solidFill>
                  <a:srgbClr val="536876"/>
                </a:solidFill>
                <a:latin typeface="Aptos"/>
                <a:ea typeface="Aptos"/>
                <a:cs typeface="Aptos"/>
              </a:defRPr>
            </a:pPr>
            <a:r>
              <a:rPr sz="825" b="1" i="0">
                <a:solidFill>
                  <a:srgbClr val="536876"/>
                </a:solidFill>
                <a:latin typeface="Aptos"/>
                <a:ea typeface="Aptos"/>
                <a:cs typeface="Aptos"/>
              </a:rPr>
              <a:t>13</a:t>
            </a:r>
          </a:p>
        </p:txBody>
      </p:sp>
      <p:sp>
        <p:nvSpPr>
          <p:cNvPr id="7" name="">
            <a:extLst xmlns:a="http://schemas.openxmlformats.org/drawingml/2006/main">
              <a:ext uri="{FF2B5EF4-FFF2-40B4-BE49-F238E27FC236}">
                <a16:creationId xmlns:a16="http://schemas.microsoft.com/office/drawing/2014/main" id="{8C7EEBD0-F879-42F4-8326-AEACCBC91B61}"/>
              </a:ext>
            </a:extLst>
          </p:cNvPr>
          <p:cNvSpPr>
            <a:spLocks xmlns:a="http://schemas.openxmlformats.org/drawingml/2006/main" noGrp="1"/>
          </p:cNvSpPr>
          <p:nvPr/>
        </p:nvSpPr>
        <p:spPr>
          <a:xfrm xmlns:a="http://schemas.openxmlformats.org/drawingml/2006/main">
            <a:off x="723900" y="2152650"/>
            <a:ext cx="45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00" b="1" i="0">
                <a:solidFill>
                  <a:srgbClr val="EF765E"/>
                </a:solidFill>
                <a:latin typeface="Aptos"/>
                <a:ea typeface="Aptos"/>
                <a:cs typeface="Aptos"/>
              </a:defRPr>
            </a:defPPr>
          </a:lstStyle>
          <a:p xmlns:a="http://schemas.openxmlformats.org/drawingml/2006/main">
            <a:pPr algn="l">
              <a:lnSpc>
                <a:spcPct val="100000"/>
              </a:lnSpc>
              <a:buNone/>
              <a:defRPr sz="1200" b="1" i="0">
                <a:solidFill>
                  <a:srgbClr val="EF765E"/>
                </a:solidFill>
                <a:latin typeface="Aptos"/>
                <a:ea typeface="Aptos"/>
                <a:cs typeface="Aptos"/>
              </a:defRPr>
            </a:pPr>
            <a:r>
              <a:rPr sz="1200" b="1" i="0">
                <a:solidFill>
                  <a:srgbClr val="EF765E"/>
                </a:solidFill>
                <a:latin typeface="Aptos"/>
                <a:ea typeface="Aptos"/>
                <a:cs typeface="Aptos"/>
              </a:rPr>
              <a:t>01</a:t>
            </a:r>
          </a:p>
        </p:txBody>
      </p:sp>
      <p:sp>
        <p:nvSpPr>
          <p:cNvPr id="8" name="">
            <a:extLst xmlns:a="http://schemas.openxmlformats.org/drawingml/2006/main">
              <a:ext uri="{FF2B5EF4-FFF2-40B4-BE49-F238E27FC236}">
                <a16:creationId xmlns:a16="http://schemas.microsoft.com/office/drawing/2014/main" id="{10452C04-AFBE-4347-9533-7B7C7038EE58}"/>
              </a:ext>
            </a:extLst>
          </p:cNvPr>
          <p:cNvSpPr>
            <a:spLocks xmlns:a="http://schemas.openxmlformats.org/drawingml/2006/main" noGrp="1"/>
          </p:cNvSpPr>
          <p:nvPr/>
        </p:nvSpPr>
        <p:spPr>
          <a:xfrm xmlns:a="http://schemas.openxmlformats.org/drawingml/2006/main">
            <a:off x="1352550" y="2152650"/>
            <a:ext cx="9810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350" b="0" i="0">
                <a:solidFill>
                  <a:srgbClr val="102333"/>
                </a:solidFill>
                <a:latin typeface="Aptos"/>
                <a:ea typeface="Aptos"/>
                <a:cs typeface="Aptos"/>
              </a:defRPr>
            </a:defPPr>
          </a:lstStyle>
          <a:p xmlns:a="http://schemas.openxmlformats.org/drawingml/2006/main">
            <a:pPr algn="l">
              <a:lnSpc>
                <a:spcPct val="100000"/>
              </a:lnSpc>
              <a:buNone/>
              <a:defRPr sz="1350" b="0" i="0">
                <a:solidFill>
                  <a:srgbClr val="102333"/>
                </a:solidFill>
                <a:latin typeface="Aptos"/>
                <a:ea typeface="Aptos"/>
                <a:cs typeface="Aptos"/>
              </a:defRPr>
            </a:pPr>
            <a:r>
              <a:rPr sz="1350" b="0" i="0">
                <a:solidFill>
                  <a:srgbClr val="102333"/>
                </a:solidFill>
                <a:latin typeface="Aptos"/>
                <a:ea typeface="Aptos"/>
                <a:cs typeface="Aptos"/>
              </a:rPr>
              <a:t>FastAPI (2026) Features — fastapi.tiangolo.com/features/</a:t>
            </a:r>
          </a:p>
        </p:txBody>
      </p:sp>
      <p:sp>
        <p:nvSpPr>
          <p:cNvPr id="9" name="">
            <a:extLst xmlns:a="http://schemas.openxmlformats.org/drawingml/2006/main">
              <a:ext uri="{FF2B5EF4-FFF2-40B4-BE49-F238E27FC236}">
                <a16:creationId xmlns:a16="http://schemas.microsoft.com/office/drawing/2014/main" id="{EABA5353-70A3-4804-B05D-63BCA96F2323}"/>
              </a:ext>
            </a:extLst>
          </p:cNvPr>
          <p:cNvSpPr>
            <a:spLocks xmlns:a="http://schemas.openxmlformats.org/drawingml/2006/main" noGrp="1"/>
          </p:cNvSpPr>
          <p:nvPr/>
        </p:nvSpPr>
        <p:spPr>
          <a:xfrm xmlns:a="http://schemas.openxmlformats.org/drawingml/2006/main">
            <a:off x="1352550" y="2514600"/>
            <a:ext cx="9772650" cy="9525"/>
          </a:xfrm>
          <a:prstGeom xmlns:a="http://schemas.openxmlformats.org/drawingml/2006/main" prst="rect">
            <a:avLst/>
          </a:prstGeom>
          <a:solidFill xmlns:a="http://schemas.openxmlformats.org/drawingml/2006/main">
            <a:srgbClr val="CCD9D5"/>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EB17AA3-CD7C-437D-B715-FA9BEF474D58}"/>
              </a:ext>
            </a:extLst>
          </p:cNvPr>
          <p:cNvSpPr>
            <a:spLocks xmlns:a="http://schemas.openxmlformats.org/drawingml/2006/main" noGrp="1"/>
          </p:cNvSpPr>
          <p:nvPr/>
        </p:nvSpPr>
        <p:spPr>
          <a:xfrm xmlns:a="http://schemas.openxmlformats.org/drawingml/2006/main">
            <a:off x="723900" y="2705100"/>
            <a:ext cx="45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00" b="1" i="0">
                <a:solidFill>
                  <a:srgbClr val="EF765E"/>
                </a:solidFill>
                <a:latin typeface="Aptos"/>
                <a:ea typeface="Aptos"/>
                <a:cs typeface="Aptos"/>
              </a:defRPr>
            </a:defPPr>
          </a:lstStyle>
          <a:p xmlns:a="http://schemas.openxmlformats.org/drawingml/2006/main">
            <a:pPr algn="l">
              <a:lnSpc>
                <a:spcPct val="100000"/>
              </a:lnSpc>
              <a:buNone/>
              <a:defRPr sz="1200" b="1" i="0">
                <a:solidFill>
                  <a:srgbClr val="EF765E"/>
                </a:solidFill>
                <a:latin typeface="Aptos"/>
                <a:ea typeface="Aptos"/>
                <a:cs typeface="Aptos"/>
              </a:defRPr>
            </a:pPr>
            <a:r>
              <a:rPr sz="1200" b="1" i="0">
                <a:solidFill>
                  <a:srgbClr val="EF765E"/>
                </a:solidFill>
                <a:latin typeface="Aptos"/>
                <a:ea typeface="Aptos"/>
                <a:cs typeface="Aptos"/>
              </a:rPr>
              <a:t>02</a:t>
            </a:r>
          </a:p>
        </p:txBody>
      </p:sp>
      <p:sp>
        <p:nvSpPr>
          <p:cNvPr id="11" name="">
            <a:extLst xmlns:a="http://schemas.openxmlformats.org/drawingml/2006/main">
              <a:ext uri="{FF2B5EF4-FFF2-40B4-BE49-F238E27FC236}">
                <a16:creationId xmlns:a16="http://schemas.microsoft.com/office/drawing/2014/main" id="{429CE064-4631-456C-9756-16822635C6DD}"/>
              </a:ext>
            </a:extLst>
          </p:cNvPr>
          <p:cNvSpPr>
            <a:spLocks xmlns:a="http://schemas.openxmlformats.org/drawingml/2006/main" noGrp="1"/>
          </p:cNvSpPr>
          <p:nvPr/>
        </p:nvSpPr>
        <p:spPr>
          <a:xfrm xmlns:a="http://schemas.openxmlformats.org/drawingml/2006/main">
            <a:off x="1352550" y="2705100"/>
            <a:ext cx="9810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350" b="0" i="0">
                <a:solidFill>
                  <a:srgbClr val="102333"/>
                </a:solidFill>
                <a:latin typeface="Aptos"/>
                <a:ea typeface="Aptos"/>
                <a:cs typeface="Aptos"/>
              </a:defRPr>
            </a:defPPr>
          </a:lstStyle>
          <a:p xmlns:a="http://schemas.openxmlformats.org/drawingml/2006/main">
            <a:pPr algn="l">
              <a:lnSpc>
                <a:spcPct val="100000"/>
              </a:lnSpc>
              <a:buNone/>
              <a:defRPr sz="1350" b="0" i="0">
                <a:solidFill>
                  <a:srgbClr val="102333"/>
                </a:solidFill>
                <a:latin typeface="Aptos"/>
                <a:ea typeface="Aptos"/>
                <a:cs typeface="Aptos"/>
              </a:defRPr>
            </a:pPr>
            <a:r>
              <a:rPr sz="1350" b="0" i="0">
                <a:solidFill>
                  <a:srgbClr val="102333"/>
                </a:solidFill>
                <a:latin typeface="Aptos"/>
                <a:ea typeface="Aptos"/>
                <a:cs typeface="Aptos"/>
              </a:rPr>
              <a:t>FastAPI (2026) First Steps — fastapi.tiangolo.com/tutorial/first-steps/</a:t>
            </a:r>
          </a:p>
        </p:txBody>
      </p:sp>
      <p:sp>
        <p:nvSpPr>
          <p:cNvPr id="12" name="">
            <a:extLst xmlns:a="http://schemas.openxmlformats.org/drawingml/2006/main">
              <a:ext uri="{FF2B5EF4-FFF2-40B4-BE49-F238E27FC236}">
                <a16:creationId xmlns:a16="http://schemas.microsoft.com/office/drawing/2014/main" id="{E4384549-83EF-4286-B201-BC458A5DC013}"/>
              </a:ext>
            </a:extLst>
          </p:cNvPr>
          <p:cNvSpPr>
            <a:spLocks xmlns:a="http://schemas.openxmlformats.org/drawingml/2006/main" noGrp="1"/>
          </p:cNvSpPr>
          <p:nvPr/>
        </p:nvSpPr>
        <p:spPr>
          <a:xfrm xmlns:a="http://schemas.openxmlformats.org/drawingml/2006/main">
            <a:off x="1352550" y="3067050"/>
            <a:ext cx="9772650" cy="9525"/>
          </a:xfrm>
          <a:prstGeom xmlns:a="http://schemas.openxmlformats.org/drawingml/2006/main" prst="rect">
            <a:avLst/>
          </a:prstGeom>
          <a:solidFill xmlns:a="http://schemas.openxmlformats.org/drawingml/2006/main">
            <a:srgbClr val="CCD9D5"/>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6AF5DD5F-694E-4FD0-811C-E13E52EEA903}"/>
              </a:ext>
            </a:extLst>
          </p:cNvPr>
          <p:cNvSpPr>
            <a:spLocks xmlns:a="http://schemas.openxmlformats.org/drawingml/2006/main" noGrp="1"/>
          </p:cNvSpPr>
          <p:nvPr/>
        </p:nvSpPr>
        <p:spPr>
          <a:xfrm xmlns:a="http://schemas.openxmlformats.org/drawingml/2006/main">
            <a:off x="723900" y="3257550"/>
            <a:ext cx="45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00" b="1" i="0">
                <a:solidFill>
                  <a:srgbClr val="EF765E"/>
                </a:solidFill>
                <a:latin typeface="Aptos"/>
                <a:ea typeface="Aptos"/>
                <a:cs typeface="Aptos"/>
              </a:defRPr>
            </a:defPPr>
          </a:lstStyle>
          <a:p xmlns:a="http://schemas.openxmlformats.org/drawingml/2006/main">
            <a:pPr algn="l">
              <a:lnSpc>
                <a:spcPct val="100000"/>
              </a:lnSpc>
              <a:buNone/>
              <a:defRPr sz="1200" b="1" i="0">
                <a:solidFill>
                  <a:srgbClr val="EF765E"/>
                </a:solidFill>
                <a:latin typeface="Aptos"/>
                <a:ea typeface="Aptos"/>
                <a:cs typeface="Aptos"/>
              </a:defRPr>
            </a:pPr>
            <a:r>
              <a:rPr sz="1200" b="1" i="0">
                <a:solidFill>
                  <a:srgbClr val="EF765E"/>
                </a:solidFill>
                <a:latin typeface="Aptos"/>
                <a:ea typeface="Aptos"/>
                <a:cs typeface="Aptos"/>
              </a:rPr>
              <a:t>03</a:t>
            </a:r>
          </a:p>
        </p:txBody>
      </p:sp>
      <p:sp>
        <p:nvSpPr>
          <p:cNvPr id="14" name="">
            <a:extLst xmlns:a="http://schemas.openxmlformats.org/drawingml/2006/main">
              <a:ext uri="{FF2B5EF4-FFF2-40B4-BE49-F238E27FC236}">
                <a16:creationId xmlns:a16="http://schemas.microsoft.com/office/drawing/2014/main" id="{F2866F65-3C49-49FE-A972-1C71C74706B3}"/>
              </a:ext>
            </a:extLst>
          </p:cNvPr>
          <p:cNvSpPr>
            <a:spLocks xmlns:a="http://schemas.openxmlformats.org/drawingml/2006/main" noGrp="1"/>
          </p:cNvSpPr>
          <p:nvPr/>
        </p:nvSpPr>
        <p:spPr>
          <a:xfrm xmlns:a="http://schemas.openxmlformats.org/drawingml/2006/main">
            <a:off x="1352550" y="3257550"/>
            <a:ext cx="9810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350" b="0" i="0">
                <a:solidFill>
                  <a:srgbClr val="102333"/>
                </a:solidFill>
                <a:latin typeface="Aptos"/>
                <a:ea typeface="Aptos"/>
                <a:cs typeface="Aptos"/>
              </a:defRPr>
            </a:defPPr>
          </a:lstStyle>
          <a:p xmlns:a="http://schemas.openxmlformats.org/drawingml/2006/main">
            <a:pPr algn="l">
              <a:lnSpc>
                <a:spcPct val="100000"/>
              </a:lnSpc>
              <a:buNone/>
              <a:defRPr sz="1350" b="0" i="0">
                <a:solidFill>
                  <a:srgbClr val="102333"/>
                </a:solidFill>
                <a:latin typeface="Aptos"/>
                <a:ea typeface="Aptos"/>
                <a:cs typeface="Aptos"/>
              </a:defRPr>
            </a:pPr>
            <a:r>
              <a:rPr sz="1350" b="0" i="0">
                <a:solidFill>
                  <a:srgbClr val="102333"/>
                </a:solidFill>
                <a:latin typeface="Aptos"/>
                <a:ea typeface="Aptos"/>
                <a:cs typeface="Aptos"/>
              </a:rPr>
              <a:t>FastAPI (2026) Testing — fastapi.tiangolo.com/tutorial/testing/</a:t>
            </a:r>
          </a:p>
        </p:txBody>
      </p:sp>
      <p:sp>
        <p:nvSpPr>
          <p:cNvPr id="15" name="">
            <a:extLst xmlns:a="http://schemas.openxmlformats.org/drawingml/2006/main">
              <a:ext uri="{FF2B5EF4-FFF2-40B4-BE49-F238E27FC236}">
                <a16:creationId xmlns:a16="http://schemas.microsoft.com/office/drawing/2014/main" id="{6ED521B1-ED74-40EC-9405-34899527E85B}"/>
              </a:ext>
            </a:extLst>
          </p:cNvPr>
          <p:cNvSpPr>
            <a:spLocks xmlns:a="http://schemas.openxmlformats.org/drawingml/2006/main" noGrp="1"/>
          </p:cNvSpPr>
          <p:nvPr/>
        </p:nvSpPr>
        <p:spPr>
          <a:xfrm xmlns:a="http://schemas.openxmlformats.org/drawingml/2006/main">
            <a:off x="1352550" y="3619500"/>
            <a:ext cx="9772650" cy="9525"/>
          </a:xfrm>
          <a:prstGeom xmlns:a="http://schemas.openxmlformats.org/drawingml/2006/main" prst="rect">
            <a:avLst/>
          </a:prstGeom>
          <a:solidFill xmlns:a="http://schemas.openxmlformats.org/drawingml/2006/main">
            <a:srgbClr val="CCD9D5"/>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E051E52A-462A-4B29-8AFE-FEDABC784537}"/>
              </a:ext>
            </a:extLst>
          </p:cNvPr>
          <p:cNvSpPr>
            <a:spLocks xmlns:a="http://schemas.openxmlformats.org/drawingml/2006/main" noGrp="1"/>
          </p:cNvSpPr>
          <p:nvPr/>
        </p:nvSpPr>
        <p:spPr>
          <a:xfrm xmlns:a="http://schemas.openxmlformats.org/drawingml/2006/main">
            <a:off x="723900" y="3810000"/>
            <a:ext cx="45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00" b="1" i="0">
                <a:solidFill>
                  <a:srgbClr val="EF765E"/>
                </a:solidFill>
                <a:latin typeface="Aptos"/>
                <a:ea typeface="Aptos"/>
                <a:cs typeface="Aptos"/>
              </a:defRPr>
            </a:defPPr>
          </a:lstStyle>
          <a:p xmlns:a="http://schemas.openxmlformats.org/drawingml/2006/main">
            <a:pPr algn="l">
              <a:lnSpc>
                <a:spcPct val="100000"/>
              </a:lnSpc>
              <a:buNone/>
              <a:defRPr sz="1200" b="1" i="0">
                <a:solidFill>
                  <a:srgbClr val="EF765E"/>
                </a:solidFill>
                <a:latin typeface="Aptos"/>
                <a:ea typeface="Aptos"/>
                <a:cs typeface="Aptos"/>
              </a:defRPr>
            </a:pPr>
            <a:r>
              <a:rPr sz="1200" b="1" i="0">
                <a:solidFill>
                  <a:srgbClr val="EF765E"/>
                </a:solidFill>
                <a:latin typeface="Aptos"/>
                <a:ea typeface="Aptos"/>
                <a:cs typeface="Aptos"/>
              </a:rPr>
              <a:t>04</a:t>
            </a:r>
          </a:p>
        </p:txBody>
      </p:sp>
      <p:sp>
        <p:nvSpPr>
          <p:cNvPr id="17" name="">
            <a:extLst xmlns:a="http://schemas.openxmlformats.org/drawingml/2006/main">
              <a:ext uri="{FF2B5EF4-FFF2-40B4-BE49-F238E27FC236}">
                <a16:creationId xmlns:a16="http://schemas.microsoft.com/office/drawing/2014/main" id="{0C03B2D1-145F-4991-974A-401E3F7ECAA5}"/>
              </a:ext>
            </a:extLst>
          </p:cNvPr>
          <p:cNvSpPr>
            <a:spLocks xmlns:a="http://schemas.openxmlformats.org/drawingml/2006/main" noGrp="1"/>
          </p:cNvSpPr>
          <p:nvPr/>
        </p:nvSpPr>
        <p:spPr>
          <a:xfrm xmlns:a="http://schemas.openxmlformats.org/drawingml/2006/main">
            <a:off x="1352550" y="3810000"/>
            <a:ext cx="9810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350" b="0" i="0">
                <a:solidFill>
                  <a:srgbClr val="102333"/>
                </a:solidFill>
                <a:latin typeface="Aptos"/>
                <a:ea typeface="Aptos"/>
                <a:cs typeface="Aptos"/>
              </a:defRPr>
            </a:defPPr>
          </a:lstStyle>
          <a:p xmlns:a="http://schemas.openxmlformats.org/drawingml/2006/main">
            <a:pPr algn="l">
              <a:lnSpc>
                <a:spcPct val="100000"/>
              </a:lnSpc>
              <a:buNone/>
              <a:defRPr sz="1350" b="0" i="0">
                <a:solidFill>
                  <a:srgbClr val="102333"/>
                </a:solidFill>
                <a:latin typeface="Aptos"/>
                <a:ea typeface="Aptos"/>
                <a:cs typeface="Aptos"/>
              </a:defRPr>
            </a:pPr>
            <a:r>
              <a:rPr sz="1350" b="0" i="0">
                <a:solidFill>
                  <a:srgbClr val="102333"/>
                </a:solidFill>
                <a:latin typeface="Aptos"/>
                <a:ea typeface="Aptos"/>
                <a:cs typeface="Aptos"/>
              </a:rPr>
              <a:t>Pydantic (2026) Documentation — docs.pydantic.dev/latest/</a:t>
            </a:r>
          </a:p>
        </p:txBody>
      </p:sp>
      <p:sp>
        <p:nvSpPr>
          <p:cNvPr id="18" name="">
            <a:extLst xmlns:a="http://schemas.openxmlformats.org/drawingml/2006/main">
              <a:ext uri="{FF2B5EF4-FFF2-40B4-BE49-F238E27FC236}">
                <a16:creationId xmlns:a16="http://schemas.microsoft.com/office/drawing/2014/main" id="{103291F6-56C6-472E-89A9-F5915FD7B757}"/>
              </a:ext>
            </a:extLst>
          </p:cNvPr>
          <p:cNvSpPr>
            <a:spLocks xmlns:a="http://schemas.openxmlformats.org/drawingml/2006/main" noGrp="1"/>
          </p:cNvSpPr>
          <p:nvPr/>
        </p:nvSpPr>
        <p:spPr>
          <a:xfrm xmlns:a="http://schemas.openxmlformats.org/drawingml/2006/main">
            <a:off x="1352550" y="4171950"/>
            <a:ext cx="9772650" cy="9525"/>
          </a:xfrm>
          <a:prstGeom xmlns:a="http://schemas.openxmlformats.org/drawingml/2006/main" prst="rect">
            <a:avLst/>
          </a:prstGeom>
          <a:solidFill xmlns:a="http://schemas.openxmlformats.org/drawingml/2006/main">
            <a:srgbClr val="CCD9D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DAC925F3-A041-4A2C-A223-32BFD1F43222}"/>
              </a:ext>
            </a:extLst>
          </p:cNvPr>
          <p:cNvSpPr>
            <a:spLocks xmlns:a="http://schemas.openxmlformats.org/drawingml/2006/main" noGrp="1"/>
          </p:cNvSpPr>
          <p:nvPr/>
        </p:nvSpPr>
        <p:spPr>
          <a:xfrm xmlns:a="http://schemas.openxmlformats.org/drawingml/2006/main">
            <a:off x="723900" y="4362450"/>
            <a:ext cx="45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00" b="1" i="0">
                <a:solidFill>
                  <a:srgbClr val="EF765E"/>
                </a:solidFill>
                <a:latin typeface="Aptos"/>
                <a:ea typeface="Aptos"/>
                <a:cs typeface="Aptos"/>
              </a:defRPr>
            </a:defPPr>
          </a:lstStyle>
          <a:p xmlns:a="http://schemas.openxmlformats.org/drawingml/2006/main">
            <a:pPr algn="l">
              <a:lnSpc>
                <a:spcPct val="100000"/>
              </a:lnSpc>
              <a:buNone/>
              <a:defRPr sz="1200" b="1" i="0">
                <a:solidFill>
                  <a:srgbClr val="EF765E"/>
                </a:solidFill>
                <a:latin typeface="Aptos"/>
                <a:ea typeface="Aptos"/>
                <a:cs typeface="Aptos"/>
              </a:defRPr>
            </a:pPr>
            <a:r>
              <a:rPr sz="1200" b="1" i="0">
                <a:solidFill>
                  <a:srgbClr val="EF765E"/>
                </a:solidFill>
                <a:latin typeface="Aptos"/>
                <a:ea typeface="Aptos"/>
                <a:cs typeface="Aptos"/>
              </a:rPr>
              <a:t>05</a:t>
            </a:r>
          </a:p>
        </p:txBody>
      </p:sp>
      <p:sp>
        <p:nvSpPr>
          <p:cNvPr id="20" name="">
            <a:extLst xmlns:a="http://schemas.openxmlformats.org/drawingml/2006/main">
              <a:ext uri="{FF2B5EF4-FFF2-40B4-BE49-F238E27FC236}">
                <a16:creationId xmlns:a16="http://schemas.microsoft.com/office/drawing/2014/main" id="{E79942FE-75DA-45C3-A2FA-1A877BB1E9B7}"/>
              </a:ext>
            </a:extLst>
          </p:cNvPr>
          <p:cNvSpPr>
            <a:spLocks xmlns:a="http://schemas.openxmlformats.org/drawingml/2006/main" noGrp="1"/>
          </p:cNvSpPr>
          <p:nvPr/>
        </p:nvSpPr>
        <p:spPr>
          <a:xfrm xmlns:a="http://schemas.openxmlformats.org/drawingml/2006/main">
            <a:off x="1352550" y="4362450"/>
            <a:ext cx="9810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350" b="0" i="0">
                <a:solidFill>
                  <a:srgbClr val="102333"/>
                </a:solidFill>
                <a:latin typeface="Aptos"/>
                <a:ea typeface="Aptos"/>
                <a:cs typeface="Aptos"/>
              </a:defRPr>
            </a:defPPr>
          </a:lstStyle>
          <a:p xmlns:a="http://schemas.openxmlformats.org/drawingml/2006/main">
            <a:pPr algn="l">
              <a:lnSpc>
                <a:spcPct val="100000"/>
              </a:lnSpc>
              <a:buNone/>
              <a:defRPr sz="1350" b="0" i="0">
                <a:solidFill>
                  <a:srgbClr val="102333"/>
                </a:solidFill>
                <a:latin typeface="Aptos"/>
                <a:ea typeface="Aptos"/>
                <a:cs typeface="Aptos"/>
              </a:defRPr>
            </a:pPr>
            <a:r>
              <a:rPr sz="1350" b="0" i="0">
                <a:solidFill>
                  <a:srgbClr val="102333"/>
                </a:solidFill>
                <a:latin typeface="Aptos"/>
                <a:ea typeface="Aptos"/>
                <a:cs typeface="Aptos"/>
              </a:rPr>
              <a:t>Uvicorn (2026) Documentation — uvicorn.org/</a:t>
            </a:r>
          </a:p>
        </p:txBody>
      </p:sp>
      <p:sp>
        <p:nvSpPr>
          <p:cNvPr id="21" name="">
            <a:extLst xmlns:a="http://schemas.openxmlformats.org/drawingml/2006/main">
              <a:ext uri="{FF2B5EF4-FFF2-40B4-BE49-F238E27FC236}">
                <a16:creationId xmlns:a16="http://schemas.microsoft.com/office/drawing/2014/main" id="{8B9B1AD0-1AF0-4BF8-9724-9CF1E104248F}"/>
              </a:ext>
            </a:extLst>
          </p:cNvPr>
          <p:cNvSpPr>
            <a:spLocks xmlns:a="http://schemas.openxmlformats.org/drawingml/2006/main" noGrp="1"/>
          </p:cNvSpPr>
          <p:nvPr/>
        </p:nvSpPr>
        <p:spPr>
          <a:xfrm xmlns:a="http://schemas.openxmlformats.org/drawingml/2006/main">
            <a:off x="1352550" y="4724400"/>
            <a:ext cx="9772650" cy="9525"/>
          </a:xfrm>
          <a:prstGeom xmlns:a="http://schemas.openxmlformats.org/drawingml/2006/main" prst="rect">
            <a:avLst/>
          </a:prstGeom>
          <a:solidFill xmlns:a="http://schemas.openxmlformats.org/drawingml/2006/main">
            <a:srgbClr val="CCD9D5"/>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5271EEAA-F6D9-4037-9656-1838BB74ECDD}"/>
              </a:ext>
            </a:extLst>
          </p:cNvPr>
          <p:cNvSpPr>
            <a:spLocks xmlns:a="http://schemas.openxmlformats.org/drawingml/2006/main" noGrp="1"/>
          </p:cNvSpPr>
          <p:nvPr/>
        </p:nvSpPr>
        <p:spPr>
          <a:xfrm xmlns:a="http://schemas.openxmlformats.org/drawingml/2006/main">
            <a:off x="723900" y="4914900"/>
            <a:ext cx="45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00" b="1" i="0">
                <a:solidFill>
                  <a:srgbClr val="EF765E"/>
                </a:solidFill>
                <a:latin typeface="Aptos"/>
                <a:ea typeface="Aptos"/>
                <a:cs typeface="Aptos"/>
              </a:defRPr>
            </a:defPPr>
          </a:lstStyle>
          <a:p xmlns:a="http://schemas.openxmlformats.org/drawingml/2006/main">
            <a:pPr algn="l">
              <a:lnSpc>
                <a:spcPct val="100000"/>
              </a:lnSpc>
              <a:buNone/>
              <a:defRPr sz="1200" b="1" i="0">
                <a:solidFill>
                  <a:srgbClr val="EF765E"/>
                </a:solidFill>
                <a:latin typeface="Aptos"/>
                <a:ea typeface="Aptos"/>
                <a:cs typeface="Aptos"/>
              </a:defRPr>
            </a:pPr>
            <a:r>
              <a:rPr sz="1200" b="1" i="0">
                <a:solidFill>
                  <a:srgbClr val="EF765E"/>
                </a:solidFill>
                <a:latin typeface="Aptos"/>
                <a:ea typeface="Aptos"/>
                <a:cs typeface="Aptos"/>
              </a:rPr>
              <a:t>06</a:t>
            </a:r>
          </a:p>
        </p:txBody>
      </p:sp>
      <p:sp>
        <p:nvSpPr>
          <p:cNvPr id="23" name="">
            <a:extLst xmlns:a="http://schemas.openxmlformats.org/drawingml/2006/main">
              <a:ext uri="{FF2B5EF4-FFF2-40B4-BE49-F238E27FC236}">
                <a16:creationId xmlns:a16="http://schemas.microsoft.com/office/drawing/2014/main" id="{A6686DAC-F4BB-4901-841A-6BFB7E7986A4}"/>
              </a:ext>
            </a:extLst>
          </p:cNvPr>
          <p:cNvSpPr>
            <a:spLocks xmlns:a="http://schemas.openxmlformats.org/drawingml/2006/main" noGrp="1"/>
          </p:cNvSpPr>
          <p:nvPr/>
        </p:nvSpPr>
        <p:spPr>
          <a:xfrm xmlns:a="http://schemas.openxmlformats.org/drawingml/2006/main">
            <a:off x="1352550" y="4914900"/>
            <a:ext cx="9810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350" b="0" i="0">
                <a:solidFill>
                  <a:srgbClr val="102333"/>
                </a:solidFill>
                <a:latin typeface="Aptos"/>
                <a:ea typeface="Aptos"/>
                <a:cs typeface="Aptos"/>
              </a:defRPr>
            </a:defPPr>
          </a:lstStyle>
          <a:p xmlns:a="http://schemas.openxmlformats.org/drawingml/2006/main">
            <a:pPr algn="l">
              <a:lnSpc>
                <a:spcPct val="100000"/>
              </a:lnSpc>
              <a:buNone/>
              <a:defRPr sz="1350" b="0" i="0">
                <a:solidFill>
                  <a:srgbClr val="102333"/>
                </a:solidFill>
                <a:latin typeface="Aptos"/>
                <a:ea typeface="Aptos"/>
                <a:cs typeface="Aptos"/>
              </a:defRPr>
            </a:pPr>
            <a:r>
              <a:rPr sz="1350" b="0" i="0">
                <a:solidFill>
                  <a:srgbClr val="102333"/>
                </a:solidFill>
                <a:latin typeface="Aptos"/>
                <a:ea typeface="Aptos"/>
                <a:cs typeface="Aptos"/>
              </a:rPr>
              <a:t>OpenAPI Initiative (2026) Specification v3.2.1 — spec.openapis.org/oas/v3.2.1.html</a:t>
            </a:r>
          </a:p>
        </p:txBody>
      </p:sp>
      <p:sp>
        <p:nvSpPr>
          <p:cNvPr id="24" name="">
            <a:extLst xmlns:a="http://schemas.openxmlformats.org/drawingml/2006/main">
              <a:ext uri="{FF2B5EF4-FFF2-40B4-BE49-F238E27FC236}">
                <a16:creationId xmlns:a16="http://schemas.microsoft.com/office/drawing/2014/main" id="{4B624106-5685-40D3-A9AF-52619536B7B3}"/>
              </a:ext>
            </a:extLst>
          </p:cNvPr>
          <p:cNvSpPr>
            <a:spLocks xmlns:a="http://schemas.openxmlformats.org/drawingml/2006/main" noGrp="1"/>
          </p:cNvSpPr>
          <p:nvPr/>
        </p:nvSpPr>
        <p:spPr>
          <a:xfrm xmlns:a="http://schemas.openxmlformats.org/drawingml/2006/main">
            <a:off x="1352550" y="5276850"/>
            <a:ext cx="9772650" cy="9525"/>
          </a:xfrm>
          <a:prstGeom xmlns:a="http://schemas.openxmlformats.org/drawingml/2006/main" prst="rect">
            <a:avLst/>
          </a:prstGeom>
          <a:solidFill xmlns:a="http://schemas.openxmlformats.org/drawingml/2006/main">
            <a:srgbClr val="CCD9D5"/>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FD407D80-5AF3-489F-8FC5-EDD3A7CA12EC}"/>
              </a:ext>
            </a:extLst>
          </p:cNvPr>
          <p:cNvSpPr>
            <a:spLocks xmlns:a="http://schemas.openxmlformats.org/drawingml/2006/main" noGrp="1"/>
          </p:cNvSpPr>
          <p:nvPr/>
        </p:nvSpPr>
        <p:spPr>
          <a:xfrm xmlns:a="http://schemas.openxmlformats.org/drawingml/2006/main">
            <a:off x="723900" y="5657850"/>
            <a:ext cx="1047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050" b="0" i="1">
                <a:solidFill>
                  <a:srgbClr val="536876"/>
                </a:solidFill>
                <a:latin typeface="Aptos"/>
                <a:ea typeface="Aptos"/>
                <a:cs typeface="Aptos"/>
              </a:defRPr>
            </a:defPPr>
          </a:lstStyle>
          <a:p xmlns:a="http://schemas.openxmlformats.org/drawingml/2006/main">
            <a:pPr algn="l">
              <a:lnSpc>
                <a:spcPct val="100000"/>
              </a:lnSpc>
              <a:buNone/>
              <a:defRPr sz="1050" b="0" i="1">
                <a:solidFill>
                  <a:srgbClr val="536876"/>
                </a:solidFill>
                <a:latin typeface="Aptos"/>
                <a:ea typeface="Aptos"/>
                <a:cs typeface="Aptos"/>
              </a:defRPr>
            </a:pPr>
            <a:r>
              <a:rPr sz="1050" b="0" i="1">
                <a:solidFill>
                  <a:srgbClr val="536876"/>
                </a:solidFill>
                <a:latin typeface="Aptos"/>
                <a:ea typeface="Aptos"/>
                <a:cs typeface="Aptos"/>
              </a:rPr>
              <a:t>Accessed 14 October 2026 · Full reference list: tianjianzou123.github.io/fastapi-cw1/#references</a:t>
            </a:r>
          </a:p>
        </p:txBody>
      </p:sp>
    </p:spTree>
    <p:extLst>
      <p:ext uri="{BB962C8B-B14F-4D97-AF65-F5344CB8AC3E}">
        <p14:creationId xmlns:p14="http://schemas.microsoft.com/office/powerpoint/2010/main" val="150274327"/>
      </p:ext>
    </p:extLst>
  </p:cSld>
</p:sld>
</file>

<file path=ppt/slides/slide14.xml><?xml version="1.0" encoding="utf-8"?>
<p:sld xmlns:p="http://schemas.openxmlformats.org/presentationml/2006/main">
  <p:cSld>
    <p:bg>
      <p:bgPr>
        <a:solidFill xmlns:a="http://schemas.openxmlformats.org/drawingml/2006/main">
          <a:srgbClr val="FFFDF8"/>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EF535E28-A349-45D9-BFDB-66736FDE6A0C}"/>
              </a:ext>
            </a:extLst>
          </p:cNvPr>
          <p:cNvSpPr>
            <a:spLocks xmlns:a="http://schemas.openxmlformats.org/drawingml/2006/main" noGrp="1"/>
          </p:cNvSpPr>
          <p:nvPr/>
        </p:nvSpPr>
        <p:spPr>
          <a:xfrm xmlns:a="http://schemas.openxmlformats.org/drawingml/2006/main">
            <a:off x="609600" y="45720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75" b="1" i="0">
                <a:solidFill>
                  <a:srgbClr val="055A52"/>
                </a:solidFill>
                <a:latin typeface="Aptos"/>
                <a:ea typeface="Aptos"/>
                <a:cs typeface="Aptos"/>
              </a:defRPr>
            </a:defPPr>
          </a:lstStyle>
          <a:p xmlns:a="http://schemas.openxmlformats.org/drawingml/2006/main">
            <a:pPr algn="l">
              <a:lnSpc>
                <a:spcPct val="100000"/>
              </a:lnSpc>
              <a:buNone/>
              <a:defRPr sz="975" b="1" i="0">
                <a:solidFill>
                  <a:srgbClr val="055A52"/>
                </a:solidFill>
                <a:latin typeface="Aptos"/>
                <a:ea typeface="Aptos"/>
                <a:cs typeface="Aptos"/>
              </a:defRPr>
            </a:pPr>
            <a:r>
              <a:rPr sz="975" b="1" i="0">
                <a:solidFill>
                  <a:srgbClr val="055A52"/>
                </a:solidFill>
                <a:latin typeface="Aptos"/>
                <a:ea typeface="Aptos"/>
                <a:cs typeface="Aptos"/>
              </a:rPr>
              <a:t>BACKUP · DEMO EVIDENCE</a:t>
            </a:r>
          </a:p>
        </p:txBody>
      </p:sp>
      <p:sp>
        <p:nvSpPr>
          <p:cNvPr id="2" name="">
            <a:extLst xmlns:a="http://schemas.openxmlformats.org/drawingml/2006/main">
              <a:ext uri="{FF2B5EF4-FFF2-40B4-BE49-F238E27FC236}">
                <a16:creationId xmlns:a16="http://schemas.microsoft.com/office/drawing/2014/main" id="{6722D22B-D373-4BF0-919B-9D2DCC1BC6F7}"/>
              </a:ext>
            </a:extLst>
          </p:cNvPr>
          <p:cNvSpPr>
            <a:spLocks xmlns:a="http://schemas.openxmlformats.org/drawingml/2006/main" noGrp="1"/>
          </p:cNvSpPr>
          <p:nvPr/>
        </p:nvSpPr>
        <p:spPr>
          <a:xfrm xmlns:a="http://schemas.openxmlformats.org/drawingml/2006/main">
            <a:off x="609600" y="781050"/>
            <a:ext cx="10668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850" b="1" i="0">
                <a:solidFill>
                  <a:srgbClr val="102333"/>
                </a:solidFill>
                <a:latin typeface="Aptos"/>
                <a:ea typeface="Aptos"/>
                <a:cs typeface="Aptos"/>
              </a:defRPr>
            </a:defPPr>
          </a:lstStyle>
          <a:p xmlns:a="http://schemas.openxmlformats.org/drawingml/2006/main">
            <a:pPr algn="l">
              <a:lnSpc>
                <a:spcPct val="95000"/>
              </a:lnSpc>
              <a:buNone/>
              <a:defRPr sz="2850" b="1" i="0">
                <a:solidFill>
                  <a:srgbClr val="102333"/>
                </a:solidFill>
                <a:latin typeface="Aptos"/>
                <a:ea typeface="Aptos"/>
                <a:cs typeface="Aptos"/>
              </a:defRPr>
            </a:pPr>
            <a:r>
              <a:rPr sz="2850" b="1" i="0">
                <a:solidFill>
                  <a:srgbClr val="102333"/>
                </a:solidFill>
                <a:latin typeface="Aptos"/>
                <a:ea typeface="Aptos"/>
                <a:cs typeface="Aptos"/>
              </a:rPr>
              <a:t>If asked: the remaining CRUD workflow</a:t>
            </a:r>
          </a:p>
        </p:txBody>
      </p:sp>
      <p:sp>
        <p:nvSpPr>
          <p:cNvPr id="3" name="">
            <a:extLst xmlns:a="http://schemas.openxmlformats.org/drawingml/2006/main">
              <a:ext uri="{FF2B5EF4-FFF2-40B4-BE49-F238E27FC236}">
                <a16:creationId xmlns:a16="http://schemas.microsoft.com/office/drawing/2014/main" id="{3771A053-72DF-4396-AE9E-67FDD6084B8E}"/>
              </a:ext>
            </a:extLst>
          </p:cNvPr>
          <p:cNvSpPr>
            <a:spLocks xmlns:a="http://schemas.openxmlformats.org/drawingml/2006/main" noGrp="1"/>
          </p:cNvSpPr>
          <p:nvPr/>
        </p:nvSpPr>
        <p:spPr>
          <a:xfrm xmlns:a="http://schemas.openxmlformats.org/drawingml/2006/main">
            <a:off x="628650" y="1466850"/>
            <a:ext cx="1000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350" b="0" i="0">
                <a:solidFill>
                  <a:srgbClr val="536876"/>
                </a:solidFill>
                <a:latin typeface="Aptos"/>
                <a:ea typeface="Aptos"/>
                <a:cs typeface="Aptos"/>
              </a:defRPr>
            </a:defPPr>
          </a:lstStyle>
          <a:p xmlns:a="http://schemas.openxmlformats.org/drawingml/2006/main">
            <a:pPr algn="l">
              <a:lnSpc>
                <a:spcPct val="100000"/>
              </a:lnSpc>
              <a:buNone/>
              <a:defRPr sz="1350" b="0" i="0">
                <a:solidFill>
                  <a:srgbClr val="536876"/>
                </a:solidFill>
                <a:latin typeface="Aptos"/>
                <a:ea typeface="Aptos"/>
                <a:cs typeface="Aptos"/>
              </a:defRPr>
            </a:pPr>
            <a:r>
              <a:rPr sz="1350" b="0" i="0">
                <a:solidFill>
                  <a:srgbClr val="536876"/>
                </a:solidFill>
                <a:latin typeface="Aptos"/>
                <a:ea typeface="Aptos"/>
                <a:cs typeface="Aptos"/>
              </a:rPr>
              <a:t>Use this only for questions or if the live demonstration has extra time.</a:t>
            </a:r>
          </a:p>
        </p:txBody>
      </p:sp>
      <p:sp>
        <p:nvSpPr>
          <p:cNvPr id="4" name="">
            <a:extLst xmlns:a="http://schemas.openxmlformats.org/drawingml/2006/main">
              <a:ext uri="{FF2B5EF4-FFF2-40B4-BE49-F238E27FC236}">
                <a16:creationId xmlns:a16="http://schemas.microsoft.com/office/drawing/2014/main" id="{6760F661-1B8F-4352-A390-E38FBE7EF9C3}"/>
              </a:ext>
            </a:extLst>
          </p:cNvPr>
          <p:cNvSpPr>
            <a:spLocks xmlns:a="http://schemas.openxmlformats.org/drawingml/2006/main" noGrp="1"/>
          </p:cNvSpPr>
          <p:nvPr/>
        </p:nvSpPr>
        <p:spPr>
          <a:xfrm xmlns:a="http://schemas.openxmlformats.org/drawingml/2006/main">
            <a:off x="609600" y="6477000"/>
            <a:ext cx="10972800" cy="14288"/>
          </a:xfrm>
          <a:prstGeom xmlns:a="http://schemas.openxmlformats.org/drawingml/2006/main" prst="rect">
            <a:avLst/>
          </a:prstGeom>
          <a:solidFill xmlns:a="http://schemas.openxmlformats.org/drawingml/2006/main">
            <a:srgbClr val="CCD9D5"/>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976328C3-835F-4BE7-9FB0-C89E57E80FBC}"/>
              </a:ext>
            </a:extLst>
          </p:cNvPr>
          <p:cNvSpPr>
            <a:spLocks xmlns:a="http://schemas.openxmlformats.org/drawingml/2006/main" noGrp="1"/>
          </p:cNvSpPr>
          <p:nvPr/>
        </p:nvSpPr>
        <p:spPr>
          <a:xfrm xmlns:a="http://schemas.openxmlformats.org/drawingml/2006/main">
            <a:off x="609600" y="655320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825" b="1" i="0">
                <a:solidFill>
                  <a:srgbClr val="536876"/>
                </a:solidFill>
                <a:latin typeface="Aptos"/>
                <a:ea typeface="Aptos"/>
                <a:cs typeface="Aptos"/>
              </a:defRPr>
            </a:defPPr>
          </a:lstStyle>
          <a:p xmlns:a="http://schemas.openxmlformats.org/drawingml/2006/main">
            <a:pPr algn="l">
              <a:lnSpc>
                <a:spcPct val="100000"/>
              </a:lnSpc>
              <a:buNone/>
              <a:defRPr sz="825" b="1" i="0">
                <a:solidFill>
                  <a:srgbClr val="536876"/>
                </a:solidFill>
                <a:latin typeface="Aptos"/>
                <a:ea typeface="Aptos"/>
                <a:cs typeface="Aptos"/>
              </a:defRPr>
            </a:pPr>
            <a:r>
              <a:rPr sz="825" b="1" i="0">
                <a:solidFill>
                  <a:srgbClr val="536876"/>
                </a:solidFill>
                <a:latin typeface="Aptos"/>
                <a:ea typeface="Aptos"/>
                <a:cs typeface="Aptos"/>
              </a:rPr>
              <a:t>COMP10020 · BACKUP</a:t>
            </a:r>
          </a:p>
        </p:txBody>
      </p:sp>
      <p:sp>
        <p:nvSpPr>
          <p:cNvPr id="6" name="">
            <a:extLst xmlns:a="http://schemas.openxmlformats.org/drawingml/2006/main">
              <a:ext uri="{FF2B5EF4-FFF2-40B4-BE49-F238E27FC236}">
                <a16:creationId xmlns:a16="http://schemas.microsoft.com/office/drawing/2014/main" id="{1D993C02-7657-42E0-8E19-0AACE665CE1B}"/>
              </a:ext>
            </a:extLst>
          </p:cNvPr>
          <p:cNvSpPr>
            <a:spLocks xmlns:a="http://schemas.openxmlformats.org/drawingml/2006/main" noGrp="1"/>
          </p:cNvSpPr>
          <p:nvPr/>
        </p:nvSpPr>
        <p:spPr>
          <a:xfrm xmlns:a="http://schemas.openxmlformats.org/drawingml/2006/main">
            <a:off x="11049000" y="6543675"/>
            <a:ext cx="533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r">
              <a:defRPr sz="825" b="1" i="0">
                <a:solidFill>
                  <a:srgbClr val="536876"/>
                </a:solidFill>
                <a:latin typeface="Aptos"/>
                <a:ea typeface="Aptos"/>
                <a:cs typeface="Aptos"/>
              </a:defRPr>
            </a:defPPr>
          </a:lstStyle>
          <a:p xmlns:a="http://schemas.openxmlformats.org/drawingml/2006/main">
            <a:pPr algn="r">
              <a:lnSpc>
                <a:spcPct val="100000"/>
              </a:lnSpc>
              <a:buNone/>
              <a:defRPr sz="825" b="1" i="0">
                <a:solidFill>
                  <a:srgbClr val="536876"/>
                </a:solidFill>
                <a:latin typeface="Aptos"/>
                <a:ea typeface="Aptos"/>
                <a:cs typeface="Aptos"/>
              </a:defRPr>
            </a:pPr>
            <a:r>
              <a:rPr sz="825" b="1" i="0">
                <a:solidFill>
                  <a:srgbClr val="536876"/>
                </a:solidFill>
                <a:latin typeface="Aptos"/>
                <a:ea typeface="Aptos"/>
                <a:cs typeface="Aptos"/>
              </a:rPr>
              <a:t>14</a:t>
            </a:r>
          </a:p>
        </p:txBody>
      </p:sp>
      <p:sp>
        <p:nvSpPr>
          <p:cNvPr id="7" name="">
            <a:extLst xmlns:a="http://schemas.openxmlformats.org/drawingml/2006/main">
              <a:ext uri="{FF2B5EF4-FFF2-40B4-BE49-F238E27FC236}">
                <a16:creationId xmlns:a16="http://schemas.microsoft.com/office/drawing/2014/main" id="{35CE2D4F-C9E1-4CCD-A686-DAA3BF39BB63}"/>
              </a:ext>
            </a:extLst>
          </p:cNvPr>
          <p:cNvSpPr>
            <a:spLocks xmlns:a="http://schemas.openxmlformats.org/drawingml/2006/main" noGrp="1"/>
          </p:cNvSpPr>
          <p:nvPr/>
        </p:nvSpPr>
        <p:spPr>
          <a:xfrm xmlns:a="http://schemas.openxmlformats.org/drawingml/2006/main">
            <a:off x="552450" y="2609850"/>
            <a:ext cx="1847850" cy="1619250"/>
          </a:xfrm>
          <a:prstGeom xmlns:a="http://schemas.openxmlformats.org/drawingml/2006/main" prst="roundRect">
            <a:avLst>
              <a:gd name="adj" fmla="val 7059"/>
            </a:avLst>
          </a:prstGeom>
          <a:solidFill xmlns:a="http://schemas.openxmlformats.org/drawingml/2006/main">
            <a:srgbClr val="EDF4F1"/>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CBCFD5F-415B-441D-B4BB-CA709F79202C}"/>
              </a:ext>
            </a:extLst>
          </p:cNvPr>
          <p:cNvSpPr>
            <a:spLocks xmlns:a="http://schemas.openxmlformats.org/drawingml/2006/main" noGrp="1"/>
          </p:cNvSpPr>
          <p:nvPr/>
        </p:nvSpPr>
        <p:spPr>
          <a:xfrm xmlns:a="http://schemas.openxmlformats.org/drawingml/2006/main">
            <a:off x="1028700" y="2838450"/>
            <a:ext cx="895350" cy="323850"/>
          </a:xfrm>
          <a:prstGeom xmlns:a="http://schemas.openxmlformats.org/drawingml/2006/main" prst="roundRect">
            <a:avLst>
              <a:gd name="adj" fmla="val 35294"/>
            </a:avLst>
          </a:prstGeom>
          <a:solidFill xmlns:a="http://schemas.openxmlformats.org/drawingml/2006/main">
            <a:srgbClr val="055A52"/>
          </a:solidFill>
          <a:ln xmlns:a="http://schemas.openxmlformats.org/drawingml/2006/main" w="0">
            <a:noFill/>
            <a:prstDash val="solid"/>
          </a:ln>
        </p:spPr>
        <p:txBody>
          <a:bodyPr xmlns:a="http://schemas.openxmlformats.org/drawingml/2006/main" lIns="38100" tIns="38100" rIns="38100" bIns="38100" anchor="ctr">
            <a:normAutofit fontScale="100000"/>
          </a:bodyPr>
          <a:lstStyle xmlns:a="http://schemas.openxmlformats.org/drawingml/2006/main">
            <a:defPPr algn="ctr">
              <a:defRPr sz="1050" b="1">
                <a:solidFill>
                  <a:srgbClr val="FFFFFF"/>
                </a:solidFill>
                <a:latin typeface="Aptos"/>
                <a:ea typeface="Aptos"/>
                <a:cs typeface="Aptos"/>
              </a:defRPr>
            </a:defPPr>
          </a:lstStyle>
          <a:p xmlns:a="http://schemas.openxmlformats.org/drawingml/2006/main">
            <a:pPr algn="ctr">
              <a:defRPr sz="1050" b="1">
                <a:solidFill>
                  <a:srgbClr val="FFFFFF"/>
                </a:solidFill>
                <a:latin typeface="Aptos"/>
                <a:ea typeface="Aptos"/>
                <a:cs typeface="Aptos"/>
              </a:defRPr>
            </a:pPr>
            <a:r>
              <a:rPr sz="1050" b="1">
                <a:solidFill>
                  <a:srgbClr val="FFFFFF"/>
                </a:solidFill>
                <a:latin typeface="Aptos"/>
                <a:ea typeface="Aptos"/>
                <a:cs typeface="Aptos"/>
              </a:rPr>
              <a:t>POST</a:t>
            </a:r>
          </a:p>
        </p:txBody>
      </p:sp>
      <p:sp>
        <p:nvSpPr>
          <p:cNvPr id="9" name="">
            <a:extLst xmlns:a="http://schemas.openxmlformats.org/drawingml/2006/main">
              <a:ext uri="{FF2B5EF4-FFF2-40B4-BE49-F238E27FC236}">
                <a16:creationId xmlns:a16="http://schemas.microsoft.com/office/drawing/2014/main" id="{8C6A6DEC-AB14-4D74-B0D6-574D26A5F0BB}"/>
              </a:ext>
            </a:extLst>
          </p:cNvPr>
          <p:cNvSpPr>
            <a:spLocks xmlns:a="http://schemas.openxmlformats.org/drawingml/2006/main" noGrp="1"/>
          </p:cNvSpPr>
          <p:nvPr/>
        </p:nvSpPr>
        <p:spPr>
          <a:xfrm xmlns:a="http://schemas.openxmlformats.org/drawingml/2006/main">
            <a:off x="723900" y="3371850"/>
            <a:ext cx="1504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ctr">
              <a:defRPr sz="1500" b="1" i="0">
                <a:solidFill>
                  <a:srgbClr val="102333"/>
                </a:solidFill>
                <a:latin typeface="Aptos"/>
                <a:ea typeface="Aptos"/>
                <a:cs typeface="Aptos"/>
              </a:defRPr>
            </a:defPPr>
          </a:lstStyle>
          <a:p xmlns:a="http://schemas.openxmlformats.org/drawingml/2006/main">
            <a:pPr algn="ctr">
              <a:lnSpc>
                <a:spcPct val="100000"/>
              </a:lnSpc>
              <a:buNone/>
              <a:defRPr sz="1500" b="1" i="0">
                <a:solidFill>
                  <a:srgbClr val="102333"/>
                </a:solidFill>
                <a:latin typeface="Aptos"/>
                <a:ea typeface="Aptos"/>
                <a:cs typeface="Aptos"/>
              </a:defRPr>
            </a:pPr>
            <a:r>
              <a:rPr sz="1500" b="1" i="0">
                <a:solidFill>
                  <a:srgbClr val="102333"/>
                </a:solidFill>
                <a:latin typeface="Aptos"/>
                <a:ea typeface="Aptos"/>
                <a:cs typeface="Aptos"/>
              </a:rPr>
              <a:t>Create</a:t>
            </a:r>
          </a:p>
        </p:txBody>
      </p:sp>
      <p:sp>
        <p:nvSpPr>
          <p:cNvPr id="10" name="">
            <a:extLst xmlns:a="http://schemas.openxmlformats.org/drawingml/2006/main">
              <a:ext uri="{FF2B5EF4-FFF2-40B4-BE49-F238E27FC236}">
                <a16:creationId xmlns:a16="http://schemas.microsoft.com/office/drawing/2014/main" id="{959268D5-1817-45A0-9D2D-E52C732C2B6B}"/>
              </a:ext>
            </a:extLst>
          </p:cNvPr>
          <p:cNvSpPr>
            <a:spLocks xmlns:a="http://schemas.openxmlformats.org/drawingml/2006/main" noGrp="1"/>
          </p:cNvSpPr>
          <p:nvPr/>
        </p:nvSpPr>
        <p:spPr>
          <a:xfrm xmlns:a="http://schemas.openxmlformats.org/drawingml/2006/main">
            <a:off x="723900" y="3829050"/>
            <a:ext cx="1504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ctr">
              <a:defRPr sz="1350" b="1" i="0">
                <a:solidFill>
                  <a:srgbClr val="055A52"/>
                </a:solidFill>
                <a:latin typeface="Aptos"/>
                <a:ea typeface="Aptos"/>
                <a:cs typeface="Aptos"/>
              </a:defRPr>
            </a:defPPr>
          </a:lstStyle>
          <a:p xmlns:a="http://schemas.openxmlformats.org/drawingml/2006/main">
            <a:pPr algn="ctr">
              <a:lnSpc>
                <a:spcPct val="100000"/>
              </a:lnSpc>
              <a:buNone/>
              <a:defRPr sz="1350" b="1" i="0">
                <a:solidFill>
                  <a:srgbClr val="055A52"/>
                </a:solidFill>
                <a:latin typeface="Aptos"/>
                <a:ea typeface="Aptos"/>
                <a:cs typeface="Aptos"/>
              </a:defRPr>
            </a:pPr>
            <a:r>
              <a:rPr sz="1350" b="1" i="0">
                <a:solidFill>
                  <a:srgbClr val="055A52"/>
                </a:solidFill>
                <a:latin typeface="Aptos"/>
                <a:ea typeface="Aptos"/>
                <a:cs typeface="Aptos"/>
              </a:rPr>
              <a:t>201</a:t>
            </a:r>
          </a:p>
        </p:txBody>
      </p:sp>
      <p:sp>
        <p:nvSpPr>
          <p:cNvPr id="11" name="">
            <a:extLst xmlns:a="http://schemas.openxmlformats.org/drawingml/2006/main">
              <a:ext uri="{FF2B5EF4-FFF2-40B4-BE49-F238E27FC236}">
                <a16:creationId xmlns:a16="http://schemas.microsoft.com/office/drawing/2014/main" id="{F6224204-B66F-4FDF-A840-D78DDD89DA99}"/>
              </a:ext>
            </a:extLst>
          </p:cNvPr>
          <p:cNvSpPr>
            <a:spLocks xmlns:a="http://schemas.openxmlformats.org/drawingml/2006/main" noGrp="1"/>
          </p:cNvSpPr>
          <p:nvPr/>
        </p:nvSpPr>
        <p:spPr>
          <a:xfrm xmlns:a="http://schemas.openxmlformats.org/drawingml/2006/main">
            <a:off x="2438400" y="3181350"/>
            <a:ext cx="381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ctr">
              <a:defRPr sz="2100" b="1" i="0">
                <a:solidFill>
                  <a:srgbClr val="EF765E"/>
                </a:solidFill>
                <a:latin typeface="Aptos"/>
                <a:ea typeface="Aptos"/>
                <a:cs typeface="Aptos"/>
              </a:defRPr>
            </a:defPPr>
          </a:lstStyle>
          <a:p xmlns:a="http://schemas.openxmlformats.org/drawingml/2006/main">
            <a:pPr algn="ctr">
              <a:lnSpc>
                <a:spcPct val="100000"/>
              </a:lnSpc>
              <a:buNone/>
              <a:defRPr sz="2100" b="1" i="0">
                <a:solidFill>
                  <a:srgbClr val="EF765E"/>
                </a:solidFill>
                <a:latin typeface="Aptos"/>
                <a:ea typeface="Aptos"/>
                <a:cs typeface="Aptos"/>
              </a:defRPr>
            </a:pPr>
            <a:r>
              <a:rPr sz="2100" b="1" i="0">
                <a:solidFill>
                  <a:srgbClr val="EF765E"/>
                </a:solidFill>
                <a:latin typeface="Aptos"/>
                <a:ea typeface="Aptos"/>
                <a:cs typeface="Aptos"/>
              </a:rPr>
              <a:t>→</a:t>
            </a:r>
          </a:p>
        </p:txBody>
      </p:sp>
      <p:sp>
        <p:nvSpPr>
          <p:cNvPr id="12" name="">
            <a:extLst xmlns:a="http://schemas.openxmlformats.org/drawingml/2006/main">
              <a:ext uri="{FF2B5EF4-FFF2-40B4-BE49-F238E27FC236}">
                <a16:creationId xmlns:a16="http://schemas.microsoft.com/office/drawing/2014/main" id="{1B242AA7-5520-4CA6-BEFA-ED9151227504}"/>
              </a:ext>
            </a:extLst>
          </p:cNvPr>
          <p:cNvSpPr>
            <a:spLocks xmlns:a="http://schemas.openxmlformats.org/drawingml/2006/main" noGrp="1"/>
          </p:cNvSpPr>
          <p:nvPr/>
        </p:nvSpPr>
        <p:spPr>
          <a:xfrm xmlns:a="http://schemas.openxmlformats.org/drawingml/2006/main">
            <a:off x="2876550" y="2609850"/>
            <a:ext cx="1847850" cy="1619250"/>
          </a:xfrm>
          <a:prstGeom xmlns:a="http://schemas.openxmlformats.org/drawingml/2006/main" prst="roundRect">
            <a:avLst>
              <a:gd name="adj" fmla="val 7059"/>
            </a:avLst>
          </a:prstGeom>
          <a:solidFill xmlns:a="http://schemas.openxmlformats.org/drawingml/2006/main">
            <a:srgbClr val="EDF4F1"/>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5FBF08C6-DBA7-4C00-BC9B-F72590DD4F58}"/>
              </a:ext>
            </a:extLst>
          </p:cNvPr>
          <p:cNvSpPr>
            <a:spLocks xmlns:a="http://schemas.openxmlformats.org/drawingml/2006/main" noGrp="1"/>
          </p:cNvSpPr>
          <p:nvPr/>
        </p:nvSpPr>
        <p:spPr>
          <a:xfrm xmlns:a="http://schemas.openxmlformats.org/drawingml/2006/main">
            <a:off x="3352800" y="2838450"/>
            <a:ext cx="895350" cy="323850"/>
          </a:xfrm>
          <a:prstGeom xmlns:a="http://schemas.openxmlformats.org/drawingml/2006/main" prst="roundRect">
            <a:avLst>
              <a:gd name="adj" fmla="val 35294"/>
            </a:avLst>
          </a:prstGeom>
          <a:solidFill xmlns:a="http://schemas.openxmlformats.org/drawingml/2006/main">
            <a:srgbClr val="055A52"/>
          </a:solidFill>
          <a:ln xmlns:a="http://schemas.openxmlformats.org/drawingml/2006/main" w="0">
            <a:noFill/>
            <a:prstDash val="solid"/>
          </a:ln>
        </p:spPr>
        <p:txBody>
          <a:bodyPr xmlns:a="http://schemas.openxmlformats.org/drawingml/2006/main" lIns="38100" tIns="38100" rIns="38100" bIns="38100" anchor="ctr">
            <a:normAutofit fontScale="100000"/>
          </a:bodyPr>
          <a:lstStyle xmlns:a="http://schemas.openxmlformats.org/drawingml/2006/main">
            <a:defPPr algn="ctr">
              <a:defRPr sz="1050" b="1">
                <a:solidFill>
                  <a:srgbClr val="FFFFFF"/>
                </a:solidFill>
                <a:latin typeface="Aptos"/>
                <a:ea typeface="Aptos"/>
                <a:cs typeface="Aptos"/>
              </a:defRPr>
            </a:defPPr>
          </a:lstStyle>
          <a:p xmlns:a="http://schemas.openxmlformats.org/drawingml/2006/main">
            <a:pPr algn="ctr">
              <a:defRPr sz="1050" b="1">
                <a:solidFill>
                  <a:srgbClr val="FFFFFF"/>
                </a:solidFill>
                <a:latin typeface="Aptos"/>
                <a:ea typeface="Aptos"/>
                <a:cs typeface="Aptos"/>
              </a:defRPr>
            </a:pPr>
            <a:r>
              <a:rPr sz="1050" b="1">
                <a:solidFill>
                  <a:srgbClr val="FFFFFF"/>
                </a:solidFill>
                <a:latin typeface="Aptos"/>
                <a:ea typeface="Aptos"/>
                <a:cs typeface="Aptos"/>
              </a:rPr>
              <a:t>GET</a:t>
            </a:r>
          </a:p>
        </p:txBody>
      </p:sp>
      <p:sp>
        <p:nvSpPr>
          <p:cNvPr id="14" name="">
            <a:extLst xmlns:a="http://schemas.openxmlformats.org/drawingml/2006/main">
              <a:ext uri="{FF2B5EF4-FFF2-40B4-BE49-F238E27FC236}">
                <a16:creationId xmlns:a16="http://schemas.microsoft.com/office/drawing/2014/main" id="{CA4B7B99-FE3D-4AE6-AF60-B29ED4442578}"/>
              </a:ext>
            </a:extLst>
          </p:cNvPr>
          <p:cNvSpPr>
            <a:spLocks xmlns:a="http://schemas.openxmlformats.org/drawingml/2006/main" noGrp="1"/>
          </p:cNvSpPr>
          <p:nvPr/>
        </p:nvSpPr>
        <p:spPr>
          <a:xfrm xmlns:a="http://schemas.openxmlformats.org/drawingml/2006/main">
            <a:off x="3048000" y="3371850"/>
            <a:ext cx="1504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ctr">
              <a:defRPr sz="1500" b="1" i="0">
                <a:solidFill>
                  <a:srgbClr val="102333"/>
                </a:solidFill>
                <a:latin typeface="Aptos"/>
                <a:ea typeface="Aptos"/>
                <a:cs typeface="Aptos"/>
              </a:defRPr>
            </a:defPPr>
          </a:lstStyle>
          <a:p xmlns:a="http://schemas.openxmlformats.org/drawingml/2006/main">
            <a:pPr algn="ctr">
              <a:lnSpc>
                <a:spcPct val="100000"/>
              </a:lnSpc>
              <a:buNone/>
              <a:defRPr sz="1500" b="1" i="0">
                <a:solidFill>
                  <a:srgbClr val="102333"/>
                </a:solidFill>
                <a:latin typeface="Aptos"/>
                <a:ea typeface="Aptos"/>
                <a:cs typeface="Aptos"/>
              </a:defRPr>
            </a:pPr>
            <a:r>
              <a:rPr sz="1500" b="1" i="0">
                <a:solidFill>
                  <a:srgbClr val="102333"/>
                </a:solidFill>
                <a:latin typeface="Aptos"/>
                <a:ea typeface="Aptos"/>
                <a:cs typeface="Aptos"/>
              </a:rPr>
              <a:t>Read</a:t>
            </a:r>
          </a:p>
        </p:txBody>
      </p:sp>
      <p:sp>
        <p:nvSpPr>
          <p:cNvPr id="15" name="">
            <a:extLst xmlns:a="http://schemas.openxmlformats.org/drawingml/2006/main">
              <a:ext uri="{FF2B5EF4-FFF2-40B4-BE49-F238E27FC236}">
                <a16:creationId xmlns:a16="http://schemas.microsoft.com/office/drawing/2014/main" id="{3FF485F6-CF97-4D3B-B016-EBDEBA7D94F7}"/>
              </a:ext>
            </a:extLst>
          </p:cNvPr>
          <p:cNvSpPr>
            <a:spLocks xmlns:a="http://schemas.openxmlformats.org/drawingml/2006/main" noGrp="1"/>
          </p:cNvSpPr>
          <p:nvPr/>
        </p:nvSpPr>
        <p:spPr>
          <a:xfrm xmlns:a="http://schemas.openxmlformats.org/drawingml/2006/main">
            <a:off x="3048000" y="3829050"/>
            <a:ext cx="1504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ctr">
              <a:defRPr sz="1350" b="1" i="0">
                <a:solidFill>
                  <a:srgbClr val="055A52"/>
                </a:solidFill>
                <a:latin typeface="Aptos"/>
                <a:ea typeface="Aptos"/>
                <a:cs typeface="Aptos"/>
              </a:defRPr>
            </a:defPPr>
          </a:lstStyle>
          <a:p xmlns:a="http://schemas.openxmlformats.org/drawingml/2006/main">
            <a:pPr algn="ctr">
              <a:lnSpc>
                <a:spcPct val="100000"/>
              </a:lnSpc>
              <a:buNone/>
              <a:defRPr sz="1350" b="1" i="0">
                <a:solidFill>
                  <a:srgbClr val="055A52"/>
                </a:solidFill>
                <a:latin typeface="Aptos"/>
                <a:ea typeface="Aptos"/>
                <a:cs typeface="Aptos"/>
              </a:defRPr>
            </a:pPr>
            <a:r>
              <a:rPr sz="1350" b="1" i="0">
                <a:solidFill>
                  <a:srgbClr val="055A52"/>
                </a:solidFill>
                <a:latin typeface="Aptos"/>
                <a:ea typeface="Aptos"/>
                <a:cs typeface="Aptos"/>
              </a:rPr>
              <a:t>200</a:t>
            </a:r>
          </a:p>
        </p:txBody>
      </p:sp>
      <p:sp>
        <p:nvSpPr>
          <p:cNvPr id="16" name="">
            <a:extLst xmlns:a="http://schemas.openxmlformats.org/drawingml/2006/main">
              <a:ext uri="{FF2B5EF4-FFF2-40B4-BE49-F238E27FC236}">
                <a16:creationId xmlns:a16="http://schemas.microsoft.com/office/drawing/2014/main" id="{B30943D7-E6BF-4DC1-9069-18F525A05C84}"/>
              </a:ext>
            </a:extLst>
          </p:cNvPr>
          <p:cNvSpPr>
            <a:spLocks xmlns:a="http://schemas.openxmlformats.org/drawingml/2006/main" noGrp="1"/>
          </p:cNvSpPr>
          <p:nvPr/>
        </p:nvSpPr>
        <p:spPr>
          <a:xfrm xmlns:a="http://schemas.openxmlformats.org/drawingml/2006/main">
            <a:off x="4762500" y="3181350"/>
            <a:ext cx="381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ctr">
              <a:defRPr sz="2100" b="1" i="0">
                <a:solidFill>
                  <a:srgbClr val="EF765E"/>
                </a:solidFill>
                <a:latin typeface="Aptos"/>
                <a:ea typeface="Aptos"/>
                <a:cs typeface="Aptos"/>
              </a:defRPr>
            </a:defPPr>
          </a:lstStyle>
          <a:p xmlns:a="http://schemas.openxmlformats.org/drawingml/2006/main">
            <a:pPr algn="ctr">
              <a:lnSpc>
                <a:spcPct val="100000"/>
              </a:lnSpc>
              <a:buNone/>
              <a:defRPr sz="2100" b="1" i="0">
                <a:solidFill>
                  <a:srgbClr val="EF765E"/>
                </a:solidFill>
                <a:latin typeface="Aptos"/>
                <a:ea typeface="Aptos"/>
                <a:cs typeface="Aptos"/>
              </a:defRPr>
            </a:pPr>
            <a:r>
              <a:rPr sz="2100" b="1" i="0">
                <a:solidFill>
                  <a:srgbClr val="EF765E"/>
                </a:solidFill>
                <a:latin typeface="Aptos"/>
                <a:ea typeface="Aptos"/>
                <a:cs typeface="Aptos"/>
              </a:rPr>
              <a:t>→</a:t>
            </a:r>
          </a:p>
        </p:txBody>
      </p:sp>
      <p:sp>
        <p:nvSpPr>
          <p:cNvPr id="17" name="">
            <a:extLst xmlns:a="http://schemas.openxmlformats.org/drawingml/2006/main">
              <a:ext uri="{FF2B5EF4-FFF2-40B4-BE49-F238E27FC236}">
                <a16:creationId xmlns:a16="http://schemas.microsoft.com/office/drawing/2014/main" id="{C16844D3-2CB8-47E9-B648-53D88117C8C0}"/>
              </a:ext>
            </a:extLst>
          </p:cNvPr>
          <p:cNvSpPr>
            <a:spLocks xmlns:a="http://schemas.openxmlformats.org/drawingml/2006/main" noGrp="1"/>
          </p:cNvSpPr>
          <p:nvPr/>
        </p:nvSpPr>
        <p:spPr>
          <a:xfrm xmlns:a="http://schemas.openxmlformats.org/drawingml/2006/main">
            <a:off x="5200650" y="2609850"/>
            <a:ext cx="1847850" cy="1619250"/>
          </a:xfrm>
          <a:prstGeom xmlns:a="http://schemas.openxmlformats.org/drawingml/2006/main" prst="roundRect">
            <a:avLst>
              <a:gd name="adj" fmla="val 7059"/>
            </a:avLst>
          </a:prstGeom>
          <a:solidFill xmlns:a="http://schemas.openxmlformats.org/drawingml/2006/main">
            <a:srgbClr val="EDF4F1"/>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8619D15F-7CE4-498D-8D29-D8799FBF32D3}"/>
              </a:ext>
            </a:extLst>
          </p:cNvPr>
          <p:cNvSpPr>
            <a:spLocks xmlns:a="http://schemas.openxmlformats.org/drawingml/2006/main" noGrp="1"/>
          </p:cNvSpPr>
          <p:nvPr/>
        </p:nvSpPr>
        <p:spPr>
          <a:xfrm xmlns:a="http://schemas.openxmlformats.org/drawingml/2006/main">
            <a:off x="5676900" y="2838450"/>
            <a:ext cx="895350" cy="323850"/>
          </a:xfrm>
          <a:prstGeom xmlns:a="http://schemas.openxmlformats.org/drawingml/2006/main" prst="roundRect">
            <a:avLst>
              <a:gd name="adj" fmla="val 35294"/>
            </a:avLst>
          </a:prstGeom>
          <a:solidFill xmlns:a="http://schemas.openxmlformats.org/drawingml/2006/main">
            <a:srgbClr val="055A52"/>
          </a:solidFill>
          <a:ln xmlns:a="http://schemas.openxmlformats.org/drawingml/2006/main" w="0">
            <a:noFill/>
            <a:prstDash val="solid"/>
          </a:ln>
        </p:spPr>
        <p:txBody>
          <a:bodyPr xmlns:a="http://schemas.openxmlformats.org/drawingml/2006/main" lIns="38100" tIns="38100" rIns="38100" bIns="38100" anchor="ctr">
            <a:normAutofit fontScale="100000"/>
          </a:bodyPr>
          <a:lstStyle xmlns:a="http://schemas.openxmlformats.org/drawingml/2006/main">
            <a:defPPr algn="ctr">
              <a:defRPr sz="1050" b="1">
                <a:solidFill>
                  <a:srgbClr val="FFFFFF"/>
                </a:solidFill>
                <a:latin typeface="Aptos"/>
                <a:ea typeface="Aptos"/>
                <a:cs typeface="Aptos"/>
              </a:defRPr>
            </a:defPPr>
          </a:lstStyle>
          <a:p xmlns:a="http://schemas.openxmlformats.org/drawingml/2006/main">
            <a:pPr algn="ctr">
              <a:defRPr sz="1050" b="1">
                <a:solidFill>
                  <a:srgbClr val="FFFFFF"/>
                </a:solidFill>
                <a:latin typeface="Aptos"/>
                <a:ea typeface="Aptos"/>
                <a:cs typeface="Aptos"/>
              </a:defRPr>
            </a:pPr>
            <a:r>
              <a:rPr sz="1050" b="1">
                <a:solidFill>
                  <a:srgbClr val="FFFFFF"/>
                </a:solidFill>
                <a:latin typeface="Aptos"/>
                <a:ea typeface="Aptos"/>
                <a:cs typeface="Aptos"/>
              </a:rPr>
              <a:t>PUT</a:t>
            </a:r>
          </a:p>
        </p:txBody>
      </p:sp>
      <p:sp>
        <p:nvSpPr>
          <p:cNvPr id="19" name="">
            <a:extLst xmlns:a="http://schemas.openxmlformats.org/drawingml/2006/main">
              <a:ext uri="{FF2B5EF4-FFF2-40B4-BE49-F238E27FC236}">
                <a16:creationId xmlns:a16="http://schemas.microsoft.com/office/drawing/2014/main" id="{4C39BEA4-72E2-44C0-B675-4140D6CCAD97}"/>
              </a:ext>
            </a:extLst>
          </p:cNvPr>
          <p:cNvSpPr>
            <a:spLocks xmlns:a="http://schemas.openxmlformats.org/drawingml/2006/main" noGrp="1"/>
          </p:cNvSpPr>
          <p:nvPr/>
        </p:nvSpPr>
        <p:spPr>
          <a:xfrm xmlns:a="http://schemas.openxmlformats.org/drawingml/2006/main">
            <a:off x="5372100" y="3371850"/>
            <a:ext cx="1504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ctr">
              <a:defRPr sz="1500" b="1" i="0">
                <a:solidFill>
                  <a:srgbClr val="102333"/>
                </a:solidFill>
                <a:latin typeface="Aptos"/>
                <a:ea typeface="Aptos"/>
                <a:cs typeface="Aptos"/>
              </a:defRPr>
            </a:defPPr>
          </a:lstStyle>
          <a:p xmlns:a="http://schemas.openxmlformats.org/drawingml/2006/main">
            <a:pPr algn="ctr">
              <a:lnSpc>
                <a:spcPct val="100000"/>
              </a:lnSpc>
              <a:buNone/>
              <a:defRPr sz="1500" b="1" i="0">
                <a:solidFill>
                  <a:srgbClr val="102333"/>
                </a:solidFill>
                <a:latin typeface="Aptos"/>
                <a:ea typeface="Aptos"/>
                <a:cs typeface="Aptos"/>
              </a:defRPr>
            </a:pPr>
            <a:r>
              <a:rPr sz="1500" b="1" i="0">
                <a:solidFill>
                  <a:srgbClr val="102333"/>
                </a:solidFill>
                <a:latin typeface="Aptos"/>
                <a:ea typeface="Aptos"/>
                <a:cs typeface="Aptos"/>
              </a:rPr>
              <a:t>Replace</a:t>
            </a:r>
          </a:p>
        </p:txBody>
      </p:sp>
      <p:sp>
        <p:nvSpPr>
          <p:cNvPr id="20" name="">
            <a:extLst xmlns:a="http://schemas.openxmlformats.org/drawingml/2006/main">
              <a:ext uri="{FF2B5EF4-FFF2-40B4-BE49-F238E27FC236}">
                <a16:creationId xmlns:a16="http://schemas.microsoft.com/office/drawing/2014/main" id="{CDC71BAC-5305-4E2F-A48A-FAEF16866A73}"/>
              </a:ext>
            </a:extLst>
          </p:cNvPr>
          <p:cNvSpPr>
            <a:spLocks xmlns:a="http://schemas.openxmlformats.org/drawingml/2006/main" noGrp="1"/>
          </p:cNvSpPr>
          <p:nvPr/>
        </p:nvSpPr>
        <p:spPr>
          <a:xfrm xmlns:a="http://schemas.openxmlformats.org/drawingml/2006/main">
            <a:off x="5372100" y="3829050"/>
            <a:ext cx="1504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ctr">
              <a:defRPr sz="1350" b="1" i="0">
                <a:solidFill>
                  <a:srgbClr val="055A52"/>
                </a:solidFill>
                <a:latin typeface="Aptos"/>
                <a:ea typeface="Aptos"/>
                <a:cs typeface="Aptos"/>
              </a:defRPr>
            </a:defPPr>
          </a:lstStyle>
          <a:p xmlns:a="http://schemas.openxmlformats.org/drawingml/2006/main">
            <a:pPr algn="ctr">
              <a:lnSpc>
                <a:spcPct val="100000"/>
              </a:lnSpc>
              <a:buNone/>
              <a:defRPr sz="1350" b="1" i="0">
                <a:solidFill>
                  <a:srgbClr val="055A52"/>
                </a:solidFill>
                <a:latin typeface="Aptos"/>
                <a:ea typeface="Aptos"/>
                <a:cs typeface="Aptos"/>
              </a:defRPr>
            </a:pPr>
            <a:r>
              <a:rPr sz="1350" b="1" i="0">
                <a:solidFill>
                  <a:srgbClr val="055A52"/>
                </a:solidFill>
                <a:latin typeface="Aptos"/>
                <a:ea typeface="Aptos"/>
                <a:cs typeface="Aptos"/>
              </a:rPr>
              <a:t>200</a:t>
            </a:r>
          </a:p>
        </p:txBody>
      </p:sp>
      <p:sp>
        <p:nvSpPr>
          <p:cNvPr id="21" name="">
            <a:extLst xmlns:a="http://schemas.openxmlformats.org/drawingml/2006/main">
              <a:ext uri="{FF2B5EF4-FFF2-40B4-BE49-F238E27FC236}">
                <a16:creationId xmlns:a16="http://schemas.microsoft.com/office/drawing/2014/main" id="{0EBCF09F-8A9F-4275-B0B0-FE5F59083031}"/>
              </a:ext>
            </a:extLst>
          </p:cNvPr>
          <p:cNvSpPr>
            <a:spLocks xmlns:a="http://schemas.openxmlformats.org/drawingml/2006/main" noGrp="1"/>
          </p:cNvSpPr>
          <p:nvPr/>
        </p:nvSpPr>
        <p:spPr>
          <a:xfrm xmlns:a="http://schemas.openxmlformats.org/drawingml/2006/main">
            <a:off x="7086600" y="3181350"/>
            <a:ext cx="381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ctr">
              <a:defRPr sz="2100" b="1" i="0">
                <a:solidFill>
                  <a:srgbClr val="EF765E"/>
                </a:solidFill>
                <a:latin typeface="Aptos"/>
                <a:ea typeface="Aptos"/>
                <a:cs typeface="Aptos"/>
              </a:defRPr>
            </a:defPPr>
          </a:lstStyle>
          <a:p xmlns:a="http://schemas.openxmlformats.org/drawingml/2006/main">
            <a:pPr algn="ctr">
              <a:lnSpc>
                <a:spcPct val="100000"/>
              </a:lnSpc>
              <a:buNone/>
              <a:defRPr sz="2100" b="1" i="0">
                <a:solidFill>
                  <a:srgbClr val="EF765E"/>
                </a:solidFill>
                <a:latin typeface="Aptos"/>
                <a:ea typeface="Aptos"/>
                <a:cs typeface="Aptos"/>
              </a:defRPr>
            </a:pPr>
            <a:r>
              <a:rPr sz="2100" b="1" i="0">
                <a:solidFill>
                  <a:srgbClr val="EF765E"/>
                </a:solidFill>
                <a:latin typeface="Aptos"/>
                <a:ea typeface="Aptos"/>
                <a:cs typeface="Aptos"/>
              </a:rPr>
              <a:t>→</a:t>
            </a:r>
          </a:p>
        </p:txBody>
      </p:sp>
      <p:sp>
        <p:nvSpPr>
          <p:cNvPr id="22" name="">
            <a:extLst xmlns:a="http://schemas.openxmlformats.org/drawingml/2006/main">
              <a:ext uri="{FF2B5EF4-FFF2-40B4-BE49-F238E27FC236}">
                <a16:creationId xmlns:a16="http://schemas.microsoft.com/office/drawing/2014/main" id="{41608CAF-5D43-442C-8303-F4B7D95F8ABE}"/>
              </a:ext>
            </a:extLst>
          </p:cNvPr>
          <p:cNvSpPr>
            <a:spLocks xmlns:a="http://schemas.openxmlformats.org/drawingml/2006/main" noGrp="1"/>
          </p:cNvSpPr>
          <p:nvPr/>
        </p:nvSpPr>
        <p:spPr>
          <a:xfrm xmlns:a="http://schemas.openxmlformats.org/drawingml/2006/main">
            <a:off x="7524750" y="2609850"/>
            <a:ext cx="1847850" cy="1619250"/>
          </a:xfrm>
          <a:prstGeom xmlns:a="http://schemas.openxmlformats.org/drawingml/2006/main" prst="roundRect">
            <a:avLst>
              <a:gd name="adj" fmla="val 7059"/>
            </a:avLst>
          </a:prstGeom>
          <a:solidFill xmlns:a="http://schemas.openxmlformats.org/drawingml/2006/main">
            <a:srgbClr val="EDF4F1"/>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3B8451C5-5EE1-4EDA-9806-21394CE2B73D}"/>
              </a:ext>
            </a:extLst>
          </p:cNvPr>
          <p:cNvSpPr>
            <a:spLocks xmlns:a="http://schemas.openxmlformats.org/drawingml/2006/main" noGrp="1"/>
          </p:cNvSpPr>
          <p:nvPr/>
        </p:nvSpPr>
        <p:spPr>
          <a:xfrm xmlns:a="http://schemas.openxmlformats.org/drawingml/2006/main">
            <a:off x="8001000" y="2838450"/>
            <a:ext cx="895350" cy="323850"/>
          </a:xfrm>
          <a:prstGeom xmlns:a="http://schemas.openxmlformats.org/drawingml/2006/main" prst="roundRect">
            <a:avLst>
              <a:gd name="adj" fmla="val 35294"/>
            </a:avLst>
          </a:prstGeom>
          <a:solidFill xmlns:a="http://schemas.openxmlformats.org/drawingml/2006/main">
            <a:srgbClr val="055A52"/>
          </a:solidFill>
          <a:ln xmlns:a="http://schemas.openxmlformats.org/drawingml/2006/main" w="0">
            <a:noFill/>
            <a:prstDash val="solid"/>
          </a:ln>
        </p:spPr>
        <p:txBody>
          <a:bodyPr xmlns:a="http://schemas.openxmlformats.org/drawingml/2006/main" lIns="38100" tIns="38100" rIns="38100" bIns="38100" anchor="ctr">
            <a:normAutofit fontScale="100000"/>
          </a:bodyPr>
          <a:lstStyle xmlns:a="http://schemas.openxmlformats.org/drawingml/2006/main">
            <a:defPPr algn="ctr">
              <a:defRPr sz="1050" b="1">
                <a:solidFill>
                  <a:srgbClr val="FFFFFF"/>
                </a:solidFill>
                <a:latin typeface="Aptos"/>
                <a:ea typeface="Aptos"/>
                <a:cs typeface="Aptos"/>
              </a:defRPr>
            </a:defPPr>
          </a:lstStyle>
          <a:p xmlns:a="http://schemas.openxmlformats.org/drawingml/2006/main">
            <a:pPr algn="ctr">
              <a:defRPr sz="1050" b="1">
                <a:solidFill>
                  <a:srgbClr val="FFFFFF"/>
                </a:solidFill>
                <a:latin typeface="Aptos"/>
                <a:ea typeface="Aptos"/>
                <a:cs typeface="Aptos"/>
              </a:defRPr>
            </a:pPr>
            <a:r>
              <a:rPr sz="1050" b="1">
                <a:solidFill>
                  <a:srgbClr val="FFFFFF"/>
                </a:solidFill>
                <a:latin typeface="Aptos"/>
                <a:ea typeface="Aptos"/>
                <a:cs typeface="Aptos"/>
              </a:rPr>
              <a:t>DELETE</a:t>
            </a:r>
          </a:p>
        </p:txBody>
      </p:sp>
      <p:sp>
        <p:nvSpPr>
          <p:cNvPr id="24" name="">
            <a:extLst xmlns:a="http://schemas.openxmlformats.org/drawingml/2006/main">
              <a:ext uri="{FF2B5EF4-FFF2-40B4-BE49-F238E27FC236}">
                <a16:creationId xmlns:a16="http://schemas.microsoft.com/office/drawing/2014/main" id="{F4A98A08-71AF-4A19-865A-D071FCA0F037}"/>
              </a:ext>
            </a:extLst>
          </p:cNvPr>
          <p:cNvSpPr>
            <a:spLocks xmlns:a="http://schemas.openxmlformats.org/drawingml/2006/main" noGrp="1"/>
          </p:cNvSpPr>
          <p:nvPr/>
        </p:nvSpPr>
        <p:spPr>
          <a:xfrm xmlns:a="http://schemas.openxmlformats.org/drawingml/2006/main">
            <a:off x="7696200" y="3371850"/>
            <a:ext cx="1504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ctr">
              <a:defRPr sz="1500" b="1" i="0">
                <a:solidFill>
                  <a:srgbClr val="102333"/>
                </a:solidFill>
                <a:latin typeface="Aptos"/>
                <a:ea typeface="Aptos"/>
                <a:cs typeface="Aptos"/>
              </a:defRPr>
            </a:defPPr>
          </a:lstStyle>
          <a:p xmlns:a="http://schemas.openxmlformats.org/drawingml/2006/main">
            <a:pPr algn="ctr">
              <a:lnSpc>
                <a:spcPct val="100000"/>
              </a:lnSpc>
              <a:buNone/>
              <a:defRPr sz="1500" b="1" i="0">
                <a:solidFill>
                  <a:srgbClr val="102333"/>
                </a:solidFill>
                <a:latin typeface="Aptos"/>
                <a:ea typeface="Aptos"/>
                <a:cs typeface="Aptos"/>
              </a:defRPr>
            </a:pPr>
            <a:r>
              <a:rPr sz="1500" b="1" i="0">
                <a:solidFill>
                  <a:srgbClr val="102333"/>
                </a:solidFill>
                <a:latin typeface="Aptos"/>
                <a:ea typeface="Aptos"/>
                <a:cs typeface="Aptos"/>
              </a:rPr>
              <a:t>Remove</a:t>
            </a:r>
          </a:p>
        </p:txBody>
      </p:sp>
      <p:sp>
        <p:nvSpPr>
          <p:cNvPr id="25" name="">
            <a:extLst xmlns:a="http://schemas.openxmlformats.org/drawingml/2006/main">
              <a:ext uri="{FF2B5EF4-FFF2-40B4-BE49-F238E27FC236}">
                <a16:creationId xmlns:a16="http://schemas.microsoft.com/office/drawing/2014/main" id="{888EACD3-4059-4DC6-B3BC-807D5C99B584}"/>
              </a:ext>
            </a:extLst>
          </p:cNvPr>
          <p:cNvSpPr>
            <a:spLocks xmlns:a="http://schemas.openxmlformats.org/drawingml/2006/main" noGrp="1"/>
          </p:cNvSpPr>
          <p:nvPr/>
        </p:nvSpPr>
        <p:spPr>
          <a:xfrm xmlns:a="http://schemas.openxmlformats.org/drawingml/2006/main">
            <a:off x="7696200" y="3829050"/>
            <a:ext cx="1504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ctr">
              <a:defRPr sz="1350" b="1" i="0">
                <a:solidFill>
                  <a:srgbClr val="055A52"/>
                </a:solidFill>
                <a:latin typeface="Aptos"/>
                <a:ea typeface="Aptos"/>
                <a:cs typeface="Aptos"/>
              </a:defRPr>
            </a:defPPr>
          </a:lstStyle>
          <a:p xmlns:a="http://schemas.openxmlformats.org/drawingml/2006/main">
            <a:pPr algn="ctr">
              <a:lnSpc>
                <a:spcPct val="100000"/>
              </a:lnSpc>
              <a:buNone/>
              <a:defRPr sz="1350" b="1" i="0">
                <a:solidFill>
                  <a:srgbClr val="055A52"/>
                </a:solidFill>
                <a:latin typeface="Aptos"/>
                <a:ea typeface="Aptos"/>
                <a:cs typeface="Aptos"/>
              </a:defRPr>
            </a:pPr>
            <a:r>
              <a:rPr sz="1350" b="1" i="0">
                <a:solidFill>
                  <a:srgbClr val="055A52"/>
                </a:solidFill>
                <a:latin typeface="Aptos"/>
                <a:ea typeface="Aptos"/>
                <a:cs typeface="Aptos"/>
              </a:rPr>
              <a:t>204</a:t>
            </a:r>
          </a:p>
        </p:txBody>
      </p:sp>
      <p:sp>
        <p:nvSpPr>
          <p:cNvPr id="26" name="">
            <a:extLst xmlns:a="http://schemas.openxmlformats.org/drawingml/2006/main">
              <a:ext uri="{FF2B5EF4-FFF2-40B4-BE49-F238E27FC236}">
                <a16:creationId xmlns:a16="http://schemas.microsoft.com/office/drawing/2014/main" id="{C1BE645C-DE1A-4E76-AD43-A65A10CE83E0}"/>
              </a:ext>
            </a:extLst>
          </p:cNvPr>
          <p:cNvSpPr>
            <a:spLocks xmlns:a="http://schemas.openxmlformats.org/drawingml/2006/main" noGrp="1"/>
          </p:cNvSpPr>
          <p:nvPr/>
        </p:nvSpPr>
        <p:spPr>
          <a:xfrm xmlns:a="http://schemas.openxmlformats.org/drawingml/2006/main">
            <a:off x="9410700" y="3181350"/>
            <a:ext cx="381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ctr">
              <a:defRPr sz="2100" b="1" i="0">
                <a:solidFill>
                  <a:srgbClr val="EF765E"/>
                </a:solidFill>
                <a:latin typeface="Aptos"/>
                <a:ea typeface="Aptos"/>
                <a:cs typeface="Aptos"/>
              </a:defRPr>
            </a:defPPr>
          </a:lstStyle>
          <a:p xmlns:a="http://schemas.openxmlformats.org/drawingml/2006/main">
            <a:pPr algn="ctr">
              <a:lnSpc>
                <a:spcPct val="100000"/>
              </a:lnSpc>
              <a:buNone/>
              <a:defRPr sz="2100" b="1" i="0">
                <a:solidFill>
                  <a:srgbClr val="EF765E"/>
                </a:solidFill>
                <a:latin typeface="Aptos"/>
                <a:ea typeface="Aptos"/>
                <a:cs typeface="Aptos"/>
              </a:defRPr>
            </a:pPr>
            <a:r>
              <a:rPr sz="2100" b="1" i="0">
                <a:solidFill>
                  <a:srgbClr val="EF765E"/>
                </a:solidFill>
                <a:latin typeface="Aptos"/>
                <a:ea typeface="Aptos"/>
                <a:cs typeface="Aptos"/>
              </a:rPr>
              <a:t>→</a:t>
            </a:r>
          </a:p>
        </p:txBody>
      </p:sp>
      <p:sp>
        <p:nvSpPr>
          <p:cNvPr id="27" name="">
            <a:extLst xmlns:a="http://schemas.openxmlformats.org/drawingml/2006/main">
              <a:ext uri="{FF2B5EF4-FFF2-40B4-BE49-F238E27FC236}">
                <a16:creationId xmlns:a16="http://schemas.microsoft.com/office/drawing/2014/main" id="{3BD69FAB-5E6E-48F7-BA85-09F67625B244}"/>
              </a:ext>
            </a:extLst>
          </p:cNvPr>
          <p:cNvSpPr>
            <a:spLocks xmlns:a="http://schemas.openxmlformats.org/drawingml/2006/main" noGrp="1"/>
          </p:cNvSpPr>
          <p:nvPr/>
        </p:nvSpPr>
        <p:spPr>
          <a:xfrm xmlns:a="http://schemas.openxmlformats.org/drawingml/2006/main">
            <a:off x="9848850" y="2609850"/>
            <a:ext cx="1847850" cy="1619250"/>
          </a:xfrm>
          <a:prstGeom xmlns:a="http://schemas.openxmlformats.org/drawingml/2006/main" prst="roundRect">
            <a:avLst>
              <a:gd name="adj" fmla="val 7059"/>
            </a:avLst>
          </a:prstGeom>
          <a:solidFill xmlns:a="http://schemas.openxmlformats.org/drawingml/2006/main">
            <a:srgbClr val="FFF1EC"/>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B1D3CFC2-C311-4FFF-B811-D9AA4D78A72E}"/>
              </a:ext>
            </a:extLst>
          </p:cNvPr>
          <p:cNvSpPr>
            <a:spLocks xmlns:a="http://schemas.openxmlformats.org/drawingml/2006/main" noGrp="1"/>
          </p:cNvSpPr>
          <p:nvPr/>
        </p:nvSpPr>
        <p:spPr>
          <a:xfrm xmlns:a="http://schemas.openxmlformats.org/drawingml/2006/main">
            <a:off x="10325100" y="2838450"/>
            <a:ext cx="895350" cy="323850"/>
          </a:xfrm>
          <a:prstGeom xmlns:a="http://schemas.openxmlformats.org/drawingml/2006/main" prst="roundRect">
            <a:avLst>
              <a:gd name="adj" fmla="val 35294"/>
            </a:avLst>
          </a:prstGeom>
          <a:solidFill xmlns:a="http://schemas.openxmlformats.org/drawingml/2006/main">
            <a:srgbClr val="EF765E"/>
          </a:solidFill>
          <a:ln xmlns:a="http://schemas.openxmlformats.org/drawingml/2006/main" w="0">
            <a:noFill/>
            <a:prstDash val="solid"/>
          </a:ln>
        </p:spPr>
        <p:txBody>
          <a:bodyPr xmlns:a="http://schemas.openxmlformats.org/drawingml/2006/main" lIns="38100" tIns="38100" rIns="38100" bIns="38100" anchor="ctr">
            <a:normAutofit fontScale="100000"/>
          </a:bodyPr>
          <a:lstStyle xmlns:a="http://schemas.openxmlformats.org/drawingml/2006/main">
            <a:defPPr algn="ctr">
              <a:defRPr sz="1050" b="1">
                <a:solidFill>
                  <a:srgbClr val="FFFFFF"/>
                </a:solidFill>
                <a:latin typeface="Aptos"/>
                <a:ea typeface="Aptos"/>
                <a:cs typeface="Aptos"/>
              </a:defRPr>
            </a:defPPr>
          </a:lstStyle>
          <a:p xmlns:a="http://schemas.openxmlformats.org/drawingml/2006/main">
            <a:pPr algn="ctr">
              <a:defRPr sz="1050" b="1">
                <a:solidFill>
                  <a:srgbClr val="FFFFFF"/>
                </a:solidFill>
                <a:latin typeface="Aptos"/>
                <a:ea typeface="Aptos"/>
                <a:cs typeface="Aptos"/>
              </a:defRPr>
            </a:pPr>
            <a:r>
              <a:rPr sz="1050" b="1">
                <a:solidFill>
                  <a:srgbClr val="FFFFFF"/>
                </a:solidFill>
                <a:latin typeface="Aptos"/>
                <a:ea typeface="Aptos"/>
                <a:cs typeface="Aptos"/>
              </a:rPr>
              <a:t>GET</a:t>
            </a:r>
          </a:p>
        </p:txBody>
      </p:sp>
      <p:sp>
        <p:nvSpPr>
          <p:cNvPr id="29" name="">
            <a:extLst xmlns:a="http://schemas.openxmlformats.org/drawingml/2006/main">
              <a:ext uri="{FF2B5EF4-FFF2-40B4-BE49-F238E27FC236}">
                <a16:creationId xmlns:a16="http://schemas.microsoft.com/office/drawing/2014/main" id="{C8AC3B1A-5D38-429F-ABD3-8CCCEB530F31}"/>
              </a:ext>
            </a:extLst>
          </p:cNvPr>
          <p:cNvSpPr>
            <a:spLocks xmlns:a="http://schemas.openxmlformats.org/drawingml/2006/main" noGrp="1"/>
          </p:cNvSpPr>
          <p:nvPr/>
        </p:nvSpPr>
        <p:spPr>
          <a:xfrm xmlns:a="http://schemas.openxmlformats.org/drawingml/2006/main">
            <a:off x="10020300" y="3371850"/>
            <a:ext cx="1504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ctr">
              <a:defRPr sz="1500" b="1" i="0">
                <a:solidFill>
                  <a:srgbClr val="102333"/>
                </a:solidFill>
                <a:latin typeface="Aptos"/>
                <a:ea typeface="Aptos"/>
                <a:cs typeface="Aptos"/>
              </a:defRPr>
            </a:defPPr>
          </a:lstStyle>
          <a:p xmlns:a="http://schemas.openxmlformats.org/drawingml/2006/main">
            <a:pPr algn="ctr">
              <a:lnSpc>
                <a:spcPct val="100000"/>
              </a:lnSpc>
              <a:buNone/>
              <a:defRPr sz="1500" b="1" i="0">
                <a:solidFill>
                  <a:srgbClr val="102333"/>
                </a:solidFill>
                <a:latin typeface="Aptos"/>
                <a:ea typeface="Aptos"/>
                <a:cs typeface="Aptos"/>
              </a:defRPr>
            </a:pPr>
            <a:r>
              <a:rPr sz="1500" b="1" i="0">
                <a:solidFill>
                  <a:srgbClr val="102333"/>
                </a:solidFill>
                <a:latin typeface="Aptos"/>
                <a:ea typeface="Aptos"/>
                <a:cs typeface="Aptos"/>
              </a:rPr>
              <a:t>Confirm missing</a:t>
            </a:r>
          </a:p>
        </p:txBody>
      </p:sp>
      <p:sp>
        <p:nvSpPr>
          <p:cNvPr id="30" name="">
            <a:extLst xmlns:a="http://schemas.openxmlformats.org/drawingml/2006/main">
              <a:ext uri="{FF2B5EF4-FFF2-40B4-BE49-F238E27FC236}">
                <a16:creationId xmlns:a16="http://schemas.microsoft.com/office/drawing/2014/main" id="{09E8594B-3F5C-4D2D-B433-B3216D76A22C}"/>
              </a:ext>
            </a:extLst>
          </p:cNvPr>
          <p:cNvSpPr>
            <a:spLocks xmlns:a="http://schemas.openxmlformats.org/drawingml/2006/main" noGrp="1"/>
          </p:cNvSpPr>
          <p:nvPr/>
        </p:nvSpPr>
        <p:spPr>
          <a:xfrm xmlns:a="http://schemas.openxmlformats.org/drawingml/2006/main">
            <a:off x="10020300" y="3829050"/>
            <a:ext cx="1504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ctr">
              <a:defRPr sz="1350" b="1" i="0">
                <a:solidFill>
                  <a:srgbClr val="EF765E"/>
                </a:solidFill>
                <a:latin typeface="Aptos"/>
                <a:ea typeface="Aptos"/>
                <a:cs typeface="Aptos"/>
              </a:defRPr>
            </a:defPPr>
          </a:lstStyle>
          <a:p xmlns:a="http://schemas.openxmlformats.org/drawingml/2006/main">
            <a:pPr algn="ctr">
              <a:lnSpc>
                <a:spcPct val="100000"/>
              </a:lnSpc>
              <a:buNone/>
              <a:defRPr sz="1350" b="1" i="0">
                <a:solidFill>
                  <a:srgbClr val="EF765E"/>
                </a:solidFill>
                <a:latin typeface="Aptos"/>
                <a:ea typeface="Aptos"/>
                <a:cs typeface="Aptos"/>
              </a:defRPr>
            </a:pPr>
            <a:r>
              <a:rPr sz="1350" b="1" i="0">
                <a:solidFill>
                  <a:srgbClr val="EF765E"/>
                </a:solidFill>
                <a:latin typeface="Aptos"/>
                <a:ea typeface="Aptos"/>
                <a:cs typeface="Aptos"/>
              </a:rPr>
              <a:t>404</a:t>
            </a:r>
          </a:p>
        </p:txBody>
      </p:sp>
      <p:sp>
        <p:nvSpPr>
          <p:cNvPr id="31" name="">
            <a:extLst xmlns:a="http://schemas.openxmlformats.org/drawingml/2006/main">
              <a:ext uri="{FF2B5EF4-FFF2-40B4-BE49-F238E27FC236}">
                <a16:creationId xmlns:a16="http://schemas.microsoft.com/office/drawing/2014/main" id="{40B749A6-D041-48A5-B603-D55792921AC1}"/>
              </a:ext>
            </a:extLst>
          </p:cNvPr>
          <p:cNvSpPr>
            <a:spLocks xmlns:a="http://schemas.openxmlformats.org/drawingml/2006/main" noGrp="1"/>
          </p:cNvSpPr>
          <p:nvPr/>
        </p:nvSpPr>
        <p:spPr>
          <a:xfrm xmlns:a="http://schemas.openxmlformats.org/drawingml/2006/main">
            <a:off x="1333500" y="4857750"/>
            <a:ext cx="9525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ctr">
              <a:defRPr sz="1350" b="0" i="0">
                <a:solidFill>
                  <a:srgbClr val="536876"/>
                </a:solidFill>
                <a:latin typeface="Aptos"/>
                <a:ea typeface="Aptos"/>
                <a:cs typeface="Aptos"/>
              </a:defRPr>
            </a:defPPr>
          </a:lstStyle>
          <a:p xmlns:a="http://schemas.openxmlformats.org/drawingml/2006/main">
            <a:pPr algn="ctr">
              <a:lnSpc>
                <a:spcPct val="100000"/>
              </a:lnSpc>
              <a:buNone/>
              <a:defRPr sz="1350" b="0" i="0">
                <a:solidFill>
                  <a:srgbClr val="536876"/>
                </a:solidFill>
                <a:latin typeface="Aptos"/>
                <a:ea typeface="Aptos"/>
                <a:cs typeface="Aptos"/>
              </a:defRPr>
            </a:pPr>
            <a:r>
              <a:rPr sz="1350" b="0" i="0">
                <a:solidFill>
                  <a:srgbClr val="536876"/>
                </a:solidFill>
                <a:latin typeface="Aptos"/>
                <a:ea typeface="Aptos"/>
                <a:cs typeface="Aptos"/>
              </a:rPr>
              <a:t>The automated test suite covers this full sequence even though the live demo stops after validation.</a:t>
            </a:r>
          </a:p>
        </p:txBody>
      </p:sp>
    </p:spTree>
    <p:extLst>
      <p:ext uri="{BB962C8B-B14F-4D97-AF65-F5344CB8AC3E}">
        <p14:creationId xmlns:p14="http://schemas.microsoft.com/office/powerpoint/2010/main" val="884565016"/>
      </p:ext>
    </p:extLst>
  </p:cSld>
</p:sld>
</file>

<file path=ppt/slides/slide15.xml><?xml version="1.0" encoding="utf-8"?>
<p:sld xmlns:p="http://schemas.openxmlformats.org/presentationml/2006/main">
  <p:cSld>
    <p:bg>
      <p:bgPr>
        <a:solidFill xmlns:a="http://schemas.openxmlformats.org/drawingml/2006/main">
          <a:srgbClr val="FFFD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48CD9B3A-E173-44BA-9F04-39447B200DEE}"/>
              </a:ext>
            </a:extLst>
          </p:cNvPr>
          <p:cNvSpPr>
            <a:spLocks xmlns:a="http://schemas.openxmlformats.org/drawingml/2006/main" noGrp="1"/>
          </p:cNvSpPr>
          <p:nvPr/>
        </p:nvSpPr>
        <p:spPr>
          <a:xfrm xmlns:a="http://schemas.openxmlformats.org/drawingml/2006/main">
            <a:off x="609600" y="45720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75" b="1" i="0">
                <a:solidFill>
                  <a:srgbClr val="055A52"/>
                </a:solidFill>
                <a:latin typeface="Aptos"/>
                <a:ea typeface="Aptos"/>
                <a:cs typeface="Aptos"/>
              </a:defRPr>
            </a:defPPr>
          </a:lstStyle>
          <a:p xmlns:a="http://schemas.openxmlformats.org/drawingml/2006/main">
            <a:pPr algn="l">
              <a:lnSpc>
                <a:spcPct val="100000"/>
              </a:lnSpc>
              <a:buNone/>
              <a:defRPr sz="975" b="1" i="0">
                <a:solidFill>
                  <a:srgbClr val="055A52"/>
                </a:solidFill>
                <a:latin typeface="Aptos"/>
                <a:ea typeface="Aptos"/>
                <a:cs typeface="Aptos"/>
              </a:defRPr>
            </a:pPr>
            <a:r>
              <a:rPr sz="975" b="1" i="0">
                <a:solidFill>
                  <a:srgbClr val="055A52"/>
                </a:solidFill>
                <a:latin typeface="Aptos"/>
                <a:ea typeface="Aptos"/>
                <a:cs typeface="Aptos"/>
              </a:rPr>
              <a:t>BACKUP · QUESTIONS</a:t>
            </a:r>
          </a:p>
        </p:txBody>
      </p:sp>
      <p:sp>
        <p:nvSpPr>
          <p:cNvPr id="2" name="">
            <a:extLst xmlns:a="http://schemas.openxmlformats.org/drawingml/2006/main">
              <a:ext uri="{FF2B5EF4-FFF2-40B4-BE49-F238E27FC236}">
                <a16:creationId xmlns:a16="http://schemas.microsoft.com/office/drawing/2014/main" id="{4B7BFBC7-788B-45AF-BF6E-7EF6F9FED216}"/>
              </a:ext>
            </a:extLst>
          </p:cNvPr>
          <p:cNvSpPr>
            <a:spLocks xmlns:a="http://schemas.openxmlformats.org/drawingml/2006/main" noGrp="1"/>
          </p:cNvSpPr>
          <p:nvPr/>
        </p:nvSpPr>
        <p:spPr>
          <a:xfrm xmlns:a="http://schemas.openxmlformats.org/drawingml/2006/main">
            <a:off x="609600" y="781050"/>
            <a:ext cx="10668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850" b="1" i="0">
                <a:solidFill>
                  <a:srgbClr val="102333"/>
                </a:solidFill>
                <a:latin typeface="Aptos"/>
                <a:ea typeface="Aptos"/>
                <a:cs typeface="Aptos"/>
              </a:defRPr>
            </a:defPPr>
          </a:lstStyle>
          <a:p xmlns:a="http://schemas.openxmlformats.org/drawingml/2006/main">
            <a:pPr algn="l">
              <a:lnSpc>
                <a:spcPct val="95000"/>
              </a:lnSpc>
              <a:buNone/>
              <a:defRPr sz="2850" b="1" i="0">
                <a:solidFill>
                  <a:srgbClr val="102333"/>
                </a:solidFill>
                <a:latin typeface="Aptos"/>
                <a:ea typeface="Aptos"/>
                <a:cs typeface="Aptos"/>
              </a:defRPr>
            </a:pPr>
            <a:r>
              <a:rPr sz="2850" b="1" i="0">
                <a:solidFill>
                  <a:srgbClr val="102333"/>
                </a:solidFill>
                <a:latin typeface="Aptos"/>
                <a:ea typeface="Aptos"/>
                <a:cs typeface="Aptos"/>
              </a:rPr>
              <a:t>Short answers for likely follow-up questions</a:t>
            </a:r>
          </a:p>
        </p:txBody>
      </p:sp>
      <p:sp>
        <p:nvSpPr>
          <p:cNvPr id="3" name="">
            <a:extLst xmlns:a="http://schemas.openxmlformats.org/drawingml/2006/main">
              <a:ext uri="{FF2B5EF4-FFF2-40B4-BE49-F238E27FC236}">
                <a16:creationId xmlns:a16="http://schemas.microsoft.com/office/drawing/2014/main" id="{C02BADC6-E9DD-4C4C-B0CB-A9DB9BC357AC}"/>
              </a:ext>
            </a:extLst>
          </p:cNvPr>
          <p:cNvSpPr>
            <a:spLocks xmlns:a="http://schemas.openxmlformats.org/drawingml/2006/main" noGrp="1"/>
          </p:cNvSpPr>
          <p:nvPr/>
        </p:nvSpPr>
        <p:spPr>
          <a:xfrm xmlns:a="http://schemas.openxmlformats.org/drawingml/2006/main">
            <a:off x="628650" y="1466850"/>
            <a:ext cx="1000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350" b="0" i="0">
                <a:solidFill>
                  <a:srgbClr val="536876"/>
                </a:solidFill>
                <a:latin typeface="Aptos"/>
                <a:ea typeface="Aptos"/>
                <a:cs typeface="Aptos"/>
              </a:defRPr>
            </a:defPPr>
          </a:lstStyle>
          <a:p xmlns:a="http://schemas.openxmlformats.org/drawingml/2006/main">
            <a:pPr algn="l">
              <a:lnSpc>
                <a:spcPct val="100000"/>
              </a:lnSpc>
              <a:buNone/>
              <a:defRPr sz="1350" b="0" i="0">
                <a:solidFill>
                  <a:srgbClr val="536876"/>
                </a:solidFill>
                <a:latin typeface="Aptos"/>
                <a:ea typeface="Aptos"/>
                <a:cs typeface="Aptos"/>
              </a:defRPr>
            </a:pPr>
            <a:r>
              <a:rPr sz="1350" b="0" i="0">
                <a:solidFill>
                  <a:srgbClr val="536876"/>
                </a:solidFill>
                <a:latin typeface="Aptos"/>
                <a:ea typeface="Aptos"/>
                <a:cs typeface="Aptos"/>
              </a:rPr>
              <a:t>Answer the question directly, then connect it to the demonstrated code.</a:t>
            </a:r>
          </a:p>
        </p:txBody>
      </p:sp>
      <p:sp>
        <p:nvSpPr>
          <p:cNvPr id="4" name="">
            <a:extLst xmlns:a="http://schemas.openxmlformats.org/drawingml/2006/main">
              <a:ext uri="{FF2B5EF4-FFF2-40B4-BE49-F238E27FC236}">
                <a16:creationId xmlns:a16="http://schemas.microsoft.com/office/drawing/2014/main" id="{451611FC-74DC-4C6B-BE34-8FB8082094EF}"/>
              </a:ext>
            </a:extLst>
          </p:cNvPr>
          <p:cNvSpPr>
            <a:spLocks xmlns:a="http://schemas.openxmlformats.org/drawingml/2006/main" noGrp="1"/>
          </p:cNvSpPr>
          <p:nvPr/>
        </p:nvSpPr>
        <p:spPr>
          <a:xfrm xmlns:a="http://schemas.openxmlformats.org/drawingml/2006/main">
            <a:off x="609600" y="6477000"/>
            <a:ext cx="10972800" cy="14288"/>
          </a:xfrm>
          <a:prstGeom xmlns:a="http://schemas.openxmlformats.org/drawingml/2006/main" prst="rect">
            <a:avLst/>
          </a:prstGeom>
          <a:solidFill xmlns:a="http://schemas.openxmlformats.org/drawingml/2006/main">
            <a:srgbClr val="CCD9D5"/>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5C92CF77-8742-413A-8568-3F3513443B1D}"/>
              </a:ext>
            </a:extLst>
          </p:cNvPr>
          <p:cNvSpPr>
            <a:spLocks xmlns:a="http://schemas.openxmlformats.org/drawingml/2006/main" noGrp="1"/>
          </p:cNvSpPr>
          <p:nvPr/>
        </p:nvSpPr>
        <p:spPr>
          <a:xfrm xmlns:a="http://schemas.openxmlformats.org/drawingml/2006/main">
            <a:off x="609600" y="655320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825" b="1" i="0">
                <a:solidFill>
                  <a:srgbClr val="536876"/>
                </a:solidFill>
                <a:latin typeface="Aptos"/>
                <a:ea typeface="Aptos"/>
                <a:cs typeface="Aptos"/>
              </a:defRPr>
            </a:defPPr>
          </a:lstStyle>
          <a:p xmlns:a="http://schemas.openxmlformats.org/drawingml/2006/main">
            <a:pPr algn="l">
              <a:lnSpc>
                <a:spcPct val="100000"/>
              </a:lnSpc>
              <a:buNone/>
              <a:defRPr sz="825" b="1" i="0">
                <a:solidFill>
                  <a:srgbClr val="536876"/>
                </a:solidFill>
                <a:latin typeface="Aptos"/>
                <a:ea typeface="Aptos"/>
                <a:cs typeface="Aptos"/>
              </a:defRPr>
            </a:pPr>
            <a:r>
              <a:rPr sz="825" b="1" i="0">
                <a:solidFill>
                  <a:srgbClr val="536876"/>
                </a:solidFill>
                <a:latin typeface="Aptos"/>
                <a:ea typeface="Aptos"/>
                <a:cs typeface="Aptos"/>
              </a:rPr>
              <a:t>COMP10020 · BACKUP</a:t>
            </a:r>
          </a:p>
        </p:txBody>
      </p:sp>
      <p:sp>
        <p:nvSpPr>
          <p:cNvPr id="6" name="">
            <a:extLst xmlns:a="http://schemas.openxmlformats.org/drawingml/2006/main">
              <a:ext uri="{FF2B5EF4-FFF2-40B4-BE49-F238E27FC236}">
                <a16:creationId xmlns:a16="http://schemas.microsoft.com/office/drawing/2014/main" id="{E12C8508-1968-4FEF-A1E3-3D11B137E4D0}"/>
              </a:ext>
            </a:extLst>
          </p:cNvPr>
          <p:cNvSpPr>
            <a:spLocks xmlns:a="http://schemas.openxmlformats.org/drawingml/2006/main" noGrp="1"/>
          </p:cNvSpPr>
          <p:nvPr/>
        </p:nvSpPr>
        <p:spPr>
          <a:xfrm xmlns:a="http://schemas.openxmlformats.org/drawingml/2006/main">
            <a:off x="11049000" y="6543675"/>
            <a:ext cx="533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r">
              <a:defRPr sz="825" b="1" i="0">
                <a:solidFill>
                  <a:srgbClr val="536876"/>
                </a:solidFill>
                <a:latin typeface="Aptos"/>
                <a:ea typeface="Aptos"/>
                <a:cs typeface="Aptos"/>
              </a:defRPr>
            </a:defPPr>
          </a:lstStyle>
          <a:p xmlns:a="http://schemas.openxmlformats.org/drawingml/2006/main">
            <a:pPr algn="r">
              <a:lnSpc>
                <a:spcPct val="100000"/>
              </a:lnSpc>
              <a:buNone/>
              <a:defRPr sz="825" b="1" i="0">
                <a:solidFill>
                  <a:srgbClr val="536876"/>
                </a:solidFill>
                <a:latin typeface="Aptos"/>
                <a:ea typeface="Aptos"/>
                <a:cs typeface="Aptos"/>
              </a:defRPr>
            </a:pPr>
            <a:r>
              <a:rPr sz="825" b="1" i="0">
                <a:solidFill>
                  <a:srgbClr val="536876"/>
                </a:solidFill>
                <a:latin typeface="Aptos"/>
                <a:ea typeface="Aptos"/>
                <a:cs typeface="Aptos"/>
              </a:rPr>
              <a:t>15</a:t>
            </a:r>
          </a:p>
        </p:txBody>
      </p:sp>
      <p:sp>
        <p:nvSpPr>
          <p:cNvPr id="7" name="">
            <a:extLst xmlns:a="http://schemas.openxmlformats.org/drawingml/2006/main">
              <a:ext uri="{FF2B5EF4-FFF2-40B4-BE49-F238E27FC236}">
                <a16:creationId xmlns:a16="http://schemas.microsoft.com/office/drawing/2014/main" id="{196F522A-F87D-4C42-80DB-F2586B10DC79}"/>
              </a:ext>
            </a:extLst>
          </p:cNvPr>
          <p:cNvSpPr>
            <a:spLocks xmlns:a="http://schemas.openxmlformats.org/drawingml/2006/main" noGrp="1"/>
          </p:cNvSpPr>
          <p:nvPr/>
        </p:nvSpPr>
        <p:spPr>
          <a:xfrm xmlns:a="http://schemas.openxmlformats.org/drawingml/2006/main">
            <a:off x="685800" y="2209800"/>
            <a:ext cx="5029200" cy="1352550"/>
          </a:xfrm>
          <a:prstGeom xmlns:a="http://schemas.openxmlformats.org/drawingml/2006/main" prst="rect">
            <a:avLst/>
          </a:prstGeom>
          <a:solidFill xmlns:a="http://schemas.openxmlformats.org/drawingml/2006/main">
            <a:srgbClr val="FFFFFF"/>
          </a:solidFill>
          <a:ln xmlns:a="http://schemas.openxmlformats.org/drawingml/2006/main" w="9525">
            <a:solidFill>
              <a:srgbClr val="CCD9D5"/>
            </a:solidFill>
            <a:prstDash val="solid"/>
          </a:ln>
        </p:spPr>
      </p:sp>
      <p:sp>
        <p:nvSpPr>
          <p:cNvPr id="8" name="">
            <a:extLst xmlns:a="http://schemas.openxmlformats.org/drawingml/2006/main">
              <a:ext uri="{FF2B5EF4-FFF2-40B4-BE49-F238E27FC236}">
                <a16:creationId xmlns:a16="http://schemas.microsoft.com/office/drawing/2014/main" id="{7A16486D-F4E5-4361-860E-D194B4BF1CE6}"/>
              </a:ext>
            </a:extLst>
          </p:cNvPr>
          <p:cNvSpPr>
            <a:spLocks xmlns:a="http://schemas.openxmlformats.org/drawingml/2006/main" noGrp="1"/>
          </p:cNvSpPr>
          <p:nvPr/>
        </p:nvSpPr>
        <p:spPr>
          <a:xfrm xmlns:a="http://schemas.openxmlformats.org/drawingml/2006/main">
            <a:off x="895350" y="2400300"/>
            <a:ext cx="4610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500" b="1" i="0">
                <a:solidFill>
                  <a:srgbClr val="055A52"/>
                </a:solidFill>
                <a:latin typeface="Aptos"/>
                <a:ea typeface="Aptos"/>
                <a:cs typeface="Aptos"/>
              </a:defRPr>
            </a:defPPr>
          </a:lstStyle>
          <a:p xmlns:a="http://schemas.openxmlformats.org/drawingml/2006/main">
            <a:pPr algn="l">
              <a:lnSpc>
                <a:spcPct val="100000"/>
              </a:lnSpc>
              <a:buNone/>
              <a:defRPr sz="1500" b="1" i="0">
                <a:solidFill>
                  <a:srgbClr val="055A52"/>
                </a:solidFill>
                <a:latin typeface="Aptos"/>
                <a:ea typeface="Aptos"/>
                <a:cs typeface="Aptos"/>
              </a:defRPr>
            </a:pPr>
            <a:r>
              <a:rPr sz="1500" b="1" i="0">
                <a:solidFill>
                  <a:srgbClr val="055A52"/>
                </a:solidFill>
                <a:latin typeface="Aptos"/>
                <a:ea typeface="Aptos"/>
                <a:cs typeface="Aptos"/>
              </a:rPr>
              <a:t>Why not SQLite?</a:t>
            </a:r>
          </a:p>
        </p:txBody>
      </p:sp>
      <p:sp>
        <p:nvSpPr>
          <p:cNvPr id="9" name="">
            <a:extLst xmlns:a="http://schemas.openxmlformats.org/drawingml/2006/main">
              <a:ext uri="{FF2B5EF4-FFF2-40B4-BE49-F238E27FC236}">
                <a16:creationId xmlns:a16="http://schemas.microsoft.com/office/drawing/2014/main" id="{EBE6F66A-8405-4044-9E93-E0D129265319}"/>
              </a:ext>
            </a:extLst>
          </p:cNvPr>
          <p:cNvSpPr>
            <a:spLocks xmlns:a="http://schemas.openxmlformats.org/drawingml/2006/main" noGrp="1"/>
          </p:cNvSpPr>
          <p:nvPr/>
        </p:nvSpPr>
        <p:spPr>
          <a:xfrm xmlns:a="http://schemas.openxmlformats.org/drawingml/2006/main">
            <a:off x="895350" y="2838450"/>
            <a:ext cx="46101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00" b="0" i="0">
                <a:solidFill>
                  <a:srgbClr val="536876"/>
                </a:solidFill>
                <a:latin typeface="Aptos"/>
                <a:ea typeface="Aptos"/>
                <a:cs typeface="Aptos"/>
              </a:defRPr>
            </a:defPPr>
          </a:lstStyle>
          <a:p xmlns:a="http://schemas.openxmlformats.org/drawingml/2006/main">
            <a:pPr algn="l">
              <a:lnSpc>
                <a:spcPct val="114000"/>
              </a:lnSpc>
              <a:buNone/>
              <a:defRPr sz="1200" b="0" i="0">
                <a:solidFill>
                  <a:srgbClr val="536876"/>
                </a:solidFill>
                <a:latin typeface="Aptos"/>
                <a:ea typeface="Aptos"/>
                <a:cs typeface="Aptos"/>
              </a:defRPr>
            </a:pPr>
            <a:r>
              <a:rPr sz="1200" b="0" i="0">
                <a:solidFill>
                  <a:srgbClr val="536876"/>
                </a:solidFill>
                <a:latin typeface="Aptos"/>
                <a:ea typeface="Aptos"/>
                <a:cs typeface="Aptos"/>
              </a:rPr>
              <a:t>Memory storage keeps setup short. A repository boundary allows persistent storage later.</a:t>
            </a:r>
          </a:p>
        </p:txBody>
      </p:sp>
      <p:sp>
        <p:nvSpPr>
          <p:cNvPr id="10" name="">
            <a:extLst xmlns:a="http://schemas.openxmlformats.org/drawingml/2006/main">
              <a:ext uri="{FF2B5EF4-FFF2-40B4-BE49-F238E27FC236}">
                <a16:creationId xmlns:a16="http://schemas.microsoft.com/office/drawing/2014/main" id="{331A7D76-7F5C-44CE-B43D-0CE41CC54BAC}"/>
              </a:ext>
            </a:extLst>
          </p:cNvPr>
          <p:cNvSpPr>
            <a:spLocks xmlns:a="http://schemas.openxmlformats.org/drawingml/2006/main" noGrp="1"/>
          </p:cNvSpPr>
          <p:nvPr/>
        </p:nvSpPr>
        <p:spPr>
          <a:xfrm xmlns:a="http://schemas.openxmlformats.org/drawingml/2006/main">
            <a:off x="6210300" y="2209800"/>
            <a:ext cx="5029200" cy="1352550"/>
          </a:xfrm>
          <a:prstGeom xmlns:a="http://schemas.openxmlformats.org/drawingml/2006/main" prst="rect">
            <a:avLst/>
          </a:prstGeom>
          <a:solidFill xmlns:a="http://schemas.openxmlformats.org/drawingml/2006/main">
            <a:srgbClr val="FFFFFF"/>
          </a:solidFill>
          <a:ln xmlns:a="http://schemas.openxmlformats.org/drawingml/2006/main" w="9525">
            <a:solidFill>
              <a:srgbClr val="CCD9D5"/>
            </a:solidFill>
            <a:prstDash val="solid"/>
          </a:ln>
        </p:spPr>
      </p:sp>
      <p:sp>
        <p:nvSpPr>
          <p:cNvPr id="11" name="">
            <a:extLst xmlns:a="http://schemas.openxmlformats.org/drawingml/2006/main">
              <a:ext uri="{FF2B5EF4-FFF2-40B4-BE49-F238E27FC236}">
                <a16:creationId xmlns:a16="http://schemas.microsoft.com/office/drawing/2014/main" id="{E1DB54BB-BE3D-40BA-A860-C84D3533A0AE}"/>
              </a:ext>
            </a:extLst>
          </p:cNvPr>
          <p:cNvSpPr>
            <a:spLocks xmlns:a="http://schemas.openxmlformats.org/drawingml/2006/main" noGrp="1"/>
          </p:cNvSpPr>
          <p:nvPr/>
        </p:nvSpPr>
        <p:spPr>
          <a:xfrm xmlns:a="http://schemas.openxmlformats.org/drawingml/2006/main">
            <a:off x="6419850" y="2400300"/>
            <a:ext cx="4610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500" b="1" i="0">
                <a:solidFill>
                  <a:srgbClr val="EF765E"/>
                </a:solidFill>
                <a:latin typeface="Aptos"/>
                <a:ea typeface="Aptos"/>
                <a:cs typeface="Aptos"/>
              </a:defRPr>
            </a:defPPr>
          </a:lstStyle>
          <a:p xmlns:a="http://schemas.openxmlformats.org/drawingml/2006/main">
            <a:pPr algn="l">
              <a:lnSpc>
                <a:spcPct val="100000"/>
              </a:lnSpc>
              <a:buNone/>
              <a:defRPr sz="1500" b="1" i="0">
                <a:solidFill>
                  <a:srgbClr val="EF765E"/>
                </a:solidFill>
                <a:latin typeface="Aptos"/>
                <a:ea typeface="Aptos"/>
                <a:cs typeface="Aptos"/>
              </a:defRPr>
            </a:pPr>
            <a:r>
              <a:rPr sz="1500" b="1" i="0">
                <a:solidFill>
                  <a:srgbClr val="EF765E"/>
                </a:solidFill>
                <a:latin typeface="Aptos"/>
                <a:ea typeface="Aptos"/>
                <a:cs typeface="Aptos"/>
              </a:rPr>
              <a:t>Why does invalid input return 422?</a:t>
            </a:r>
          </a:p>
        </p:txBody>
      </p:sp>
      <p:sp>
        <p:nvSpPr>
          <p:cNvPr id="12" name="">
            <a:extLst xmlns:a="http://schemas.openxmlformats.org/drawingml/2006/main">
              <a:ext uri="{FF2B5EF4-FFF2-40B4-BE49-F238E27FC236}">
                <a16:creationId xmlns:a16="http://schemas.microsoft.com/office/drawing/2014/main" id="{CA4F52D5-0F0D-4862-89A4-E6D31902CA6B}"/>
              </a:ext>
            </a:extLst>
          </p:cNvPr>
          <p:cNvSpPr>
            <a:spLocks xmlns:a="http://schemas.openxmlformats.org/drawingml/2006/main" noGrp="1"/>
          </p:cNvSpPr>
          <p:nvPr/>
        </p:nvSpPr>
        <p:spPr>
          <a:xfrm xmlns:a="http://schemas.openxmlformats.org/drawingml/2006/main">
            <a:off x="6419850" y="2838450"/>
            <a:ext cx="46101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00" b="0" i="0">
                <a:solidFill>
                  <a:srgbClr val="536876"/>
                </a:solidFill>
                <a:latin typeface="Aptos"/>
                <a:ea typeface="Aptos"/>
                <a:cs typeface="Aptos"/>
              </a:defRPr>
            </a:defPPr>
          </a:lstStyle>
          <a:p xmlns:a="http://schemas.openxmlformats.org/drawingml/2006/main">
            <a:pPr algn="l">
              <a:lnSpc>
                <a:spcPct val="114000"/>
              </a:lnSpc>
              <a:buNone/>
              <a:defRPr sz="1200" b="0" i="0">
                <a:solidFill>
                  <a:srgbClr val="536876"/>
                </a:solidFill>
                <a:latin typeface="Aptos"/>
                <a:ea typeface="Aptos"/>
                <a:cs typeface="Aptos"/>
              </a:defRPr>
            </a:pPr>
            <a:r>
              <a:rPr sz="1200" b="0" i="0">
                <a:solidFill>
                  <a:srgbClr val="536876"/>
                </a:solidFill>
                <a:latin typeface="Aptos"/>
                <a:ea typeface="Aptos"/>
                <a:cs typeface="Aptos"/>
              </a:rPr>
              <a:t>The request is syntactically valid JSON but fails the declared field constraints.</a:t>
            </a:r>
          </a:p>
        </p:txBody>
      </p:sp>
      <p:sp>
        <p:nvSpPr>
          <p:cNvPr id="13" name="">
            <a:extLst xmlns:a="http://schemas.openxmlformats.org/drawingml/2006/main">
              <a:ext uri="{FF2B5EF4-FFF2-40B4-BE49-F238E27FC236}">
                <a16:creationId xmlns:a16="http://schemas.microsoft.com/office/drawing/2014/main" id="{01A06AC1-B681-4C79-83B4-E879B1B52B3D}"/>
              </a:ext>
            </a:extLst>
          </p:cNvPr>
          <p:cNvSpPr>
            <a:spLocks xmlns:a="http://schemas.openxmlformats.org/drawingml/2006/main" noGrp="1"/>
          </p:cNvSpPr>
          <p:nvPr/>
        </p:nvSpPr>
        <p:spPr>
          <a:xfrm xmlns:a="http://schemas.openxmlformats.org/drawingml/2006/main">
            <a:off x="685800" y="3886200"/>
            <a:ext cx="5029200" cy="1352550"/>
          </a:xfrm>
          <a:prstGeom xmlns:a="http://schemas.openxmlformats.org/drawingml/2006/main" prst="rect">
            <a:avLst/>
          </a:prstGeom>
          <a:solidFill xmlns:a="http://schemas.openxmlformats.org/drawingml/2006/main">
            <a:srgbClr val="EDF4F1"/>
          </a:solidFill>
          <a:ln xmlns:a="http://schemas.openxmlformats.org/drawingml/2006/main" w="9525">
            <a:solidFill>
              <a:srgbClr val="CCD9D5"/>
            </a:solidFill>
            <a:prstDash val="solid"/>
          </a:ln>
        </p:spPr>
      </p:sp>
      <p:sp>
        <p:nvSpPr>
          <p:cNvPr id="14" name="">
            <a:extLst xmlns:a="http://schemas.openxmlformats.org/drawingml/2006/main">
              <a:ext uri="{FF2B5EF4-FFF2-40B4-BE49-F238E27FC236}">
                <a16:creationId xmlns:a16="http://schemas.microsoft.com/office/drawing/2014/main" id="{E430BF4B-95B5-444F-950A-E9BEFBA98AB7}"/>
              </a:ext>
            </a:extLst>
          </p:cNvPr>
          <p:cNvSpPr>
            <a:spLocks xmlns:a="http://schemas.openxmlformats.org/drawingml/2006/main" noGrp="1"/>
          </p:cNvSpPr>
          <p:nvPr/>
        </p:nvSpPr>
        <p:spPr>
          <a:xfrm xmlns:a="http://schemas.openxmlformats.org/drawingml/2006/main">
            <a:off x="895350" y="4076700"/>
            <a:ext cx="4610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500" b="1" i="0">
                <a:solidFill>
                  <a:srgbClr val="055A52"/>
                </a:solidFill>
                <a:latin typeface="Aptos"/>
                <a:ea typeface="Aptos"/>
                <a:cs typeface="Aptos"/>
              </a:defRPr>
            </a:defPPr>
          </a:lstStyle>
          <a:p xmlns:a="http://schemas.openxmlformats.org/drawingml/2006/main">
            <a:pPr algn="l">
              <a:lnSpc>
                <a:spcPct val="100000"/>
              </a:lnSpc>
              <a:buNone/>
              <a:defRPr sz="1500" b="1" i="0">
                <a:solidFill>
                  <a:srgbClr val="055A52"/>
                </a:solidFill>
                <a:latin typeface="Aptos"/>
                <a:ea typeface="Aptos"/>
                <a:cs typeface="Aptos"/>
              </a:defRPr>
            </a:pPr>
            <a:r>
              <a:rPr sz="1500" b="1" i="0">
                <a:solidFill>
                  <a:srgbClr val="055A52"/>
                </a:solidFill>
                <a:latin typeface="Aptos"/>
                <a:ea typeface="Aptos"/>
                <a:cs typeface="Aptos"/>
              </a:rPr>
              <a:t>What does OpenAPI provide?</a:t>
            </a:r>
          </a:p>
        </p:txBody>
      </p:sp>
      <p:sp>
        <p:nvSpPr>
          <p:cNvPr id="15" name="">
            <a:extLst xmlns:a="http://schemas.openxmlformats.org/drawingml/2006/main">
              <a:ext uri="{FF2B5EF4-FFF2-40B4-BE49-F238E27FC236}">
                <a16:creationId xmlns:a16="http://schemas.microsoft.com/office/drawing/2014/main" id="{E4DA63EF-7CAD-47FF-920F-F3FCF1BA32C6}"/>
              </a:ext>
            </a:extLst>
          </p:cNvPr>
          <p:cNvSpPr>
            <a:spLocks xmlns:a="http://schemas.openxmlformats.org/drawingml/2006/main" noGrp="1"/>
          </p:cNvSpPr>
          <p:nvPr/>
        </p:nvSpPr>
        <p:spPr>
          <a:xfrm xmlns:a="http://schemas.openxmlformats.org/drawingml/2006/main">
            <a:off x="895350" y="4514850"/>
            <a:ext cx="46101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00" b="0" i="0">
                <a:solidFill>
                  <a:srgbClr val="536876"/>
                </a:solidFill>
                <a:latin typeface="Aptos"/>
                <a:ea typeface="Aptos"/>
                <a:cs typeface="Aptos"/>
              </a:defRPr>
            </a:defPPr>
          </a:lstStyle>
          <a:p xmlns:a="http://schemas.openxmlformats.org/drawingml/2006/main">
            <a:pPr algn="l">
              <a:lnSpc>
                <a:spcPct val="114000"/>
              </a:lnSpc>
              <a:buNone/>
              <a:defRPr sz="1200" b="0" i="0">
                <a:solidFill>
                  <a:srgbClr val="536876"/>
                </a:solidFill>
                <a:latin typeface="Aptos"/>
                <a:ea typeface="Aptos"/>
                <a:cs typeface="Aptos"/>
              </a:defRPr>
            </a:pPr>
            <a:r>
              <a:rPr sz="1200" b="0" i="0">
                <a:solidFill>
                  <a:srgbClr val="536876"/>
                </a:solidFill>
                <a:latin typeface="Aptos"/>
                <a:ea typeface="Aptos"/>
                <a:cs typeface="Aptos"/>
              </a:rPr>
              <a:t>A language-independent description of routes, inputs and responses used by documentation tools.</a:t>
            </a:r>
          </a:p>
        </p:txBody>
      </p:sp>
      <p:sp>
        <p:nvSpPr>
          <p:cNvPr id="16" name="">
            <a:extLst xmlns:a="http://schemas.openxmlformats.org/drawingml/2006/main">
              <a:ext uri="{FF2B5EF4-FFF2-40B4-BE49-F238E27FC236}">
                <a16:creationId xmlns:a16="http://schemas.microsoft.com/office/drawing/2014/main" id="{B9C5F967-DA01-43A2-B2DD-5A8E3139645C}"/>
              </a:ext>
            </a:extLst>
          </p:cNvPr>
          <p:cNvSpPr>
            <a:spLocks xmlns:a="http://schemas.openxmlformats.org/drawingml/2006/main" noGrp="1"/>
          </p:cNvSpPr>
          <p:nvPr/>
        </p:nvSpPr>
        <p:spPr>
          <a:xfrm xmlns:a="http://schemas.openxmlformats.org/drawingml/2006/main">
            <a:off x="6210300" y="3886200"/>
            <a:ext cx="5029200" cy="1352550"/>
          </a:xfrm>
          <a:prstGeom xmlns:a="http://schemas.openxmlformats.org/drawingml/2006/main" prst="rect">
            <a:avLst/>
          </a:prstGeom>
          <a:solidFill xmlns:a="http://schemas.openxmlformats.org/drawingml/2006/main">
            <a:srgbClr val="EDF4F1"/>
          </a:solidFill>
          <a:ln xmlns:a="http://schemas.openxmlformats.org/drawingml/2006/main" w="9525">
            <a:solidFill>
              <a:srgbClr val="CCD9D5"/>
            </a:solidFill>
            <a:prstDash val="solid"/>
          </a:ln>
        </p:spPr>
      </p:sp>
      <p:sp>
        <p:nvSpPr>
          <p:cNvPr id="17" name="">
            <a:extLst xmlns:a="http://schemas.openxmlformats.org/drawingml/2006/main">
              <a:ext uri="{FF2B5EF4-FFF2-40B4-BE49-F238E27FC236}">
                <a16:creationId xmlns:a16="http://schemas.microsoft.com/office/drawing/2014/main" id="{8961FD8A-04E6-4147-BFF3-B91E9184BAE5}"/>
              </a:ext>
            </a:extLst>
          </p:cNvPr>
          <p:cNvSpPr>
            <a:spLocks xmlns:a="http://schemas.openxmlformats.org/drawingml/2006/main" noGrp="1"/>
          </p:cNvSpPr>
          <p:nvPr/>
        </p:nvSpPr>
        <p:spPr>
          <a:xfrm xmlns:a="http://schemas.openxmlformats.org/drawingml/2006/main">
            <a:off x="6419850" y="4076700"/>
            <a:ext cx="4610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500" b="1" i="0">
                <a:solidFill>
                  <a:srgbClr val="EF765E"/>
                </a:solidFill>
                <a:latin typeface="Aptos"/>
                <a:ea typeface="Aptos"/>
                <a:cs typeface="Aptos"/>
              </a:defRPr>
            </a:defPPr>
          </a:lstStyle>
          <a:p xmlns:a="http://schemas.openxmlformats.org/drawingml/2006/main">
            <a:pPr algn="l">
              <a:lnSpc>
                <a:spcPct val="100000"/>
              </a:lnSpc>
              <a:buNone/>
              <a:defRPr sz="1500" b="1" i="0">
                <a:solidFill>
                  <a:srgbClr val="EF765E"/>
                </a:solidFill>
                <a:latin typeface="Aptos"/>
                <a:ea typeface="Aptos"/>
                <a:cs typeface="Aptos"/>
              </a:defRPr>
            </a:pPr>
            <a:r>
              <a:rPr sz="1500" b="1" i="0">
                <a:solidFill>
                  <a:srgbClr val="EF765E"/>
                </a:solidFill>
                <a:latin typeface="Aptos"/>
                <a:ea typeface="Aptos"/>
                <a:cs typeface="Aptos"/>
              </a:rPr>
              <a:t>Is this production-ready?</a:t>
            </a:r>
          </a:p>
        </p:txBody>
      </p:sp>
      <p:sp>
        <p:nvSpPr>
          <p:cNvPr id="18" name="">
            <a:extLst xmlns:a="http://schemas.openxmlformats.org/drawingml/2006/main">
              <a:ext uri="{FF2B5EF4-FFF2-40B4-BE49-F238E27FC236}">
                <a16:creationId xmlns:a16="http://schemas.microsoft.com/office/drawing/2014/main" id="{EF51740F-3B92-4391-8685-2767184DD492}"/>
              </a:ext>
            </a:extLst>
          </p:cNvPr>
          <p:cNvSpPr>
            <a:spLocks xmlns:a="http://schemas.openxmlformats.org/drawingml/2006/main" noGrp="1"/>
          </p:cNvSpPr>
          <p:nvPr/>
        </p:nvSpPr>
        <p:spPr>
          <a:xfrm xmlns:a="http://schemas.openxmlformats.org/drawingml/2006/main">
            <a:off x="6419850" y="4514850"/>
            <a:ext cx="46101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00" b="0" i="0">
                <a:solidFill>
                  <a:srgbClr val="536876"/>
                </a:solidFill>
                <a:latin typeface="Aptos"/>
                <a:ea typeface="Aptos"/>
                <a:cs typeface="Aptos"/>
              </a:defRPr>
            </a:defPPr>
          </a:lstStyle>
          <a:p xmlns:a="http://schemas.openxmlformats.org/drawingml/2006/main">
            <a:pPr algn="l">
              <a:lnSpc>
                <a:spcPct val="114000"/>
              </a:lnSpc>
              <a:buNone/>
              <a:defRPr sz="1200" b="0" i="0">
                <a:solidFill>
                  <a:srgbClr val="536876"/>
                </a:solidFill>
                <a:latin typeface="Aptos"/>
                <a:ea typeface="Aptos"/>
                <a:cs typeface="Aptos"/>
              </a:defRPr>
            </a:pPr>
            <a:r>
              <a:rPr sz="1200" b="0" i="0">
                <a:solidFill>
                  <a:srgbClr val="536876"/>
                </a:solidFill>
                <a:latin typeface="Aptos"/>
                <a:ea typeface="Aptos"/>
                <a:cs typeface="Aptos"/>
              </a:rPr>
              <a:t>No. A production version needs authentication, persistent storage, deployment controls and monitoring.</a:t>
            </a:r>
          </a:p>
        </p:txBody>
      </p:sp>
    </p:spTree>
    <p:extLst>
      <p:ext uri="{BB962C8B-B14F-4D97-AF65-F5344CB8AC3E}">
        <p14:creationId xmlns:p14="http://schemas.microsoft.com/office/powerpoint/2010/main" val="712991276"/>
      </p:ext>
    </p:extLst>
  </p:cSld>
</p:sld>
</file>

<file path=ppt/theme/theme1.xml><?xml version="1.0" encoding="utf-8"?>
<a:theme xmlns:a="http://schemas.openxmlformats.org/drawingml/2006/main" name="FastAPI CW1">
  <a:themeElements>
    <a:clrScheme name="FastAPI CW1">
      <a:dk1>
        <a:srgbClr val="000000"/>
      </a:dk1>
      <a:lt1>
        <a:srgbClr val="FFFFFF"/>
      </a:lt1>
      <a:dk2>
        <a:srgbClr val="0E1C27"/>
      </a:dk2>
      <a:lt2>
        <a:srgbClr val="E8E8E8"/>
      </a:lt2>
      <a:accent1>
        <a:srgbClr val="087F72"/>
      </a:accent1>
      <a:accent2>
        <a:srgbClr val="EF765E"/>
      </a:accent2>
      <a:accent3>
        <a:srgbClr val="8DE2BD"/>
      </a:accent3>
      <a:accent4>
        <a:srgbClr val="055A52"/>
      </a:accent4>
      <a:accent5>
        <a:srgbClr val="EAF3FA"/>
      </a:accent5>
      <a:accent6>
        <a:srgbClr val="D7B95D"/>
      </a:accent6>
      <a:hlink>
        <a:srgbClr val="087F72"/>
      </a:hlink>
      <a:folHlink>
        <a:srgbClr val="6B4B95"/>
      </a:folHlink>
    </a:clrScheme>
    <a:fontScheme name="">
      <a:majorFont>
        <a:latin typeface="Aptos"/>
        <a:ea typeface=""/>
        <a:cs typeface=""/>
      </a:majorFont>
      <a:minorFont>
        <a:latin typeface="Aptos"/>
        <a:ea typeface=""/>
        <a:cs typeface=""/>
      </a:minorFont>
    </a:fontScheme>
    <a:fmtScheme name="FastAPI CW1">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2026-10-14T09:56:09.9530000Z</dcterms:created>
  <dcterms:modified xsi:type="dcterms:W3CDTF">2026-10-14T09:56:09.9530000Z</dcterms:modified>
</coreProperties>
</file>